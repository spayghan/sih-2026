
<file path=[Content_Types].xml><?xml version="1.0" encoding="utf-8"?>
<Types xmlns="http://schemas.openxmlformats.org/package/2006/content-types">
  <Default Extension="org&amp;utm_campaign=index&amp;utm_content=thumbnail" ContentType="image/pn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webextensions/webextension3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305" r:id="rId3"/>
    <p:sldId id="304" r:id="rId4"/>
    <p:sldId id="259" r:id="rId5"/>
    <p:sldId id="303" r:id="rId6"/>
    <p:sldId id="306" r:id="rId7"/>
    <p:sldId id="302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1DEFF"/>
    <a:srgbClr val="00B0F0"/>
    <a:srgbClr val="0070C0"/>
    <a:srgbClr val="F5F0FF"/>
    <a:srgbClr val="FFF0F6"/>
    <a:srgbClr val="FAF8FE"/>
    <a:srgbClr val="E0DEE4"/>
    <a:srgbClr val="D5CBE7"/>
    <a:srgbClr val="CDBEE7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3725" autoAdjust="0"/>
  </p:normalViewPr>
  <p:slideViewPr>
    <p:cSldViewPr snapToGrid="0">
      <p:cViewPr varScale="1">
        <p:scale>
          <a:sx n="80" d="100"/>
          <a:sy n="80" d="100"/>
        </p:scale>
        <p:origin x="782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790738-CFC9-4A5E-8424-6B42AA5706F7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4644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A4D896-D589-14C8-0A4C-60BDB4E26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0D96ACC8-FADA-8741-22D8-5DF9F63215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C9ABD279-089C-9B3F-8CD8-19F699B7011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C89090A7-A2ED-25DA-019F-EF78AF5467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525786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59321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" y="6660422"/>
            <a:ext cx="12192000" cy="197697"/>
          </a:xfrm>
          <a:custGeom>
            <a:avLst/>
            <a:gdLst/>
            <a:ahLst/>
            <a:cxnLst/>
            <a:rect l="l" t="t" r="r" b="b"/>
            <a:pathLst>
              <a:path w="18288000" h="296545">
                <a:moveTo>
                  <a:pt x="18287998" y="296368"/>
                </a:moveTo>
                <a:lnTo>
                  <a:pt x="0" y="296368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296368"/>
                </a:lnTo>
                <a:close/>
              </a:path>
            </a:pathLst>
          </a:custGeom>
          <a:solidFill>
            <a:srgbClr val="004EA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33900" y="16989"/>
            <a:ext cx="1085849" cy="5333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33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8467">
              <a:spcBef>
                <a:spcPts val="113"/>
              </a:spcBef>
            </a:pPr>
            <a:r>
              <a:rPr lang="en-IN" spc="67"/>
              <a:t>CoalWorks</a:t>
            </a:r>
            <a:r>
              <a:rPr lang="en-IN" spc="-40"/>
              <a:t> </a:t>
            </a:r>
            <a:r>
              <a:rPr lang="en-IN" spc="169"/>
              <a:t>-</a:t>
            </a:r>
            <a:r>
              <a:rPr lang="en-IN" spc="-40"/>
              <a:t> </a:t>
            </a:r>
            <a:r>
              <a:rPr lang="en-IN"/>
              <a:t>@SIH</a:t>
            </a:r>
            <a:r>
              <a:rPr lang="en-IN" spc="-37"/>
              <a:t> </a:t>
            </a:r>
            <a:r>
              <a:rPr lang="en-IN" spc="50"/>
              <a:t>Idea</a:t>
            </a:r>
            <a:r>
              <a:rPr lang="en-IN" spc="-40"/>
              <a:t> </a:t>
            </a:r>
            <a:r>
              <a:rPr lang="en-IN" spc="60"/>
              <a:t>Submission</a:t>
            </a:r>
            <a:endParaRPr lang="en-IN" spc="60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33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pPr marL="25401">
              <a:spcBef>
                <a:spcPts val="133"/>
              </a:spcBef>
            </a:pPr>
            <a:fld id="{81D60167-4931-47E6-BA6A-407CBD079E47}" type="slidenum">
              <a:rPr lang="en-IN" spc="-33" smtClean="0"/>
              <a:pPr marL="25401">
                <a:spcBef>
                  <a:spcPts val="133"/>
                </a:spcBef>
              </a:pPr>
              <a:t>‹#›</a:t>
            </a:fld>
            <a:endParaRPr lang="en-IN" spc="-33" dirty="0"/>
          </a:p>
        </p:txBody>
      </p:sp>
    </p:spTree>
    <p:extLst>
      <p:ext uri="{BB962C8B-B14F-4D97-AF65-F5344CB8AC3E}">
        <p14:creationId xmlns:p14="http://schemas.microsoft.com/office/powerpoint/2010/main" val="30413321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microsoft.com/office/2007/relationships/hdphoto" Target="../media/hdphoto1.wdp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9.png"/><Relationship Id="rId18" Type="http://schemas.microsoft.com/office/2007/relationships/hdphoto" Target="../media/hdphoto2.wdp"/><Relationship Id="rId26" Type="http://schemas.openxmlformats.org/officeDocument/2006/relationships/image" Target="../media/image37.png"/><Relationship Id="rId39" Type="http://schemas.microsoft.com/office/2007/relationships/hdphoto" Target="../media/hdphoto6.wdp"/><Relationship Id="rId21" Type="http://schemas.microsoft.com/office/2007/relationships/hdphoto" Target="../media/hdphoto3.wdp"/><Relationship Id="rId34" Type="http://schemas.openxmlformats.org/officeDocument/2006/relationships/image" Target="../media/image44.png"/><Relationship Id="rId42" Type="http://schemas.openxmlformats.org/officeDocument/2006/relationships/image" Target="../media/image4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6" Type="http://schemas.openxmlformats.org/officeDocument/2006/relationships/image" Target="../media/image30.png"/><Relationship Id="rId20" Type="http://schemas.openxmlformats.org/officeDocument/2006/relationships/image" Target="../media/image33.png"/><Relationship Id="rId29" Type="http://schemas.openxmlformats.org/officeDocument/2006/relationships/image" Target="../media/image40.png"/><Relationship Id="rId41" Type="http://schemas.microsoft.com/office/2007/relationships/hdphoto" Target="../media/hdphoto7.wdp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24" Type="http://schemas.openxmlformats.org/officeDocument/2006/relationships/image" Target="../media/image36.png"/><Relationship Id="rId32" Type="http://schemas.openxmlformats.org/officeDocument/2006/relationships/image" Target="../media/image42.png"/><Relationship Id="rId37" Type="http://schemas.microsoft.com/office/2007/relationships/hdphoto" Target="../media/hdphoto5.wdp"/><Relationship Id="rId40" Type="http://schemas.openxmlformats.org/officeDocument/2006/relationships/image" Target="../media/image48.png"/><Relationship Id="rId5" Type="http://schemas.openxmlformats.org/officeDocument/2006/relationships/image" Target="../media/image21.png"/><Relationship Id="rId15" Type="http://schemas.openxmlformats.org/officeDocument/2006/relationships/image" Target="../media/image3.png"/><Relationship Id="rId23" Type="http://schemas.openxmlformats.org/officeDocument/2006/relationships/image" Target="../media/image35.png"/><Relationship Id="rId28" Type="http://schemas.openxmlformats.org/officeDocument/2006/relationships/image" Target="../media/image39.png"/><Relationship Id="rId36" Type="http://schemas.openxmlformats.org/officeDocument/2006/relationships/image" Target="../media/image46.png"/><Relationship Id="rId10" Type="http://schemas.openxmlformats.org/officeDocument/2006/relationships/image" Target="../media/image26.png"/><Relationship Id="rId19" Type="http://schemas.openxmlformats.org/officeDocument/2006/relationships/image" Target="../media/image32.png"/><Relationship Id="rId31" Type="http://schemas.openxmlformats.org/officeDocument/2006/relationships/image" Target="../media/image41.png"/><Relationship Id="rId44" Type="http://schemas.openxmlformats.org/officeDocument/2006/relationships/image" Target="../media/image50.png"/><Relationship Id="rId4" Type="http://schemas.openxmlformats.org/officeDocument/2006/relationships/image" Target="../media/image20.org&amp;utm_campaign=index&amp;utm_content=thumbnail"/><Relationship Id="rId9" Type="http://schemas.openxmlformats.org/officeDocument/2006/relationships/image" Target="../media/image25.png"/><Relationship Id="rId14" Type="http://schemas.openxmlformats.org/officeDocument/2006/relationships/image" Target="../media/image4.png"/><Relationship Id="rId22" Type="http://schemas.openxmlformats.org/officeDocument/2006/relationships/image" Target="../media/image34.png"/><Relationship Id="rId27" Type="http://schemas.openxmlformats.org/officeDocument/2006/relationships/image" Target="../media/image38.png"/><Relationship Id="rId30" Type="http://schemas.microsoft.com/office/2007/relationships/hdphoto" Target="../media/hdphoto4.wdp"/><Relationship Id="rId35" Type="http://schemas.openxmlformats.org/officeDocument/2006/relationships/image" Target="../media/image45.png"/><Relationship Id="rId43" Type="http://schemas.microsoft.com/office/2007/relationships/hdphoto" Target="../media/hdphoto8.wdp"/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12" Type="http://schemas.openxmlformats.org/officeDocument/2006/relationships/image" Target="../media/image28.png"/><Relationship Id="rId17" Type="http://schemas.openxmlformats.org/officeDocument/2006/relationships/image" Target="../media/image31.png"/><Relationship Id="rId25" Type="http://schemas.openxmlformats.org/officeDocument/2006/relationships/image" Target="../media/image61.png"/><Relationship Id="rId33" Type="http://schemas.openxmlformats.org/officeDocument/2006/relationships/image" Target="../media/image43.svg"/><Relationship Id="rId38" Type="http://schemas.openxmlformats.org/officeDocument/2006/relationships/image" Target="../media/image47.png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hdphoto" Target="../media/hdphoto10.wdp"/><Relationship Id="rId13" Type="http://schemas.openxmlformats.org/officeDocument/2006/relationships/image" Target="../media/image58.png"/><Relationship Id="rId18" Type="http://schemas.openxmlformats.org/officeDocument/2006/relationships/image" Target="../media/image61.svg"/><Relationship Id="rId3" Type="http://schemas.openxmlformats.org/officeDocument/2006/relationships/image" Target="../media/image52.png"/><Relationship Id="rId21" Type="http://schemas.openxmlformats.org/officeDocument/2006/relationships/image" Target="../media/image63.org&amp;utm_campaign=index&amp;utm_content=thumbnail"/><Relationship Id="rId7" Type="http://schemas.openxmlformats.org/officeDocument/2006/relationships/image" Target="../media/image55.png"/><Relationship Id="rId12" Type="http://schemas.microsoft.com/office/2007/relationships/hdphoto" Target="../media/hdphoto12.wdp"/><Relationship Id="rId17" Type="http://schemas.microsoft.com/office/2007/relationships/hdphoto" Target="../media/hdphoto14.wdp"/><Relationship Id="rId2" Type="http://schemas.openxmlformats.org/officeDocument/2006/relationships/image" Target="../media/image51.png"/><Relationship Id="rId16" Type="http://schemas.openxmlformats.org/officeDocument/2006/relationships/image" Target="../media/image60.png"/><Relationship Id="rId20" Type="http://schemas.microsoft.com/office/2007/relationships/hdphoto" Target="../media/hdphoto15.wdp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4.png"/><Relationship Id="rId11" Type="http://schemas.openxmlformats.org/officeDocument/2006/relationships/image" Target="../media/image57.png"/><Relationship Id="rId5" Type="http://schemas.microsoft.com/office/2007/relationships/hdphoto" Target="../media/hdphoto9.wdp"/><Relationship Id="rId15" Type="http://schemas.microsoft.com/office/2007/relationships/hdphoto" Target="../media/hdphoto13.wdp"/><Relationship Id="rId10" Type="http://schemas.microsoft.com/office/2007/relationships/hdphoto" Target="../media/hdphoto11.wdp"/><Relationship Id="rId19" Type="http://schemas.openxmlformats.org/officeDocument/2006/relationships/image" Target="../media/image62.png"/><Relationship Id="rId4" Type="http://schemas.openxmlformats.org/officeDocument/2006/relationships/image" Target="../media/image53.png"/><Relationship Id="rId9" Type="http://schemas.openxmlformats.org/officeDocument/2006/relationships/image" Target="../media/image56.png"/><Relationship Id="rId14" Type="http://schemas.openxmlformats.org/officeDocument/2006/relationships/image" Target="../media/image59.png"/><Relationship Id="rId22" Type="http://schemas.openxmlformats.org/officeDocument/2006/relationships/image" Target="../media/image6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13" Type="http://schemas.openxmlformats.org/officeDocument/2006/relationships/image" Target="../media/image74.png"/><Relationship Id="rId3" Type="http://schemas.openxmlformats.org/officeDocument/2006/relationships/image" Target="../media/image3.png"/><Relationship Id="rId7" Type="http://schemas.openxmlformats.org/officeDocument/2006/relationships/image" Target="../media/image68.png"/><Relationship Id="rId12" Type="http://schemas.openxmlformats.org/officeDocument/2006/relationships/image" Target="../media/image73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png"/><Relationship Id="rId11" Type="http://schemas.openxmlformats.org/officeDocument/2006/relationships/image" Target="../media/image72.png"/><Relationship Id="rId5" Type="http://schemas.openxmlformats.org/officeDocument/2006/relationships/image" Target="../media/image66.png"/><Relationship Id="rId15" Type="http://schemas.openxmlformats.org/officeDocument/2006/relationships/image" Target="../media/image76.png"/><Relationship Id="rId10" Type="http://schemas.openxmlformats.org/officeDocument/2006/relationships/image" Target="../media/image71.png"/><Relationship Id="rId4" Type="http://schemas.openxmlformats.org/officeDocument/2006/relationships/image" Target="../media/image65.png"/><Relationship Id="rId9" Type="http://schemas.openxmlformats.org/officeDocument/2006/relationships/image" Target="../media/image70.png"/><Relationship Id="rId14" Type="http://schemas.openxmlformats.org/officeDocument/2006/relationships/image" Target="../media/image7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universe.roboflow.com/labelblind/5-class-g6oha" TargetMode="External"/><Relationship Id="rId13" Type="http://schemas.openxmlformats.org/officeDocument/2006/relationships/hyperlink" Target="https://pypi.org/project/pyzbar/" TargetMode="External"/><Relationship Id="rId3" Type="http://schemas.openxmlformats.org/officeDocument/2006/relationships/image" Target="../media/image3.png"/><Relationship Id="rId7" Type="http://schemas.openxmlformats.org/officeDocument/2006/relationships/hyperlink" Target="https://github.com/PaddlePaddle/PaddleOCR/blob/main/docs/version3.x/algorithm/PP-OCRv5/PP-OCRv5_multi_languages.en.md" TargetMode="External"/><Relationship Id="rId12" Type="http://schemas.openxmlformats.org/officeDocument/2006/relationships/hyperlink" Target="https://arxiv.org/abs/2307.09288" TargetMode="External"/><Relationship Id="rId17" Type="http://schemas.openxmlformats.org/officeDocument/2006/relationships/hyperlink" Target="https://www.ijitee.org/wp-content/uploads/papers/v8i6s4/F10860486S419.pdf" TargetMode="External"/><Relationship Id="rId2" Type="http://schemas.openxmlformats.org/officeDocument/2006/relationships/notesSlide" Target="../notesSlides/notesSlide4.xml"/><Relationship Id="rId16" Type="http://schemas.openxmlformats.org/officeDocument/2006/relationships/hyperlink" Target="https://universe.roboflow.com/kjobinulaval/food-packaging-info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rxiv.org/html/2510.14528v1" TargetMode="External"/><Relationship Id="rId11" Type="http://schemas.openxmlformats.org/officeDocument/2006/relationships/hyperlink" Target="https://docs.ultralytics.com/" TargetMode="External"/><Relationship Id="rId5" Type="http://schemas.openxmlformats.org/officeDocument/2006/relationships/hyperlink" Target="https://www.indialaw.in/blog/environment/legal-metrology-packaged-commodities-amendment-rules/" TargetMode="External"/><Relationship Id="rId15" Type="http://schemas.openxmlformats.org/officeDocument/2006/relationships/hyperlink" Target="https://universe.roboflow.com/packageandbarcode/package-and-label-detection-agjvl" TargetMode="External"/><Relationship Id="rId10" Type="http://schemas.openxmlformats.org/officeDocument/2006/relationships/hyperlink" Target="https://arxiv.org/abs/1506.02640" TargetMode="External"/><Relationship Id="rId4" Type="http://schemas.openxmlformats.org/officeDocument/2006/relationships/hyperlink" Target="https://simpliance.in/India/EHS/govt_notification/Central/frequently-asked-questions-relating-to-legal-metrology-packaged-commodities-rules-2011-and-model-approval-requirements-9571" TargetMode="External"/><Relationship Id="rId9" Type="http://schemas.openxmlformats.org/officeDocument/2006/relationships/hyperlink" Target="https://iledu.in/v6i997/" TargetMode="External"/><Relationship Id="rId14" Type="http://schemas.openxmlformats.org/officeDocument/2006/relationships/hyperlink" Target="https://universe.roboflow.com/computer-vision-workspace/food-packaging-recognition" TargetMode="Externa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iledu.in/v6i997/" TargetMode="External"/><Relationship Id="rId13" Type="http://schemas.openxmlformats.org/officeDocument/2006/relationships/hyperlink" Target="https://arxiv.org/html/2510.14528v1" TargetMode="External"/><Relationship Id="rId18" Type="http://schemas.openxmlformats.org/officeDocument/2006/relationships/hyperlink" Target="https://vyapar-nirikshan-portal.onrender.com/" TargetMode="External"/><Relationship Id="rId3" Type="http://schemas.openxmlformats.org/officeDocument/2006/relationships/image" Target="../media/image3.png"/><Relationship Id="rId21" Type="http://schemas.microsoft.com/office/2007/relationships/hdphoto" Target="../media/hdphoto16.wdp"/><Relationship Id="rId7" Type="http://schemas.openxmlformats.org/officeDocument/2006/relationships/hyperlink" Target="https://universe.roboflow.com/labelblind/5-class-g6oha" TargetMode="External"/><Relationship Id="rId12" Type="http://schemas.openxmlformats.org/officeDocument/2006/relationships/hyperlink" Target="https://docs.ultralytics.com/" TargetMode="External"/><Relationship Id="rId17" Type="http://schemas.openxmlformats.org/officeDocument/2006/relationships/hyperlink" Target="https://universe.roboflow.com/kjobinulaval/food-packaging-info" TargetMode="External"/><Relationship Id="rId2" Type="http://schemas.openxmlformats.org/officeDocument/2006/relationships/notesSlide" Target="../notesSlides/notesSlide5.xml"/><Relationship Id="rId16" Type="http://schemas.openxmlformats.org/officeDocument/2006/relationships/hyperlink" Target="https://universe.roboflow.com/packageandbarcode/package-and-label-detection-agjvl" TargetMode="External"/><Relationship Id="rId20" Type="http://schemas.openxmlformats.org/officeDocument/2006/relationships/image" Target="../media/image78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indialaw.in/blog/environment/legal-metrology-packaged-commodities-amendment-rules/" TargetMode="External"/><Relationship Id="rId11" Type="http://schemas.openxmlformats.org/officeDocument/2006/relationships/hyperlink" Target="https://arxiv.org/abs/1506.02640" TargetMode="External"/><Relationship Id="rId5" Type="http://schemas.openxmlformats.org/officeDocument/2006/relationships/hyperlink" Target="https://simpliance.in/India/EHS/govt_notification/Central/frequently-asked-questions-relating-to-legal-metrology-packaged-commodities-rules-2011-and-model-approval-requirements-9571" TargetMode="External"/><Relationship Id="rId15" Type="http://schemas.openxmlformats.org/officeDocument/2006/relationships/hyperlink" Target="https://universe.roboflow.com/computer-vision-workspace/food-packaging-recognition" TargetMode="External"/><Relationship Id="rId23" Type="http://schemas.openxmlformats.org/officeDocument/2006/relationships/hyperlink" Target="https://github.com/Tushar-Ganmukhe/SIH-26.git" TargetMode="External"/><Relationship Id="rId10" Type="http://schemas.openxmlformats.org/officeDocument/2006/relationships/hyperlink" Target="https://pypi.org/project/pyzbar/" TargetMode="External"/><Relationship Id="rId19" Type="http://schemas.openxmlformats.org/officeDocument/2006/relationships/hyperlink" Target="https://wooqer.com/feeds/service/food-packaging-compliance-software" TargetMode="External"/><Relationship Id="rId4" Type="http://schemas.openxmlformats.org/officeDocument/2006/relationships/hyperlink" Target="https://www.ijitee.org/wp-content/uploads/papers/v8i6s4/F10860486S419.pdf" TargetMode="External"/><Relationship Id="rId9" Type="http://schemas.openxmlformats.org/officeDocument/2006/relationships/hyperlink" Target="https://arxiv.org/abs/2307.09288" TargetMode="External"/><Relationship Id="rId14" Type="http://schemas.openxmlformats.org/officeDocument/2006/relationships/hyperlink" Target="https://github.com/PaddlePaddle/PaddleOCR/blob/main/docs/version3.x/algorithm/PP-OCRv5/PP-OCRv5_multi_languages.en.md" TargetMode="External"/><Relationship Id="rId22" Type="http://schemas.openxmlformats.org/officeDocument/2006/relationships/image" Target="../media/image7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9916"/>
          <a:stretch/>
        </p:blipFill>
        <p:spPr>
          <a:xfrm>
            <a:off x="8825931" y="210196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39846" y="1466850"/>
            <a:ext cx="7822606" cy="5425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endParaRPr lang="en-US" dirty="0">
              <a:latin typeface="+mj-lt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+mj-lt"/>
                <a:ea typeface="ＭＳ Ｐゴシック"/>
                <a:cs typeface="Arial"/>
              </a:rPr>
              <a:t>Problem Statement ID - </a:t>
            </a:r>
            <a:r>
              <a:rPr lang="en-US" sz="2400" dirty="0">
                <a:latin typeface="+mj-lt"/>
                <a:ea typeface="ＭＳ Ｐゴシック"/>
                <a:cs typeface="Arial"/>
              </a:rPr>
              <a:t>SIH26034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+mj-lt"/>
                <a:ea typeface="ＭＳ Ｐゴシック"/>
                <a:cs typeface="Arial"/>
              </a:rPr>
              <a:t>Problem Statement Title -</a:t>
            </a:r>
            <a:r>
              <a:rPr lang="en-US" sz="2400" dirty="0">
                <a:latin typeface="+mj-lt"/>
                <a:ea typeface="ＭＳ Ｐゴシック"/>
                <a:cs typeface="Arial"/>
              </a:rPr>
              <a:t>Software System to check compliance of Packaged Commodities under Legal Metrology(Packaged Commodities) Rules, 2011 by scanning products, images and labels</a:t>
            </a:r>
            <a:endParaRPr lang="en-US" sz="2800" b="1" dirty="0">
              <a:latin typeface="+mj-lt"/>
              <a:ea typeface="ＭＳ Ｐゴシック"/>
              <a:cs typeface="Arial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+mj-lt"/>
                <a:ea typeface="ＭＳ Ｐゴシック"/>
                <a:cs typeface="Arial"/>
              </a:rPr>
              <a:t>Theme - </a:t>
            </a:r>
            <a:r>
              <a:rPr lang="en-US" sz="2400" dirty="0">
                <a:latin typeface="+mj-lt"/>
                <a:ea typeface="ＭＳ Ｐゴシック"/>
                <a:cs typeface="Arial"/>
              </a:rPr>
              <a:t>Miscellaneous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+mj-lt"/>
                <a:ea typeface="ＭＳ Ｐゴシック"/>
                <a:cs typeface="Arial"/>
              </a:rPr>
              <a:t>PS Category - </a:t>
            </a:r>
            <a:r>
              <a:rPr lang="en-US" sz="2400" dirty="0">
                <a:latin typeface="+mj-lt"/>
                <a:ea typeface="ＭＳ Ｐゴシック"/>
                <a:cs typeface="Arial"/>
              </a:rPr>
              <a:t>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+mj-lt"/>
                <a:ea typeface="ＭＳ Ｐゴシック"/>
                <a:cs typeface="Arial"/>
              </a:rPr>
              <a:t>Team ID - </a:t>
            </a:r>
            <a:r>
              <a:rPr lang="en-US" sz="2400" dirty="0">
                <a:latin typeface="+mj-lt"/>
                <a:ea typeface="ＭＳ Ｐゴシック"/>
                <a:cs typeface="Arial"/>
              </a:rPr>
              <a:t>NA</a:t>
            </a:r>
            <a:endParaRPr lang="en-US" sz="2400" dirty="0">
              <a:latin typeface="+mj-lt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+mj-lt"/>
                <a:ea typeface="ＭＳ Ｐゴシック"/>
                <a:cs typeface="Arial"/>
              </a:rPr>
              <a:t>Team Name - </a:t>
            </a:r>
            <a:r>
              <a:rPr lang="en-US" sz="2400" dirty="0">
                <a:latin typeface="+mj-lt"/>
                <a:ea typeface="ＭＳ Ｐゴシック"/>
                <a:cs typeface="Arial"/>
              </a:rPr>
              <a:t>TEAM MEGATRON</a:t>
            </a:r>
            <a:endParaRPr lang="en-IN" sz="2400" dirty="0">
              <a:latin typeface="+mj-lt"/>
              <a:ea typeface="ＭＳ Ｐゴシック"/>
              <a:cs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74832" y="71005"/>
            <a:ext cx="1237501" cy="830997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endParaRPr lang="en-US">
              <a:ea typeface="Calibri"/>
              <a:cs typeface="Calibri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6139" y="-24146"/>
            <a:ext cx="1989750" cy="93952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B18931F-59E1-D352-EE7A-0DA023565067}"/>
              </a:ext>
            </a:extLst>
          </p:cNvPr>
          <p:cNvSpPr txBox="1"/>
          <p:nvPr/>
        </p:nvSpPr>
        <p:spPr>
          <a:xfrm>
            <a:off x="0" y="152723"/>
            <a:ext cx="1381911" cy="6652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latin typeface="Calibri"/>
                <a:ea typeface="Calibri"/>
                <a:cs typeface="Calibri"/>
              </a:rPr>
              <a:t>TEAM </a:t>
            </a:r>
            <a:endParaRPr lang="en-US" dirty="0">
              <a:latin typeface="Calibri"/>
              <a:cs typeface="Calibri" pitchFamily="34" charset="0"/>
            </a:endParaRPr>
          </a:p>
          <a:p>
            <a:pPr algn="ctr"/>
            <a:r>
              <a:rPr lang="en-US" dirty="0">
                <a:latin typeface="Calibri"/>
                <a:ea typeface="Calibri"/>
                <a:cs typeface="Calibri"/>
              </a:rPr>
              <a:t>MEGATRON</a:t>
            </a:r>
            <a:endParaRPr lang="en-US" dirty="0">
              <a:latin typeface="Calibri"/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47C250-14E3-BCB9-766C-2D8E8AD7F211}"/>
              </a:ext>
            </a:extLst>
          </p:cNvPr>
          <p:cNvSpPr txBox="1"/>
          <p:nvPr/>
        </p:nvSpPr>
        <p:spPr>
          <a:xfrm>
            <a:off x="-7934" y="1118292"/>
            <a:ext cx="4658745" cy="59708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7345" indent="-347345" algn="just" rtl="0">
              <a:buFont typeface="Arial"/>
              <a:buChar char="•"/>
            </a:pPr>
            <a:r>
              <a:rPr lang="en-US" kern="1200" dirty="0">
                <a:latin typeface="+mn-lt"/>
                <a:ea typeface="ＭＳ Ｐゴシック"/>
                <a:cs typeface="Times New Roman"/>
              </a:rPr>
              <a:t>The </a:t>
            </a:r>
            <a:r>
              <a:rPr lang="en-US" dirty="0">
                <a:latin typeface="+mn-lt"/>
                <a:ea typeface="ＭＳ Ｐゴシック"/>
                <a:cs typeface="Times New Roman"/>
              </a:rPr>
              <a:t>proposed</a:t>
            </a:r>
            <a:r>
              <a:rPr lang="en-US" kern="1200" dirty="0">
                <a:latin typeface="+mn-lt"/>
                <a:ea typeface="ＭＳ Ｐゴシック"/>
                <a:cs typeface="Times New Roman"/>
              </a:rPr>
              <a:t> solution uses advanced computer vision and machine learning models to inspect packaged commodities based on visual data, influencing factors such as </a:t>
            </a:r>
            <a:r>
              <a:rPr lang="en-US" b="1" kern="1200" dirty="0">
                <a:latin typeface="+mn-lt"/>
                <a:ea typeface="ＭＳ Ｐゴシック"/>
                <a:cs typeface="Times New Roman"/>
              </a:rPr>
              <a:t>text, regulatory logos, barcodes and cross modal tamper detection.</a:t>
            </a:r>
          </a:p>
          <a:p>
            <a:pPr marL="347345" indent="-347345" algn="just" rtl="0">
              <a:buFont typeface="Arial"/>
              <a:buChar char="•"/>
            </a:pPr>
            <a:endParaRPr lang="en-US" b="1" kern="1200" dirty="0">
              <a:latin typeface="+mn-lt"/>
              <a:ea typeface="ＭＳ Ｐゴシック"/>
              <a:cs typeface="Times New Roman"/>
            </a:endParaRPr>
          </a:p>
          <a:p>
            <a:pPr marL="347345" indent="-347345" algn="just" rtl="0">
              <a:buFont typeface="Arial"/>
              <a:buChar char="•"/>
            </a:pPr>
            <a:r>
              <a:rPr lang="en-IN" kern="1200" dirty="0">
                <a:latin typeface="+mn-lt"/>
                <a:ea typeface="ＭＳ Ｐゴシック"/>
                <a:cs typeface="Times New Roman"/>
              </a:rPr>
              <a:t>A user friendly website allows officers to easily capture product images and view compliance result, it features an </a:t>
            </a:r>
            <a:r>
              <a:rPr lang="en-IN" b="1" kern="1200" dirty="0">
                <a:latin typeface="+mn-lt"/>
                <a:ea typeface="ＭＳ Ｐゴシック"/>
                <a:cs typeface="Times New Roman"/>
              </a:rPr>
              <a:t>offline first approach, </a:t>
            </a:r>
            <a:r>
              <a:rPr lang="en-IN" kern="1200" dirty="0">
                <a:latin typeface="+mn-lt"/>
                <a:ea typeface="ＭＳ Ｐゴシック"/>
                <a:cs typeface="Times New Roman"/>
              </a:rPr>
              <a:t>ensuring seamless data storage in remote areas and automatic synchronization when internet connectivity returns</a:t>
            </a:r>
          </a:p>
          <a:p>
            <a:pPr marL="347345" indent="-347345" algn="just" rtl="0">
              <a:buFont typeface="Arial"/>
              <a:buChar char="•"/>
            </a:pPr>
            <a:endParaRPr lang="en-IN" kern="1200" dirty="0">
              <a:latin typeface="+mn-lt"/>
              <a:ea typeface="ＭＳ Ｐゴシック"/>
              <a:cs typeface="Times New Roman"/>
            </a:endParaRPr>
          </a:p>
          <a:p>
            <a:pPr marL="347345" indent="-347345" algn="just" rtl="0">
              <a:buFont typeface="Arial"/>
              <a:buChar char="•"/>
            </a:pPr>
            <a:r>
              <a:rPr lang="en-IN" kern="1200" dirty="0">
                <a:latin typeface="+mn-lt"/>
                <a:ea typeface="ＭＳ Ｐゴシック"/>
                <a:cs typeface="Times New Roman"/>
              </a:rPr>
              <a:t>The solution combines data driven AI model for accurate legal compliance checks and has a user friendly and scalable web interface for efficient field to desk operations.</a:t>
            </a:r>
          </a:p>
          <a:p>
            <a:pPr algn="ctr"/>
            <a:endParaRPr lang="en-US" sz="2200" dirty="0">
              <a:cs typeface="Calibri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560FC51-5B9D-E87E-847E-F20D7CA7A180}"/>
              </a:ext>
            </a:extLst>
          </p:cNvPr>
          <p:cNvCxnSpPr>
            <a:cxnSpLocks/>
          </p:cNvCxnSpPr>
          <p:nvPr/>
        </p:nvCxnSpPr>
        <p:spPr>
          <a:xfrm>
            <a:off x="4797623" y="1255095"/>
            <a:ext cx="0" cy="5242560"/>
          </a:xfrm>
          <a:prstGeom prst="line">
            <a:avLst/>
          </a:prstGeom>
          <a:ln w="222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2" name="Rounded Rectangle 16">
            <a:extLst>
              <a:ext uri="{FF2B5EF4-FFF2-40B4-BE49-F238E27FC236}">
                <a16:creationId xmlns:a16="http://schemas.microsoft.com/office/drawing/2014/main" id="{FE2662EE-E5CC-CD03-0997-F3E58A26204D}"/>
              </a:ext>
            </a:extLst>
          </p:cNvPr>
          <p:cNvSpPr/>
          <p:nvPr/>
        </p:nvSpPr>
        <p:spPr>
          <a:xfrm>
            <a:off x="5330564" y="3710615"/>
            <a:ext cx="4908379" cy="78586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7D8A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00" dirty="0"/>
          </a:p>
        </p:txBody>
      </p:sp>
      <p:sp>
        <p:nvSpPr>
          <p:cNvPr id="23" name="Rounded Rectangle 17">
            <a:extLst>
              <a:ext uri="{FF2B5EF4-FFF2-40B4-BE49-F238E27FC236}">
                <a16:creationId xmlns:a16="http://schemas.microsoft.com/office/drawing/2014/main" id="{DE8E289D-B995-D5C0-0D3D-2A72FBB7B425}"/>
              </a:ext>
            </a:extLst>
          </p:cNvPr>
          <p:cNvSpPr/>
          <p:nvPr/>
        </p:nvSpPr>
        <p:spPr>
          <a:xfrm>
            <a:off x="5503893" y="3767807"/>
            <a:ext cx="412844" cy="302775"/>
          </a:xfrm>
          <a:prstGeom prst="roundRect">
            <a:avLst/>
          </a:prstGeom>
          <a:solidFill>
            <a:srgbClr val="EEF5FC"/>
          </a:solidFill>
          <a:ln w="8890">
            <a:solidFill>
              <a:srgbClr val="2F6E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C5F74E6-163D-F106-ADFF-A682A1AA668C}"/>
              </a:ext>
            </a:extLst>
          </p:cNvPr>
          <p:cNvSpPr txBox="1"/>
          <p:nvPr/>
        </p:nvSpPr>
        <p:spPr>
          <a:xfrm>
            <a:off x="5464670" y="4112034"/>
            <a:ext cx="527284" cy="149215"/>
          </a:xfrm>
          <a:prstGeom prst="rect">
            <a:avLst/>
          </a:prstGeom>
          <a:noFill/>
        </p:spPr>
        <p:txBody>
          <a:bodyPr wrap="square" lIns="16717" tIns="16717" rIns="16717" bIns="16717" anchor="t">
            <a:spAutoFit/>
          </a:bodyPr>
          <a:lstStyle/>
          <a:p>
            <a:pPr algn="ctr"/>
            <a:r>
              <a:rPr sz="800" b="1" dirty="0">
                <a:solidFill>
                  <a:srgbClr val="111111"/>
                </a:solidFill>
                <a:latin typeface="+mj-lt"/>
              </a:rPr>
              <a:t>1. Capture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1A990B0-DAFC-4869-CE74-2A01098B49D3}"/>
              </a:ext>
            </a:extLst>
          </p:cNvPr>
          <p:cNvSpPr txBox="1"/>
          <p:nvPr/>
        </p:nvSpPr>
        <p:spPr>
          <a:xfrm>
            <a:off x="5472623" y="4246640"/>
            <a:ext cx="527284" cy="266317"/>
          </a:xfrm>
          <a:prstGeom prst="rect">
            <a:avLst/>
          </a:prstGeom>
          <a:noFill/>
        </p:spPr>
        <p:txBody>
          <a:bodyPr wrap="square" lIns="16717" tIns="16717" rIns="16717" bIns="16717" anchor="t">
            <a:spAutoFit/>
          </a:bodyPr>
          <a:lstStyle/>
          <a:p>
            <a:pPr algn="ctr"/>
            <a:r>
              <a:rPr sz="800" dirty="0">
                <a:solidFill>
                  <a:srgbClr val="111111"/>
                </a:solidFill>
                <a:latin typeface="+mj-lt"/>
              </a:rPr>
              <a:t>Images / Data</a:t>
            </a:r>
          </a:p>
        </p:txBody>
      </p:sp>
      <p:sp>
        <p:nvSpPr>
          <p:cNvPr id="28" name="Rounded Rectangle 22">
            <a:extLst>
              <a:ext uri="{FF2B5EF4-FFF2-40B4-BE49-F238E27FC236}">
                <a16:creationId xmlns:a16="http://schemas.microsoft.com/office/drawing/2014/main" id="{773DD11F-255E-475B-AFDF-34C765AAED87}"/>
              </a:ext>
            </a:extLst>
          </p:cNvPr>
          <p:cNvSpPr/>
          <p:nvPr/>
        </p:nvSpPr>
        <p:spPr>
          <a:xfrm>
            <a:off x="6316428" y="3767807"/>
            <a:ext cx="412657" cy="302775"/>
          </a:xfrm>
          <a:prstGeom prst="roundRect">
            <a:avLst/>
          </a:prstGeom>
          <a:solidFill>
            <a:srgbClr val="EEF5FC"/>
          </a:solidFill>
          <a:ln w="8890">
            <a:solidFill>
              <a:srgbClr val="2F6E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47E8676-339C-33E1-202B-FE68E1B8E4FE}"/>
              </a:ext>
            </a:extLst>
          </p:cNvPr>
          <p:cNvSpPr txBox="1"/>
          <p:nvPr/>
        </p:nvSpPr>
        <p:spPr>
          <a:xfrm>
            <a:off x="6251573" y="4063226"/>
            <a:ext cx="614703" cy="149215"/>
          </a:xfrm>
          <a:prstGeom prst="rect">
            <a:avLst/>
          </a:prstGeom>
          <a:noFill/>
        </p:spPr>
        <p:txBody>
          <a:bodyPr wrap="square" lIns="16717" tIns="16717" rIns="16717" bIns="16717" anchor="t">
            <a:spAutoFit/>
          </a:bodyPr>
          <a:lstStyle/>
          <a:p>
            <a:pPr algn="ctr"/>
            <a:r>
              <a:rPr lang="en-US" sz="800" b="1" dirty="0">
                <a:solidFill>
                  <a:srgbClr val="111111"/>
                </a:solidFill>
                <a:latin typeface="+mj-lt"/>
              </a:rPr>
              <a:t>2.</a:t>
            </a:r>
            <a:r>
              <a:rPr sz="800" b="1" dirty="0">
                <a:solidFill>
                  <a:srgbClr val="111111"/>
                </a:solidFill>
                <a:latin typeface="+mj-lt"/>
              </a:rPr>
              <a:t>Preproc</a:t>
            </a:r>
            <a:r>
              <a:rPr lang="en-US" sz="800" b="1" dirty="0">
                <a:solidFill>
                  <a:srgbClr val="111111"/>
                </a:solidFill>
                <a:latin typeface="+mj-lt"/>
              </a:rPr>
              <a:t>s</a:t>
            </a:r>
            <a:r>
              <a:rPr sz="800" b="1" dirty="0">
                <a:solidFill>
                  <a:srgbClr val="111111"/>
                </a:solidFill>
                <a:latin typeface="+mj-lt"/>
              </a:rPr>
              <a:t>es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C2A48B0-38F4-47D1-2D04-CB3171056C4A}"/>
              </a:ext>
            </a:extLst>
          </p:cNvPr>
          <p:cNvSpPr txBox="1"/>
          <p:nvPr/>
        </p:nvSpPr>
        <p:spPr>
          <a:xfrm>
            <a:off x="6244463" y="4238112"/>
            <a:ext cx="689761" cy="266317"/>
          </a:xfrm>
          <a:prstGeom prst="rect">
            <a:avLst/>
          </a:prstGeom>
          <a:noFill/>
        </p:spPr>
        <p:txBody>
          <a:bodyPr wrap="square" lIns="16717" tIns="16717" rIns="16717" bIns="16717" anchor="t">
            <a:spAutoFit/>
          </a:bodyPr>
          <a:lstStyle/>
          <a:p>
            <a:pPr algn="ctr"/>
            <a:r>
              <a:rPr sz="800" dirty="0">
                <a:solidFill>
                  <a:srgbClr val="111111"/>
                </a:solidFill>
                <a:latin typeface="+mj-lt"/>
              </a:rPr>
              <a:t>Enhance &amp; Detect</a:t>
            </a:r>
          </a:p>
        </p:txBody>
      </p:sp>
      <p:sp>
        <p:nvSpPr>
          <p:cNvPr id="33" name="Rounded Rectangle 27">
            <a:extLst>
              <a:ext uri="{FF2B5EF4-FFF2-40B4-BE49-F238E27FC236}">
                <a16:creationId xmlns:a16="http://schemas.microsoft.com/office/drawing/2014/main" id="{53DA8FC3-9E75-8034-403B-974C76319950}"/>
              </a:ext>
            </a:extLst>
          </p:cNvPr>
          <p:cNvSpPr/>
          <p:nvPr/>
        </p:nvSpPr>
        <p:spPr>
          <a:xfrm>
            <a:off x="7158863" y="3767807"/>
            <a:ext cx="412657" cy="302775"/>
          </a:xfrm>
          <a:prstGeom prst="roundRect">
            <a:avLst/>
          </a:prstGeom>
          <a:solidFill>
            <a:srgbClr val="EEF5FC"/>
          </a:solidFill>
          <a:ln w="8890">
            <a:solidFill>
              <a:srgbClr val="2F6E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 dirty="0">
                <a:solidFill>
                  <a:schemeClr val="tx1"/>
                </a:solidFill>
              </a:rPr>
              <a:t>OCR</a:t>
            </a:r>
            <a:endParaRPr sz="800" b="1" dirty="0">
              <a:solidFill>
                <a:schemeClr val="tx1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27201A0-8032-2817-A352-8E8C81F44933}"/>
              </a:ext>
            </a:extLst>
          </p:cNvPr>
          <p:cNvSpPr txBox="1"/>
          <p:nvPr/>
        </p:nvSpPr>
        <p:spPr>
          <a:xfrm>
            <a:off x="7035638" y="4091401"/>
            <a:ext cx="659105" cy="266317"/>
          </a:xfrm>
          <a:prstGeom prst="rect">
            <a:avLst/>
          </a:prstGeom>
          <a:noFill/>
        </p:spPr>
        <p:txBody>
          <a:bodyPr wrap="square" lIns="16717" tIns="16717" rIns="16717" bIns="16717" anchor="t">
            <a:spAutoFit/>
          </a:bodyPr>
          <a:lstStyle/>
          <a:p>
            <a:pPr algn="ctr"/>
            <a:r>
              <a:rPr sz="800" b="1" dirty="0">
                <a:solidFill>
                  <a:srgbClr val="111111"/>
                </a:solidFill>
                <a:latin typeface="+mj-lt"/>
              </a:rPr>
              <a:t>3. Multilingual OCR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27B5BD1-5394-B0A0-0998-2133EAD119FC}"/>
              </a:ext>
            </a:extLst>
          </p:cNvPr>
          <p:cNvSpPr txBox="1"/>
          <p:nvPr/>
        </p:nvSpPr>
        <p:spPr>
          <a:xfrm>
            <a:off x="7025872" y="4329605"/>
            <a:ext cx="739540" cy="149215"/>
          </a:xfrm>
          <a:prstGeom prst="rect">
            <a:avLst/>
          </a:prstGeom>
          <a:noFill/>
        </p:spPr>
        <p:txBody>
          <a:bodyPr wrap="square" lIns="16717" tIns="16717" rIns="16717" bIns="16717" anchor="t">
            <a:spAutoFit/>
          </a:bodyPr>
          <a:lstStyle/>
          <a:p>
            <a:pPr algn="ctr"/>
            <a:r>
              <a:rPr sz="800" dirty="0">
                <a:solidFill>
                  <a:srgbClr val="111111"/>
                </a:solidFill>
                <a:latin typeface="+mj-lt"/>
              </a:rPr>
              <a:t>Text</a:t>
            </a:r>
            <a:r>
              <a:rPr lang="en-US" sz="800" dirty="0">
                <a:solidFill>
                  <a:srgbClr val="111111"/>
                </a:solidFill>
                <a:latin typeface="+mj-lt"/>
              </a:rPr>
              <a:t> </a:t>
            </a:r>
            <a:r>
              <a:rPr sz="800" dirty="0">
                <a:solidFill>
                  <a:srgbClr val="111111"/>
                </a:solidFill>
                <a:latin typeface="+mj-lt"/>
              </a:rPr>
              <a:t>Extraction</a:t>
            </a:r>
          </a:p>
        </p:txBody>
      </p:sp>
      <p:sp>
        <p:nvSpPr>
          <p:cNvPr id="38" name="Rounded Rectangle 32">
            <a:extLst>
              <a:ext uri="{FF2B5EF4-FFF2-40B4-BE49-F238E27FC236}">
                <a16:creationId xmlns:a16="http://schemas.microsoft.com/office/drawing/2014/main" id="{6ECBBABA-D4DA-0AC5-3A9C-679B75C8BBD2}"/>
              </a:ext>
            </a:extLst>
          </p:cNvPr>
          <p:cNvSpPr/>
          <p:nvPr/>
        </p:nvSpPr>
        <p:spPr>
          <a:xfrm>
            <a:off x="8023864" y="3767807"/>
            <a:ext cx="412657" cy="302775"/>
          </a:xfrm>
          <a:prstGeom prst="roundRect">
            <a:avLst/>
          </a:prstGeom>
          <a:solidFill>
            <a:srgbClr val="EEF5FC"/>
          </a:solidFill>
          <a:ln w="8890">
            <a:solidFill>
              <a:srgbClr val="2F6E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F5D78E6-9551-9C5F-222F-EC4591FCE675}"/>
              </a:ext>
            </a:extLst>
          </p:cNvPr>
          <p:cNvSpPr txBox="1"/>
          <p:nvPr/>
        </p:nvSpPr>
        <p:spPr>
          <a:xfrm>
            <a:off x="7984454" y="4112034"/>
            <a:ext cx="527284" cy="266317"/>
          </a:xfrm>
          <a:prstGeom prst="rect">
            <a:avLst/>
          </a:prstGeom>
          <a:noFill/>
        </p:spPr>
        <p:txBody>
          <a:bodyPr wrap="square" lIns="16717" tIns="16717" rIns="16717" bIns="16717" anchor="t">
            <a:spAutoFit/>
          </a:bodyPr>
          <a:lstStyle/>
          <a:p>
            <a:pPr algn="ctr"/>
            <a:r>
              <a:rPr sz="800" b="1" dirty="0">
                <a:solidFill>
                  <a:srgbClr val="111111"/>
                </a:solidFill>
                <a:latin typeface="+mj-lt"/>
              </a:rPr>
              <a:t>4. Barcode / QR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774C670-50FC-FC9D-171E-20520268C94B}"/>
              </a:ext>
            </a:extLst>
          </p:cNvPr>
          <p:cNvSpPr txBox="1"/>
          <p:nvPr/>
        </p:nvSpPr>
        <p:spPr>
          <a:xfrm>
            <a:off x="7977909" y="4336707"/>
            <a:ext cx="527284" cy="149215"/>
          </a:xfrm>
          <a:prstGeom prst="rect">
            <a:avLst/>
          </a:prstGeom>
          <a:noFill/>
        </p:spPr>
        <p:txBody>
          <a:bodyPr wrap="square" lIns="16717" tIns="16717" rIns="16717" bIns="16717" anchor="t">
            <a:spAutoFit/>
          </a:bodyPr>
          <a:lstStyle/>
          <a:p>
            <a:pPr algn="ctr"/>
            <a:r>
              <a:rPr sz="800" dirty="0">
                <a:solidFill>
                  <a:srgbClr val="111111"/>
                </a:solidFill>
                <a:latin typeface="+mj-lt"/>
              </a:rPr>
              <a:t>Decode</a:t>
            </a:r>
          </a:p>
        </p:txBody>
      </p:sp>
      <p:sp>
        <p:nvSpPr>
          <p:cNvPr id="43" name="Rounded Rectangle 37">
            <a:extLst>
              <a:ext uri="{FF2B5EF4-FFF2-40B4-BE49-F238E27FC236}">
                <a16:creationId xmlns:a16="http://schemas.microsoft.com/office/drawing/2014/main" id="{1D8A41C9-6C96-1C23-3BDA-3138857A1A79}"/>
              </a:ext>
            </a:extLst>
          </p:cNvPr>
          <p:cNvSpPr/>
          <p:nvPr/>
        </p:nvSpPr>
        <p:spPr>
          <a:xfrm>
            <a:off x="8896387" y="3767807"/>
            <a:ext cx="412657" cy="302775"/>
          </a:xfrm>
          <a:prstGeom prst="roundRect">
            <a:avLst/>
          </a:prstGeom>
          <a:solidFill>
            <a:srgbClr val="EEF5FC"/>
          </a:solidFill>
          <a:ln w="8890">
            <a:solidFill>
              <a:srgbClr val="2F6E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DD07496-312F-85E2-88B1-BBEAA7152131}"/>
              </a:ext>
            </a:extLst>
          </p:cNvPr>
          <p:cNvSpPr txBox="1"/>
          <p:nvPr/>
        </p:nvSpPr>
        <p:spPr>
          <a:xfrm>
            <a:off x="8694500" y="4128907"/>
            <a:ext cx="689761" cy="266317"/>
          </a:xfrm>
          <a:prstGeom prst="rect">
            <a:avLst/>
          </a:prstGeom>
          <a:noFill/>
        </p:spPr>
        <p:txBody>
          <a:bodyPr wrap="square" lIns="16717" tIns="16717" rIns="16717" bIns="16717" anchor="t">
            <a:spAutoFit/>
          </a:bodyPr>
          <a:lstStyle/>
          <a:p>
            <a:pPr algn="ctr"/>
            <a:r>
              <a:rPr sz="800" b="1" dirty="0">
                <a:solidFill>
                  <a:srgbClr val="111111"/>
                </a:solidFill>
                <a:latin typeface="+mj-lt"/>
              </a:rPr>
              <a:t>5. Regulatory
Logo Detection</a:t>
            </a:r>
          </a:p>
        </p:txBody>
      </p:sp>
      <p:sp>
        <p:nvSpPr>
          <p:cNvPr id="48" name="Rounded Rectangle 42">
            <a:extLst>
              <a:ext uri="{FF2B5EF4-FFF2-40B4-BE49-F238E27FC236}">
                <a16:creationId xmlns:a16="http://schemas.microsoft.com/office/drawing/2014/main" id="{F8BDEA2E-D197-180A-BAF1-99BF74DC6E6F}"/>
              </a:ext>
            </a:extLst>
          </p:cNvPr>
          <p:cNvSpPr/>
          <p:nvPr/>
        </p:nvSpPr>
        <p:spPr>
          <a:xfrm>
            <a:off x="9716257" y="3767807"/>
            <a:ext cx="412657" cy="302775"/>
          </a:xfrm>
          <a:prstGeom prst="roundRect">
            <a:avLst/>
          </a:prstGeom>
          <a:solidFill>
            <a:srgbClr val="EEF5FC"/>
          </a:solidFill>
          <a:ln w="8890">
            <a:solidFill>
              <a:srgbClr val="2F6E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C4CA1D2-5395-E3C4-4C5B-1984240F3BB6}"/>
              </a:ext>
            </a:extLst>
          </p:cNvPr>
          <p:cNvSpPr txBox="1"/>
          <p:nvPr/>
        </p:nvSpPr>
        <p:spPr>
          <a:xfrm>
            <a:off x="9612183" y="4112034"/>
            <a:ext cx="591950" cy="149215"/>
          </a:xfrm>
          <a:prstGeom prst="rect">
            <a:avLst/>
          </a:prstGeom>
          <a:noFill/>
        </p:spPr>
        <p:txBody>
          <a:bodyPr wrap="square" lIns="16717" tIns="16717" rIns="16717" bIns="16717" anchor="t">
            <a:spAutoFit/>
          </a:bodyPr>
          <a:lstStyle/>
          <a:p>
            <a:pPr algn="ctr"/>
            <a:r>
              <a:rPr sz="800" b="1" dirty="0">
                <a:solidFill>
                  <a:srgbClr val="111111"/>
                </a:solidFill>
                <a:latin typeface="+mj-lt"/>
              </a:rPr>
              <a:t>6. LLM / NLP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8B55227-3497-C530-094C-A5E32D44F919}"/>
              </a:ext>
            </a:extLst>
          </p:cNvPr>
          <p:cNvSpPr txBox="1"/>
          <p:nvPr/>
        </p:nvSpPr>
        <p:spPr>
          <a:xfrm>
            <a:off x="9435716" y="4231102"/>
            <a:ext cx="917753" cy="266317"/>
          </a:xfrm>
          <a:prstGeom prst="rect">
            <a:avLst/>
          </a:prstGeom>
          <a:noFill/>
        </p:spPr>
        <p:txBody>
          <a:bodyPr wrap="square" lIns="16717" tIns="16717" rIns="16717" bIns="16717" anchor="t">
            <a:spAutoFit/>
          </a:bodyPr>
          <a:lstStyle/>
          <a:p>
            <a:pPr algn="ctr"/>
            <a:r>
              <a:rPr sz="800" dirty="0">
                <a:solidFill>
                  <a:srgbClr val="111111"/>
                </a:solidFill>
                <a:latin typeface="+mj-lt"/>
              </a:rPr>
              <a:t>Structured </a:t>
            </a:r>
            <a:endParaRPr lang="en-US" sz="800" dirty="0">
              <a:solidFill>
                <a:srgbClr val="111111"/>
              </a:solidFill>
              <a:latin typeface="+mj-lt"/>
            </a:endParaRPr>
          </a:p>
          <a:p>
            <a:pPr algn="ctr"/>
            <a:r>
              <a:rPr sz="800" dirty="0">
                <a:solidFill>
                  <a:srgbClr val="111111"/>
                </a:solidFill>
                <a:latin typeface="+mj-lt"/>
              </a:rPr>
              <a:t>Extraction</a:t>
            </a:r>
          </a:p>
        </p:txBody>
      </p:sp>
      <p:sp>
        <p:nvSpPr>
          <p:cNvPr id="53" name="Rounded Rectangle 47">
            <a:extLst>
              <a:ext uri="{FF2B5EF4-FFF2-40B4-BE49-F238E27FC236}">
                <a16:creationId xmlns:a16="http://schemas.microsoft.com/office/drawing/2014/main" id="{624B905D-AA25-DFB3-FDCE-EFEF60FFA274}"/>
              </a:ext>
            </a:extLst>
          </p:cNvPr>
          <p:cNvSpPr/>
          <p:nvPr/>
        </p:nvSpPr>
        <p:spPr>
          <a:xfrm>
            <a:off x="5090855" y="4693822"/>
            <a:ext cx="1169530" cy="822030"/>
          </a:xfrm>
          <a:prstGeom prst="roundRect">
            <a:avLst/>
          </a:prstGeom>
          <a:solidFill>
            <a:srgbClr val="F6F0FA"/>
          </a:solidFill>
          <a:ln w="10160">
            <a:solidFill>
              <a:srgbClr val="8A5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1DE0072-23A2-CA2C-B9C7-5D4761CF6711}"/>
              </a:ext>
            </a:extLst>
          </p:cNvPr>
          <p:cNvSpPr txBox="1"/>
          <p:nvPr/>
        </p:nvSpPr>
        <p:spPr>
          <a:xfrm>
            <a:off x="5067709" y="4733367"/>
            <a:ext cx="1224161" cy="149215"/>
          </a:xfrm>
          <a:prstGeom prst="rect">
            <a:avLst/>
          </a:prstGeom>
          <a:noFill/>
        </p:spPr>
        <p:txBody>
          <a:bodyPr wrap="square" lIns="16717" tIns="16717" rIns="16717" bIns="16717" anchor="t">
            <a:spAutoFit/>
          </a:bodyPr>
          <a:lstStyle/>
          <a:p>
            <a:pPr algn="ctr"/>
            <a:r>
              <a:rPr sz="800" b="1" dirty="0">
                <a:solidFill>
                  <a:srgbClr val="8A56A7"/>
                </a:solidFill>
                <a:latin typeface="+mj-lt"/>
              </a:rPr>
              <a:t>Cross-Modal Verification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6F8E077-30D6-F746-1CC8-7E874997566F}"/>
              </a:ext>
            </a:extLst>
          </p:cNvPr>
          <p:cNvSpPr txBox="1"/>
          <p:nvPr/>
        </p:nvSpPr>
        <p:spPr>
          <a:xfrm>
            <a:off x="5084374" y="5188033"/>
            <a:ext cx="1100369" cy="266317"/>
          </a:xfrm>
          <a:prstGeom prst="rect">
            <a:avLst/>
          </a:prstGeom>
          <a:noFill/>
        </p:spPr>
        <p:txBody>
          <a:bodyPr wrap="square" lIns="16717" tIns="16717" rIns="16717" bIns="16717" anchor="t">
            <a:spAutoFit/>
          </a:bodyPr>
          <a:lstStyle/>
          <a:p>
            <a:pPr algn="ctr"/>
            <a:r>
              <a:rPr sz="800" b="1" dirty="0">
                <a:solidFill>
                  <a:srgbClr val="111111"/>
                </a:solidFill>
                <a:latin typeface="+mj-lt"/>
              </a:rPr>
              <a:t>Compare OCR Data with
Barcode / Reference</a:t>
            </a:r>
          </a:p>
        </p:txBody>
      </p:sp>
      <p:sp>
        <p:nvSpPr>
          <p:cNvPr id="56" name="Rounded Rectangle 50">
            <a:extLst>
              <a:ext uri="{FF2B5EF4-FFF2-40B4-BE49-F238E27FC236}">
                <a16:creationId xmlns:a16="http://schemas.microsoft.com/office/drawing/2014/main" id="{F96F5CE5-B664-B0E1-B54E-41FE4506BA68}"/>
              </a:ext>
            </a:extLst>
          </p:cNvPr>
          <p:cNvSpPr/>
          <p:nvPr/>
        </p:nvSpPr>
        <p:spPr>
          <a:xfrm>
            <a:off x="6523196" y="4695217"/>
            <a:ext cx="1163197" cy="810589"/>
          </a:xfrm>
          <a:prstGeom prst="roundRect">
            <a:avLst/>
          </a:prstGeom>
          <a:solidFill>
            <a:srgbClr val="FFF5E5"/>
          </a:solidFill>
          <a:ln w="10160">
            <a:solidFill>
              <a:srgbClr val="F59B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D9EF261-F260-24F2-2ED0-9DA40204A5B0}"/>
              </a:ext>
            </a:extLst>
          </p:cNvPr>
          <p:cNvSpPr txBox="1"/>
          <p:nvPr/>
        </p:nvSpPr>
        <p:spPr>
          <a:xfrm>
            <a:off x="6574641" y="4734420"/>
            <a:ext cx="1084778" cy="149215"/>
          </a:xfrm>
          <a:prstGeom prst="rect">
            <a:avLst/>
          </a:prstGeom>
          <a:noFill/>
        </p:spPr>
        <p:txBody>
          <a:bodyPr wrap="square" lIns="16717" tIns="16717" rIns="16717" bIns="16717" anchor="t">
            <a:spAutoFit/>
          </a:bodyPr>
          <a:lstStyle/>
          <a:p>
            <a:pPr algn="ctr"/>
            <a:r>
              <a:rPr sz="800" b="1" dirty="0">
                <a:solidFill>
                  <a:srgbClr val="F59B18"/>
                </a:solidFill>
                <a:latin typeface="+mj-lt"/>
              </a:rPr>
              <a:t>Rule Engine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747ACC6-14AE-319E-864B-12C558D5764F}"/>
              </a:ext>
            </a:extLst>
          </p:cNvPr>
          <p:cNvSpPr txBox="1"/>
          <p:nvPr/>
        </p:nvSpPr>
        <p:spPr>
          <a:xfrm>
            <a:off x="6613848" y="5218915"/>
            <a:ext cx="1045570" cy="266317"/>
          </a:xfrm>
          <a:prstGeom prst="rect">
            <a:avLst/>
          </a:prstGeom>
          <a:noFill/>
        </p:spPr>
        <p:txBody>
          <a:bodyPr wrap="square" lIns="16717" tIns="16717" rIns="16717" bIns="16717" anchor="t">
            <a:spAutoFit/>
          </a:bodyPr>
          <a:lstStyle/>
          <a:p>
            <a:pPr algn="ctr"/>
            <a:r>
              <a:rPr sz="800" b="1" dirty="0">
                <a:solidFill>
                  <a:srgbClr val="111111"/>
                </a:solidFill>
                <a:latin typeface="+mj-lt"/>
              </a:rPr>
              <a:t>Configurable</a:t>
            </a:r>
            <a:r>
              <a:rPr lang="en-IN" sz="800" b="1" dirty="0">
                <a:solidFill>
                  <a:srgbClr val="111111"/>
                </a:solidFill>
                <a:latin typeface="+mj-lt"/>
              </a:rPr>
              <a:t>Legal</a:t>
            </a:r>
            <a:r>
              <a:rPr sz="800" b="1" dirty="0">
                <a:solidFill>
                  <a:srgbClr val="111111"/>
                </a:solidFill>
                <a:latin typeface="+mj-lt"/>
              </a:rPr>
              <a:t> Rules
Evaluation</a:t>
            </a:r>
          </a:p>
        </p:txBody>
      </p:sp>
      <p:sp>
        <p:nvSpPr>
          <p:cNvPr id="59" name="Rounded Rectangle 53">
            <a:extLst>
              <a:ext uri="{FF2B5EF4-FFF2-40B4-BE49-F238E27FC236}">
                <a16:creationId xmlns:a16="http://schemas.microsoft.com/office/drawing/2014/main" id="{22E9A1F5-400A-AEA0-AE23-A17B4CCF20C5}"/>
              </a:ext>
            </a:extLst>
          </p:cNvPr>
          <p:cNvSpPr/>
          <p:nvPr/>
        </p:nvSpPr>
        <p:spPr>
          <a:xfrm>
            <a:off x="7966588" y="4691250"/>
            <a:ext cx="1176371" cy="824602"/>
          </a:xfrm>
          <a:prstGeom prst="roundRect">
            <a:avLst/>
          </a:prstGeom>
          <a:solidFill>
            <a:srgbClr val="F0F8ED"/>
          </a:solidFill>
          <a:ln w="10160">
            <a:solidFill>
              <a:srgbClr val="5AA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63D8D03-64A0-3B2D-496A-4740905E35B7}"/>
              </a:ext>
            </a:extLst>
          </p:cNvPr>
          <p:cNvSpPr txBox="1"/>
          <p:nvPr/>
        </p:nvSpPr>
        <p:spPr>
          <a:xfrm>
            <a:off x="8011720" y="4725987"/>
            <a:ext cx="1105840" cy="149215"/>
          </a:xfrm>
          <a:prstGeom prst="rect">
            <a:avLst/>
          </a:prstGeom>
          <a:noFill/>
        </p:spPr>
        <p:txBody>
          <a:bodyPr wrap="square" lIns="16717" tIns="16717" rIns="16717" bIns="16717" anchor="t">
            <a:spAutoFit/>
          </a:bodyPr>
          <a:lstStyle/>
          <a:p>
            <a:pPr algn="ctr"/>
            <a:r>
              <a:rPr sz="800" b="1" dirty="0">
                <a:solidFill>
                  <a:srgbClr val="5AA65A"/>
                </a:solidFill>
                <a:latin typeface="+mn-lt"/>
              </a:rPr>
              <a:t>Compliance Result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8F12C0A-D96C-4C17-870E-1F9778332CDE}"/>
              </a:ext>
            </a:extLst>
          </p:cNvPr>
          <p:cNvSpPr txBox="1"/>
          <p:nvPr/>
        </p:nvSpPr>
        <p:spPr>
          <a:xfrm>
            <a:off x="8023625" y="5209399"/>
            <a:ext cx="1065871" cy="266317"/>
          </a:xfrm>
          <a:prstGeom prst="rect">
            <a:avLst/>
          </a:prstGeom>
          <a:noFill/>
        </p:spPr>
        <p:txBody>
          <a:bodyPr wrap="square" lIns="16717" tIns="16717" rIns="16717" bIns="16717" anchor="t">
            <a:spAutoFit/>
          </a:bodyPr>
          <a:lstStyle/>
          <a:p>
            <a:pPr algn="ctr"/>
            <a:r>
              <a:rPr sz="800" b="1" dirty="0">
                <a:solidFill>
                  <a:srgbClr val="111111"/>
                </a:solidFill>
                <a:latin typeface="+mj-lt"/>
              </a:rPr>
              <a:t>Pass / Fail / Review
with Confidence Score</a:t>
            </a:r>
          </a:p>
        </p:txBody>
      </p:sp>
      <p:sp>
        <p:nvSpPr>
          <p:cNvPr id="62" name="Rounded Rectangle 56">
            <a:extLst>
              <a:ext uri="{FF2B5EF4-FFF2-40B4-BE49-F238E27FC236}">
                <a16:creationId xmlns:a16="http://schemas.microsoft.com/office/drawing/2014/main" id="{483D2E50-98F5-80D7-08BA-CE9B7A9C1C8D}"/>
              </a:ext>
            </a:extLst>
          </p:cNvPr>
          <p:cNvSpPr/>
          <p:nvPr/>
        </p:nvSpPr>
        <p:spPr>
          <a:xfrm>
            <a:off x="9476288" y="4712023"/>
            <a:ext cx="1107756" cy="803829"/>
          </a:xfrm>
          <a:prstGeom prst="roundRect">
            <a:avLst/>
          </a:prstGeom>
          <a:solidFill>
            <a:srgbClr val="EEF5FC"/>
          </a:solidFill>
          <a:ln w="10160">
            <a:solidFill>
              <a:srgbClr val="2F6E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24AED3F-F84A-8D5D-A3EA-C39ED0089F35}"/>
              </a:ext>
            </a:extLst>
          </p:cNvPr>
          <p:cNvSpPr txBox="1"/>
          <p:nvPr/>
        </p:nvSpPr>
        <p:spPr>
          <a:xfrm>
            <a:off x="9638095" y="4732424"/>
            <a:ext cx="838582" cy="149215"/>
          </a:xfrm>
          <a:prstGeom prst="rect">
            <a:avLst/>
          </a:prstGeom>
          <a:noFill/>
        </p:spPr>
        <p:txBody>
          <a:bodyPr wrap="square" lIns="16717" tIns="16717" rIns="16717" bIns="16717" anchor="t">
            <a:spAutoFit/>
          </a:bodyPr>
          <a:lstStyle/>
          <a:p>
            <a:pPr algn="ctr"/>
            <a:r>
              <a:rPr sz="800" b="1" dirty="0">
                <a:solidFill>
                  <a:srgbClr val="2F6EBA"/>
                </a:solidFill>
                <a:latin typeface="+mj-lt"/>
              </a:rPr>
              <a:t>Inspector Review</a:t>
            </a:r>
          </a:p>
        </p:txBody>
      </p:sp>
      <p:sp>
        <p:nvSpPr>
          <p:cNvPr id="17408" name="TextBox 17407">
            <a:extLst>
              <a:ext uri="{FF2B5EF4-FFF2-40B4-BE49-F238E27FC236}">
                <a16:creationId xmlns:a16="http://schemas.microsoft.com/office/drawing/2014/main" id="{124E6956-5972-50F3-E4F7-039F217078F9}"/>
              </a:ext>
            </a:extLst>
          </p:cNvPr>
          <p:cNvSpPr txBox="1"/>
          <p:nvPr/>
        </p:nvSpPr>
        <p:spPr>
          <a:xfrm>
            <a:off x="9595823" y="5205049"/>
            <a:ext cx="923125" cy="266317"/>
          </a:xfrm>
          <a:prstGeom prst="rect">
            <a:avLst/>
          </a:prstGeom>
          <a:noFill/>
        </p:spPr>
        <p:txBody>
          <a:bodyPr wrap="square" lIns="16717" tIns="16717" rIns="16717" bIns="16717" anchor="t">
            <a:spAutoFit/>
          </a:bodyPr>
          <a:lstStyle/>
          <a:p>
            <a:pPr algn="ctr"/>
            <a:r>
              <a:rPr sz="800" b="1" dirty="0">
                <a:solidFill>
                  <a:srgbClr val="111111"/>
                </a:solidFill>
                <a:latin typeface="+mj-lt"/>
              </a:rPr>
              <a:t>Verify Evidence
&amp; Confirm</a:t>
            </a:r>
          </a:p>
        </p:txBody>
      </p:sp>
      <p:cxnSp>
        <p:nvCxnSpPr>
          <p:cNvPr id="17411" name="Connector 60">
            <a:extLst>
              <a:ext uri="{FF2B5EF4-FFF2-40B4-BE49-F238E27FC236}">
                <a16:creationId xmlns:a16="http://schemas.microsoft.com/office/drawing/2014/main" id="{79AF414E-8136-4892-1745-0E18182DF72C}"/>
              </a:ext>
            </a:extLst>
          </p:cNvPr>
          <p:cNvCxnSpPr>
            <a:cxnSpLocks/>
          </p:cNvCxnSpPr>
          <p:nvPr/>
        </p:nvCxnSpPr>
        <p:spPr>
          <a:xfrm>
            <a:off x="7949824" y="5064254"/>
            <a:ext cx="1720" cy="0"/>
          </a:xfrm>
          <a:prstGeom prst="line">
            <a:avLst/>
          </a:prstGeom>
          <a:ln w="1143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3" name="Rounded Rectangle 62">
            <a:extLst>
              <a:ext uri="{FF2B5EF4-FFF2-40B4-BE49-F238E27FC236}">
                <a16:creationId xmlns:a16="http://schemas.microsoft.com/office/drawing/2014/main" id="{84CCA296-F109-9625-45BD-0677EA490E13}"/>
              </a:ext>
            </a:extLst>
          </p:cNvPr>
          <p:cNvSpPr/>
          <p:nvPr/>
        </p:nvSpPr>
        <p:spPr>
          <a:xfrm>
            <a:off x="5284236" y="5726760"/>
            <a:ext cx="3748592" cy="81261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0160">
            <a:solidFill>
              <a:srgbClr val="8A5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00" dirty="0"/>
          </a:p>
        </p:txBody>
      </p:sp>
      <p:sp>
        <p:nvSpPr>
          <p:cNvPr id="17414" name="TextBox 17413">
            <a:extLst>
              <a:ext uri="{FF2B5EF4-FFF2-40B4-BE49-F238E27FC236}">
                <a16:creationId xmlns:a16="http://schemas.microsoft.com/office/drawing/2014/main" id="{64438CE8-DF8A-DE5D-015E-ABCAF0898727}"/>
              </a:ext>
            </a:extLst>
          </p:cNvPr>
          <p:cNvSpPr txBox="1"/>
          <p:nvPr/>
        </p:nvSpPr>
        <p:spPr>
          <a:xfrm>
            <a:off x="5447501" y="5754644"/>
            <a:ext cx="850094" cy="149215"/>
          </a:xfrm>
          <a:prstGeom prst="rect">
            <a:avLst/>
          </a:prstGeom>
          <a:noFill/>
        </p:spPr>
        <p:txBody>
          <a:bodyPr wrap="square" lIns="16717" tIns="16717" rIns="16717" bIns="16717" anchor="t">
            <a:spAutoFit/>
          </a:bodyPr>
          <a:lstStyle/>
          <a:p>
            <a:pPr algn="ctr"/>
            <a:r>
              <a:rPr sz="800" b="1" dirty="0">
                <a:solidFill>
                  <a:srgbClr val="17356E"/>
                </a:solidFill>
                <a:latin typeface="+mj-lt"/>
              </a:rPr>
              <a:t>Evidence Storage</a:t>
            </a:r>
          </a:p>
        </p:txBody>
      </p:sp>
      <p:sp>
        <p:nvSpPr>
          <p:cNvPr id="17416" name="TextBox 17415">
            <a:extLst>
              <a:ext uri="{FF2B5EF4-FFF2-40B4-BE49-F238E27FC236}">
                <a16:creationId xmlns:a16="http://schemas.microsoft.com/office/drawing/2014/main" id="{62F45060-B517-ED76-596B-D428DAE68D8A}"/>
              </a:ext>
            </a:extLst>
          </p:cNvPr>
          <p:cNvSpPr txBox="1"/>
          <p:nvPr/>
        </p:nvSpPr>
        <p:spPr>
          <a:xfrm>
            <a:off x="5433018" y="6148930"/>
            <a:ext cx="810391" cy="237042"/>
          </a:xfrm>
          <a:prstGeom prst="rect">
            <a:avLst/>
          </a:prstGeom>
          <a:noFill/>
        </p:spPr>
        <p:txBody>
          <a:bodyPr wrap="square" lIns="16717" tIns="16717" rIns="16717" bIns="16717" anchor="t">
            <a:spAutoFit/>
          </a:bodyPr>
          <a:lstStyle/>
          <a:p>
            <a:pPr algn="ctr"/>
            <a:r>
              <a:rPr sz="700" b="1" dirty="0">
                <a:solidFill>
                  <a:srgbClr val="111111"/>
                </a:solidFill>
                <a:latin typeface="+mj-lt"/>
              </a:rPr>
              <a:t>Images,, Results
(MinIO / AWS S3)</a:t>
            </a:r>
          </a:p>
        </p:txBody>
      </p:sp>
      <p:sp>
        <p:nvSpPr>
          <p:cNvPr id="17417" name="TextBox 17416">
            <a:extLst>
              <a:ext uri="{FF2B5EF4-FFF2-40B4-BE49-F238E27FC236}">
                <a16:creationId xmlns:a16="http://schemas.microsoft.com/office/drawing/2014/main" id="{2AE202D7-A0B8-8CAE-1573-C3C11DB77F83}"/>
              </a:ext>
            </a:extLst>
          </p:cNvPr>
          <p:cNvSpPr txBox="1"/>
          <p:nvPr/>
        </p:nvSpPr>
        <p:spPr>
          <a:xfrm>
            <a:off x="6365858" y="5731826"/>
            <a:ext cx="724229" cy="266317"/>
          </a:xfrm>
          <a:prstGeom prst="rect">
            <a:avLst/>
          </a:prstGeom>
          <a:noFill/>
        </p:spPr>
        <p:txBody>
          <a:bodyPr wrap="square" lIns="16717" tIns="16717" rIns="16717" bIns="16717" anchor="t">
            <a:spAutoFit/>
          </a:bodyPr>
          <a:lstStyle/>
          <a:p>
            <a:pPr algn="ctr"/>
            <a:r>
              <a:rPr sz="800" b="1" dirty="0">
                <a:solidFill>
                  <a:srgbClr val="17356E"/>
                </a:solidFill>
                <a:latin typeface="+mj-lt"/>
              </a:rPr>
              <a:t>Auto Challan / Notice</a:t>
            </a:r>
          </a:p>
        </p:txBody>
      </p:sp>
      <p:sp>
        <p:nvSpPr>
          <p:cNvPr id="17419" name="TextBox 17418">
            <a:extLst>
              <a:ext uri="{FF2B5EF4-FFF2-40B4-BE49-F238E27FC236}">
                <a16:creationId xmlns:a16="http://schemas.microsoft.com/office/drawing/2014/main" id="{DCF95D82-4FFB-0498-E56F-E632AA8353B5}"/>
              </a:ext>
            </a:extLst>
          </p:cNvPr>
          <p:cNvSpPr txBox="1"/>
          <p:nvPr/>
        </p:nvSpPr>
        <p:spPr>
          <a:xfrm>
            <a:off x="6385065" y="6246413"/>
            <a:ext cx="602082" cy="237042"/>
          </a:xfrm>
          <a:prstGeom prst="rect">
            <a:avLst/>
          </a:prstGeom>
          <a:noFill/>
        </p:spPr>
        <p:txBody>
          <a:bodyPr wrap="square" lIns="16717" tIns="16717" rIns="16717" bIns="16717" anchor="t">
            <a:spAutoFit/>
          </a:bodyPr>
          <a:lstStyle/>
          <a:p>
            <a:pPr algn="ctr"/>
            <a:r>
              <a:rPr sz="700" b="1" dirty="0">
                <a:solidFill>
                  <a:srgbClr val="111111"/>
                </a:solidFill>
                <a:latin typeface="+mj-lt"/>
              </a:rPr>
              <a:t>Generate Draft
 / Notice (PDF)</a:t>
            </a:r>
          </a:p>
        </p:txBody>
      </p:sp>
      <p:sp>
        <p:nvSpPr>
          <p:cNvPr id="17420" name="TextBox 17419">
            <a:extLst>
              <a:ext uri="{FF2B5EF4-FFF2-40B4-BE49-F238E27FC236}">
                <a16:creationId xmlns:a16="http://schemas.microsoft.com/office/drawing/2014/main" id="{216F6F94-0CD8-6472-F51C-5B965472CFFD}"/>
              </a:ext>
            </a:extLst>
          </p:cNvPr>
          <p:cNvSpPr txBox="1"/>
          <p:nvPr/>
        </p:nvSpPr>
        <p:spPr>
          <a:xfrm>
            <a:off x="7250155" y="5760153"/>
            <a:ext cx="659803" cy="149215"/>
          </a:xfrm>
          <a:prstGeom prst="rect">
            <a:avLst/>
          </a:prstGeom>
          <a:noFill/>
        </p:spPr>
        <p:txBody>
          <a:bodyPr wrap="square" lIns="16717" tIns="16717" rIns="16717" bIns="16717" anchor="t">
            <a:spAutoFit/>
          </a:bodyPr>
          <a:lstStyle/>
          <a:p>
            <a:pPr algn="ctr"/>
            <a:r>
              <a:rPr sz="800" b="1" dirty="0">
                <a:solidFill>
                  <a:srgbClr val="17356E"/>
                </a:solidFill>
                <a:latin typeface="+mj-lt"/>
              </a:rPr>
              <a:t>Notifications</a:t>
            </a:r>
          </a:p>
        </p:txBody>
      </p:sp>
      <p:sp>
        <p:nvSpPr>
          <p:cNvPr id="17422" name="TextBox 17421">
            <a:extLst>
              <a:ext uri="{FF2B5EF4-FFF2-40B4-BE49-F238E27FC236}">
                <a16:creationId xmlns:a16="http://schemas.microsoft.com/office/drawing/2014/main" id="{0ADE005E-6855-F549-4428-79195EB1E9C5}"/>
              </a:ext>
            </a:extLst>
          </p:cNvPr>
          <p:cNvSpPr txBox="1"/>
          <p:nvPr/>
        </p:nvSpPr>
        <p:spPr>
          <a:xfrm>
            <a:off x="7264062" y="6246413"/>
            <a:ext cx="619408" cy="266317"/>
          </a:xfrm>
          <a:prstGeom prst="rect">
            <a:avLst/>
          </a:prstGeom>
          <a:noFill/>
        </p:spPr>
        <p:txBody>
          <a:bodyPr wrap="square" lIns="16717" tIns="16717" rIns="16717" bIns="16717" anchor="t">
            <a:spAutoFit/>
          </a:bodyPr>
          <a:lstStyle/>
          <a:p>
            <a:pPr algn="ctr"/>
            <a:r>
              <a:rPr sz="800" b="1" dirty="0">
                <a:solidFill>
                  <a:srgbClr val="111111"/>
                </a:solidFill>
                <a:latin typeface="+mj-lt"/>
              </a:rPr>
              <a:t>SMS / Email
Alerts</a:t>
            </a:r>
          </a:p>
        </p:txBody>
      </p:sp>
      <p:sp>
        <p:nvSpPr>
          <p:cNvPr id="17423" name="TextBox 17422">
            <a:extLst>
              <a:ext uri="{FF2B5EF4-FFF2-40B4-BE49-F238E27FC236}">
                <a16:creationId xmlns:a16="http://schemas.microsoft.com/office/drawing/2014/main" id="{63390BD4-8658-1005-ED76-EDD8351BA791}"/>
              </a:ext>
            </a:extLst>
          </p:cNvPr>
          <p:cNvSpPr txBox="1"/>
          <p:nvPr/>
        </p:nvSpPr>
        <p:spPr>
          <a:xfrm>
            <a:off x="8188258" y="5717724"/>
            <a:ext cx="619408" cy="266317"/>
          </a:xfrm>
          <a:prstGeom prst="rect">
            <a:avLst/>
          </a:prstGeom>
          <a:noFill/>
        </p:spPr>
        <p:txBody>
          <a:bodyPr wrap="square" lIns="16717" tIns="16717" rIns="16717" bIns="16717" anchor="t">
            <a:spAutoFit/>
          </a:bodyPr>
          <a:lstStyle/>
          <a:p>
            <a:pPr algn="ctr"/>
            <a:r>
              <a:rPr sz="800" b="1" dirty="0">
                <a:solidFill>
                  <a:srgbClr val="17356E"/>
                </a:solidFill>
                <a:latin typeface="+mj-lt"/>
              </a:rPr>
              <a:t>Geospatial Dashboard</a:t>
            </a:r>
          </a:p>
        </p:txBody>
      </p:sp>
      <p:sp>
        <p:nvSpPr>
          <p:cNvPr id="17425" name="TextBox 17424">
            <a:extLst>
              <a:ext uri="{FF2B5EF4-FFF2-40B4-BE49-F238E27FC236}">
                <a16:creationId xmlns:a16="http://schemas.microsoft.com/office/drawing/2014/main" id="{BCB5181A-37FC-8803-3D21-AD4BA82BD0D3}"/>
              </a:ext>
            </a:extLst>
          </p:cNvPr>
          <p:cNvSpPr txBox="1"/>
          <p:nvPr/>
        </p:nvSpPr>
        <p:spPr>
          <a:xfrm>
            <a:off x="8138146" y="6267451"/>
            <a:ext cx="827801" cy="266317"/>
          </a:xfrm>
          <a:prstGeom prst="rect">
            <a:avLst/>
          </a:prstGeom>
          <a:noFill/>
        </p:spPr>
        <p:txBody>
          <a:bodyPr wrap="square" lIns="16717" tIns="16717" rIns="16717" bIns="16717" anchor="t">
            <a:spAutoFit/>
          </a:bodyPr>
          <a:lstStyle/>
          <a:p>
            <a:pPr algn="ctr"/>
            <a:r>
              <a:rPr sz="800" b="1" dirty="0">
                <a:solidFill>
                  <a:srgbClr val="111111"/>
                </a:solidFill>
                <a:latin typeface="+mj-lt"/>
              </a:rPr>
              <a:t>Maps, Heatmaps,
Analytics</a:t>
            </a:r>
          </a:p>
        </p:txBody>
      </p:sp>
      <p:sp>
        <p:nvSpPr>
          <p:cNvPr id="17426" name="Rounded Rectangle 75">
            <a:extLst>
              <a:ext uri="{FF2B5EF4-FFF2-40B4-BE49-F238E27FC236}">
                <a16:creationId xmlns:a16="http://schemas.microsoft.com/office/drawing/2014/main" id="{768D0575-26C6-C952-2316-64E6999469A4}"/>
              </a:ext>
            </a:extLst>
          </p:cNvPr>
          <p:cNvSpPr/>
          <p:nvPr/>
        </p:nvSpPr>
        <p:spPr>
          <a:xfrm>
            <a:off x="9287504" y="5741918"/>
            <a:ext cx="1309087" cy="78898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0160">
            <a:solidFill>
              <a:srgbClr val="2A7C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00" dirty="0"/>
          </a:p>
        </p:txBody>
      </p:sp>
      <p:sp>
        <p:nvSpPr>
          <p:cNvPr id="17427" name="TextBox 17426">
            <a:extLst>
              <a:ext uri="{FF2B5EF4-FFF2-40B4-BE49-F238E27FC236}">
                <a16:creationId xmlns:a16="http://schemas.microsoft.com/office/drawing/2014/main" id="{91CBC18F-E65F-54DB-8A77-CBD2FD0E7816}"/>
              </a:ext>
            </a:extLst>
          </p:cNvPr>
          <p:cNvSpPr txBox="1"/>
          <p:nvPr/>
        </p:nvSpPr>
        <p:spPr>
          <a:xfrm>
            <a:off x="9390477" y="5737915"/>
            <a:ext cx="1275011" cy="149215"/>
          </a:xfrm>
          <a:prstGeom prst="rect">
            <a:avLst/>
          </a:prstGeom>
          <a:noFill/>
        </p:spPr>
        <p:txBody>
          <a:bodyPr wrap="square" lIns="16717" tIns="16717" rIns="16717" bIns="16717" anchor="t">
            <a:spAutoFit/>
          </a:bodyPr>
          <a:lstStyle/>
          <a:p>
            <a:pPr algn="ctr"/>
            <a:r>
              <a:rPr sz="800" b="1" dirty="0">
                <a:solidFill>
                  <a:srgbClr val="2A7C82"/>
                </a:solidFill>
                <a:latin typeface="+mj-lt"/>
              </a:rPr>
              <a:t>Audit &amp; Logs</a:t>
            </a:r>
          </a:p>
        </p:txBody>
      </p:sp>
      <p:sp>
        <p:nvSpPr>
          <p:cNvPr id="17429" name="TextBox 17428">
            <a:extLst>
              <a:ext uri="{FF2B5EF4-FFF2-40B4-BE49-F238E27FC236}">
                <a16:creationId xmlns:a16="http://schemas.microsoft.com/office/drawing/2014/main" id="{D66878E1-0B82-E522-885A-D43F0411CB81}"/>
              </a:ext>
            </a:extLst>
          </p:cNvPr>
          <p:cNvSpPr txBox="1"/>
          <p:nvPr/>
        </p:nvSpPr>
        <p:spPr>
          <a:xfrm>
            <a:off x="9396491" y="6210540"/>
            <a:ext cx="1262983" cy="266317"/>
          </a:xfrm>
          <a:prstGeom prst="rect">
            <a:avLst/>
          </a:prstGeom>
          <a:noFill/>
        </p:spPr>
        <p:txBody>
          <a:bodyPr wrap="square" lIns="16717" tIns="16717" rIns="16717" bIns="16717" anchor="t">
            <a:spAutoFit/>
          </a:bodyPr>
          <a:lstStyle/>
          <a:p>
            <a:pPr algn="ctr"/>
            <a:r>
              <a:rPr sz="800" b="1" dirty="0">
                <a:solidFill>
                  <a:srgbClr val="111111"/>
                </a:solidFill>
                <a:latin typeface="+mj-lt"/>
              </a:rPr>
              <a:t>All Actions, Versions,
Audit Trail</a:t>
            </a:r>
          </a:p>
        </p:txBody>
      </p:sp>
      <p:pic>
        <p:nvPicPr>
          <p:cNvPr id="17445" name="Picture 17444">
            <a:extLst>
              <a:ext uri="{FF2B5EF4-FFF2-40B4-BE49-F238E27FC236}">
                <a16:creationId xmlns:a16="http://schemas.microsoft.com/office/drawing/2014/main" id="{840AD03E-4765-9923-DA28-1B6487F7FE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4979" y="3779191"/>
            <a:ext cx="313487" cy="277179"/>
          </a:xfrm>
          <a:prstGeom prst="rect">
            <a:avLst/>
          </a:prstGeom>
        </p:spPr>
      </p:pic>
      <p:pic>
        <p:nvPicPr>
          <p:cNvPr id="17449" name="Picture 17448">
            <a:extLst>
              <a:ext uri="{FF2B5EF4-FFF2-40B4-BE49-F238E27FC236}">
                <a16:creationId xmlns:a16="http://schemas.microsoft.com/office/drawing/2014/main" id="{823B5977-D987-47D9-BC92-F6641D585A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4127" y="3789489"/>
            <a:ext cx="292391" cy="258527"/>
          </a:xfrm>
          <a:prstGeom prst="rect">
            <a:avLst/>
          </a:prstGeom>
        </p:spPr>
      </p:pic>
      <p:pic>
        <p:nvPicPr>
          <p:cNvPr id="17451" name="Picture 17450">
            <a:extLst>
              <a:ext uri="{FF2B5EF4-FFF2-40B4-BE49-F238E27FC236}">
                <a16:creationId xmlns:a16="http://schemas.microsoft.com/office/drawing/2014/main" id="{871CB578-B7E5-E458-BC35-1F0FF7A152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75636" y="3789590"/>
            <a:ext cx="309112" cy="273312"/>
          </a:xfrm>
          <a:prstGeom prst="rect">
            <a:avLst/>
          </a:prstGeom>
        </p:spPr>
      </p:pic>
      <p:pic>
        <p:nvPicPr>
          <p:cNvPr id="17453" name="Picture 17452">
            <a:extLst>
              <a:ext uri="{FF2B5EF4-FFF2-40B4-BE49-F238E27FC236}">
                <a16:creationId xmlns:a16="http://schemas.microsoft.com/office/drawing/2014/main" id="{1EA5A7C7-A3F5-5321-FF34-62D0F6C2FB9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13343" y="3753856"/>
            <a:ext cx="349527" cy="309045"/>
          </a:xfrm>
          <a:prstGeom prst="rect">
            <a:avLst/>
          </a:prstGeom>
        </p:spPr>
      </p:pic>
      <p:pic>
        <p:nvPicPr>
          <p:cNvPr id="17455" name="Picture 17454">
            <a:extLst>
              <a:ext uri="{FF2B5EF4-FFF2-40B4-BE49-F238E27FC236}">
                <a16:creationId xmlns:a16="http://schemas.microsoft.com/office/drawing/2014/main" id="{3E9F0A1D-F74A-09B2-34D1-052AD633CB7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41800" y="3787320"/>
            <a:ext cx="293801" cy="259773"/>
          </a:xfrm>
          <a:prstGeom prst="rect">
            <a:avLst/>
          </a:prstGeom>
        </p:spPr>
      </p:pic>
      <p:sp>
        <p:nvSpPr>
          <p:cNvPr id="17463" name="TextBox 17462">
            <a:extLst>
              <a:ext uri="{FF2B5EF4-FFF2-40B4-BE49-F238E27FC236}">
                <a16:creationId xmlns:a16="http://schemas.microsoft.com/office/drawing/2014/main" id="{2D59E9BB-C5E0-C6E3-C49C-6232A8FA492D}"/>
              </a:ext>
            </a:extLst>
          </p:cNvPr>
          <p:cNvSpPr txBox="1"/>
          <p:nvPr/>
        </p:nvSpPr>
        <p:spPr>
          <a:xfrm>
            <a:off x="5081534" y="4902689"/>
            <a:ext cx="509414" cy="2049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b="1" dirty="0">
                <a:solidFill>
                  <a:schemeClr val="tx1"/>
                </a:solidFill>
              </a:rPr>
              <a:t>OCR</a:t>
            </a:r>
            <a:endParaRPr lang="en-IN" sz="800" dirty="0"/>
          </a:p>
        </p:txBody>
      </p:sp>
      <p:pic>
        <p:nvPicPr>
          <p:cNvPr id="17465" name="Picture 17464">
            <a:extLst>
              <a:ext uri="{FF2B5EF4-FFF2-40B4-BE49-F238E27FC236}">
                <a16:creationId xmlns:a16="http://schemas.microsoft.com/office/drawing/2014/main" id="{E43F64BC-A791-E58E-18FD-4C8540E87E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35872" y="4903679"/>
            <a:ext cx="298860" cy="264247"/>
          </a:xfrm>
          <a:prstGeom prst="rect">
            <a:avLst/>
          </a:prstGeom>
        </p:spPr>
      </p:pic>
      <p:cxnSp>
        <p:nvCxnSpPr>
          <p:cNvPr id="17467" name="Straight Arrow Connector 17466">
            <a:extLst>
              <a:ext uri="{FF2B5EF4-FFF2-40B4-BE49-F238E27FC236}">
                <a16:creationId xmlns:a16="http://schemas.microsoft.com/office/drawing/2014/main" id="{FF747479-7BB8-4D86-D98D-FCF76CADF0DF}"/>
              </a:ext>
            </a:extLst>
          </p:cNvPr>
          <p:cNvCxnSpPr>
            <a:cxnSpLocks/>
          </p:cNvCxnSpPr>
          <p:nvPr/>
        </p:nvCxnSpPr>
        <p:spPr>
          <a:xfrm>
            <a:off x="5493361" y="5035836"/>
            <a:ext cx="21041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480" name="Straight Arrow Connector 17479">
            <a:extLst>
              <a:ext uri="{FF2B5EF4-FFF2-40B4-BE49-F238E27FC236}">
                <a16:creationId xmlns:a16="http://schemas.microsoft.com/office/drawing/2014/main" id="{9E079718-4646-0AA9-B07F-A1C3CA400B20}"/>
              </a:ext>
            </a:extLst>
          </p:cNvPr>
          <p:cNvCxnSpPr>
            <a:cxnSpLocks/>
            <a:stCxn id="23" idx="3"/>
            <a:endCxn id="28" idx="1"/>
          </p:cNvCxnSpPr>
          <p:nvPr/>
        </p:nvCxnSpPr>
        <p:spPr>
          <a:xfrm>
            <a:off x="5916737" y="3919194"/>
            <a:ext cx="399691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482" name="Straight Arrow Connector 17481">
            <a:extLst>
              <a:ext uri="{FF2B5EF4-FFF2-40B4-BE49-F238E27FC236}">
                <a16:creationId xmlns:a16="http://schemas.microsoft.com/office/drawing/2014/main" id="{26832E36-3E94-344F-AA87-411B951F4EFC}"/>
              </a:ext>
            </a:extLst>
          </p:cNvPr>
          <p:cNvCxnSpPr>
            <a:cxnSpLocks/>
            <a:stCxn id="28" idx="3"/>
            <a:endCxn id="33" idx="1"/>
          </p:cNvCxnSpPr>
          <p:nvPr/>
        </p:nvCxnSpPr>
        <p:spPr>
          <a:xfrm>
            <a:off x="6729084" y="3919194"/>
            <a:ext cx="429778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484" name="Straight Arrow Connector 17483">
            <a:extLst>
              <a:ext uri="{FF2B5EF4-FFF2-40B4-BE49-F238E27FC236}">
                <a16:creationId xmlns:a16="http://schemas.microsoft.com/office/drawing/2014/main" id="{BDB6C91F-DFD3-3757-189D-980FD9EDE9AA}"/>
              </a:ext>
            </a:extLst>
          </p:cNvPr>
          <p:cNvCxnSpPr>
            <a:stCxn id="33" idx="3"/>
            <a:endCxn id="38" idx="1"/>
          </p:cNvCxnSpPr>
          <p:nvPr/>
        </p:nvCxnSpPr>
        <p:spPr>
          <a:xfrm>
            <a:off x="7571519" y="3919194"/>
            <a:ext cx="452345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486" name="Straight Arrow Connector 17485">
            <a:extLst>
              <a:ext uri="{FF2B5EF4-FFF2-40B4-BE49-F238E27FC236}">
                <a16:creationId xmlns:a16="http://schemas.microsoft.com/office/drawing/2014/main" id="{78CCFD31-BC65-448A-428E-8E849396F6E0}"/>
              </a:ext>
            </a:extLst>
          </p:cNvPr>
          <p:cNvCxnSpPr>
            <a:stCxn id="38" idx="3"/>
            <a:endCxn id="43" idx="1"/>
          </p:cNvCxnSpPr>
          <p:nvPr/>
        </p:nvCxnSpPr>
        <p:spPr>
          <a:xfrm>
            <a:off x="8436521" y="3919194"/>
            <a:ext cx="459866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488" name="Straight Arrow Connector 17487">
            <a:extLst>
              <a:ext uri="{FF2B5EF4-FFF2-40B4-BE49-F238E27FC236}">
                <a16:creationId xmlns:a16="http://schemas.microsoft.com/office/drawing/2014/main" id="{560B358A-0014-1FC6-146D-B3F88E4C4A19}"/>
              </a:ext>
            </a:extLst>
          </p:cNvPr>
          <p:cNvCxnSpPr>
            <a:stCxn id="43" idx="3"/>
            <a:endCxn id="17455" idx="1"/>
          </p:cNvCxnSpPr>
          <p:nvPr/>
        </p:nvCxnSpPr>
        <p:spPr>
          <a:xfrm flipV="1">
            <a:off x="9309044" y="3917207"/>
            <a:ext cx="432756" cy="1987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511" name="Straight Connector 17510">
            <a:extLst>
              <a:ext uri="{FF2B5EF4-FFF2-40B4-BE49-F238E27FC236}">
                <a16:creationId xmlns:a16="http://schemas.microsoft.com/office/drawing/2014/main" id="{DAB153AD-0E83-9F8C-4504-518170942813}"/>
              </a:ext>
            </a:extLst>
          </p:cNvPr>
          <p:cNvCxnSpPr>
            <a:cxnSpLocks/>
          </p:cNvCxnSpPr>
          <p:nvPr/>
        </p:nvCxnSpPr>
        <p:spPr>
          <a:xfrm>
            <a:off x="6215981" y="5729273"/>
            <a:ext cx="0" cy="737361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513" name="Straight Connector 17512">
            <a:extLst>
              <a:ext uri="{FF2B5EF4-FFF2-40B4-BE49-F238E27FC236}">
                <a16:creationId xmlns:a16="http://schemas.microsoft.com/office/drawing/2014/main" id="{CC155A0A-CD29-71C7-231C-D3831D9B9B95}"/>
              </a:ext>
            </a:extLst>
          </p:cNvPr>
          <p:cNvCxnSpPr>
            <a:cxnSpLocks/>
          </p:cNvCxnSpPr>
          <p:nvPr/>
        </p:nvCxnSpPr>
        <p:spPr>
          <a:xfrm>
            <a:off x="7958330" y="5739606"/>
            <a:ext cx="0" cy="737361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514" name="Straight Connector 17513">
            <a:extLst>
              <a:ext uri="{FF2B5EF4-FFF2-40B4-BE49-F238E27FC236}">
                <a16:creationId xmlns:a16="http://schemas.microsoft.com/office/drawing/2014/main" id="{5E6BEDF1-B30D-90CE-0879-D8D11F9C4A0B}"/>
              </a:ext>
            </a:extLst>
          </p:cNvPr>
          <p:cNvCxnSpPr>
            <a:cxnSpLocks/>
          </p:cNvCxnSpPr>
          <p:nvPr/>
        </p:nvCxnSpPr>
        <p:spPr>
          <a:xfrm>
            <a:off x="7145508" y="5729273"/>
            <a:ext cx="0" cy="737361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516" name="Connector: Elbow 17515">
            <a:extLst>
              <a:ext uri="{FF2B5EF4-FFF2-40B4-BE49-F238E27FC236}">
                <a16:creationId xmlns:a16="http://schemas.microsoft.com/office/drawing/2014/main" id="{47B72937-3A1D-4C91-0BB7-037D3B0E402E}"/>
              </a:ext>
            </a:extLst>
          </p:cNvPr>
          <p:cNvCxnSpPr>
            <a:cxnSpLocks/>
            <a:stCxn id="22" idx="3"/>
            <a:endCxn id="53" idx="0"/>
          </p:cNvCxnSpPr>
          <p:nvPr/>
        </p:nvCxnSpPr>
        <p:spPr>
          <a:xfrm flipH="1">
            <a:off x="5675620" y="4103545"/>
            <a:ext cx="4563323" cy="590277"/>
          </a:xfrm>
          <a:prstGeom prst="bentConnector4">
            <a:avLst>
              <a:gd name="adj1" fmla="val -5233"/>
              <a:gd name="adj2" fmla="val 75537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519" name="Straight Arrow Connector 17518">
            <a:extLst>
              <a:ext uri="{FF2B5EF4-FFF2-40B4-BE49-F238E27FC236}">
                <a16:creationId xmlns:a16="http://schemas.microsoft.com/office/drawing/2014/main" id="{F9302311-095C-6BF6-6DF8-20402847141E}"/>
              </a:ext>
            </a:extLst>
          </p:cNvPr>
          <p:cNvCxnSpPr>
            <a:cxnSpLocks/>
            <a:stCxn id="53" idx="3"/>
            <a:endCxn id="56" idx="1"/>
          </p:cNvCxnSpPr>
          <p:nvPr/>
        </p:nvCxnSpPr>
        <p:spPr>
          <a:xfrm flipV="1">
            <a:off x="6260385" y="5100512"/>
            <a:ext cx="262811" cy="4325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521" name="Straight Arrow Connector 17520">
            <a:extLst>
              <a:ext uri="{FF2B5EF4-FFF2-40B4-BE49-F238E27FC236}">
                <a16:creationId xmlns:a16="http://schemas.microsoft.com/office/drawing/2014/main" id="{9F3AF07C-AAAD-49DD-0EF3-399B75E70284}"/>
              </a:ext>
            </a:extLst>
          </p:cNvPr>
          <p:cNvCxnSpPr>
            <a:cxnSpLocks/>
            <a:stCxn id="56" idx="3"/>
            <a:endCxn id="59" idx="1"/>
          </p:cNvCxnSpPr>
          <p:nvPr/>
        </p:nvCxnSpPr>
        <p:spPr>
          <a:xfrm>
            <a:off x="7686393" y="5100512"/>
            <a:ext cx="280195" cy="3039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522" name="Straight Arrow Connector 17521">
            <a:extLst>
              <a:ext uri="{FF2B5EF4-FFF2-40B4-BE49-F238E27FC236}">
                <a16:creationId xmlns:a16="http://schemas.microsoft.com/office/drawing/2014/main" id="{3499D92E-E214-B6BD-B72A-1F4BCB4FB1C0}"/>
              </a:ext>
            </a:extLst>
          </p:cNvPr>
          <p:cNvCxnSpPr>
            <a:cxnSpLocks/>
            <a:stCxn id="59" idx="3"/>
            <a:endCxn id="62" idx="1"/>
          </p:cNvCxnSpPr>
          <p:nvPr/>
        </p:nvCxnSpPr>
        <p:spPr>
          <a:xfrm>
            <a:off x="9142959" y="5103551"/>
            <a:ext cx="333329" cy="10387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543" name="Straight Arrow Connector 17542">
            <a:extLst>
              <a:ext uri="{FF2B5EF4-FFF2-40B4-BE49-F238E27FC236}">
                <a16:creationId xmlns:a16="http://schemas.microsoft.com/office/drawing/2014/main" id="{BD018624-7F1A-9560-3053-10988A9981D2}"/>
              </a:ext>
            </a:extLst>
          </p:cNvPr>
          <p:cNvCxnSpPr>
            <a:cxnSpLocks/>
          </p:cNvCxnSpPr>
          <p:nvPr/>
        </p:nvCxnSpPr>
        <p:spPr>
          <a:xfrm>
            <a:off x="7104794" y="5502888"/>
            <a:ext cx="0" cy="144109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587" name="Straight Connector 17586">
            <a:extLst>
              <a:ext uri="{FF2B5EF4-FFF2-40B4-BE49-F238E27FC236}">
                <a16:creationId xmlns:a16="http://schemas.microsoft.com/office/drawing/2014/main" id="{C64141C5-37EF-11C0-1F87-3164B2E60B53}"/>
              </a:ext>
            </a:extLst>
          </p:cNvPr>
          <p:cNvCxnSpPr>
            <a:cxnSpLocks/>
            <a:stCxn id="62" idx="2"/>
          </p:cNvCxnSpPr>
          <p:nvPr/>
        </p:nvCxnSpPr>
        <p:spPr>
          <a:xfrm>
            <a:off x="10030166" y="5515852"/>
            <a:ext cx="0" cy="13376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4F7CDA71-D1B7-FEF9-ADA7-43E80E6B344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15943" y="4881639"/>
            <a:ext cx="381011" cy="33688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3DC7ED2-F11D-6078-16D7-AFA603129B7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56027" y="4858630"/>
            <a:ext cx="425775" cy="37646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9A3B88A-F889-EEA9-FBAE-730D5DFF420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934634" y="4880435"/>
            <a:ext cx="320176" cy="283093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FDB45B19-AF5C-F75D-259D-83BD6FDBA4E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87003" y="5956011"/>
            <a:ext cx="436379" cy="385838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5A2CD175-1BE3-250C-6834-5068D3E74F7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787876" y="5839083"/>
            <a:ext cx="451067" cy="398825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0918FF6C-6B07-69EE-4C6B-3F9F1F68735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flipH="1">
            <a:off x="7367482" y="5915639"/>
            <a:ext cx="384541" cy="340004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7DADD837-4094-8299-CA50-53864013599C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20846" y="5992264"/>
            <a:ext cx="309644" cy="273781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4EE7932E-B5C2-C71B-B478-E2E247478B1B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634952" y="5874340"/>
            <a:ext cx="380239" cy="336201"/>
          </a:xfrm>
          <a:prstGeom prst="rect">
            <a:avLst/>
          </a:prstGeom>
        </p:spPr>
      </p:pic>
      <p:sp>
        <p:nvSpPr>
          <p:cNvPr id="17517" name="Rounded Rectangle 56">
            <a:extLst>
              <a:ext uri="{FF2B5EF4-FFF2-40B4-BE49-F238E27FC236}">
                <a16:creationId xmlns:a16="http://schemas.microsoft.com/office/drawing/2014/main" id="{DE956CE3-453D-2716-1A65-993E918A96B1}"/>
              </a:ext>
            </a:extLst>
          </p:cNvPr>
          <p:cNvSpPr/>
          <p:nvPr/>
        </p:nvSpPr>
        <p:spPr>
          <a:xfrm>
            <a:off x="10925126" y="3963246"/>
            <a:ext cx="924877" cy="2480733"/>
          </a:xfrm>
          <a:prstGeom prst="roundRect">
            <a:avLst/>
          </a:prstGeom>
          <a:solidFill>
            <a:srgbClr val="EEF5FC"/>
          </a:solidFill>
          <a:ln w="10160">
            <a:solidFill>
              <a:srgbClr val="2F6E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00" dirty="0"/>
          </a:p>
        </p:txBody>
      </p:sp>
      <p:cxnSp>
        <p:nvCxnSpPr>
          <p:cNvPr id="17520" name="Straight Connector 17519">
            <a:extLst>
              <a:ext uri="{FF2B5EF4-FFF2-40B4-BE49-F238E27FC236}">
                <a16:creationId xmlns:a16="http://schemas.microsoft.com/office/drawing/2014/main" id="{B67225DB-A6C3-3C0B-692C-A51AB98670E1}"/>
              </a:ext>
            </a:extLst>
          </p:cNvPr>
          <p:cNvCxnSpPr>
            <a:cxnSpLocks/>
            <a:stCxn id="17517" idx="1"/>
          </p:cNvCxnSpPr>
          <p:nvPr/>
        </p:nvCxnSpPr>
        <p:spPr>
          <a:xfrm flipH="1" flipV="1">
            <a:off x="10808008" y="5201411"/>
            <a:ext cx="117118" cy="2202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531" name="Straight Connector 17530">
            <a:extLst>
              <a:ext uri="{FF2B5EF4-FFF2-40B4-BE49-F238E27FC236}">
                <a16:creationId xmlns:a16="http://schemas.microsoft.com/office/drawing/2014/main" id="{D9F0D221-1E56-FEA0-027F-A2C64C5EF444}"/>
              </a:ext>
            </a:extLst>
          </p:cNvPr>
          <p:cNvCxnSpPr>
            <a:cxnSpLocks/>
          </p:cNvCxnSpPr>
          <p:nvPr/>
        </p:nvCxnSpPr>
        <p:spPr>
          <a:xfrm>
            <a:off x="10784023" y="3764279"/>
            <a:ext cx="47970" cy="2777067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538" name="Straight Arrow Connector 17537">
            <a:extLst>
              <a:ext uri="{FF2B5EF4-FFF2-40B4-BE49-F238E27FC236}">
                <a16:creationId xmlns:a16="http://schemas.microsoft.com/office/drawing/2014/main" id="{0F8DECF7-04AD-1ADC-9D8C-D240C182C241}"/>
              </a:ext>
            </a:extLst>
          </p:cNvPr>
          <p:cNvCxnSpPr>
            <a:cxnSpLocks/>
          </p:cNvCxnSpPr>
          <p:nvPr/>
        </p:nvCxnSpPr>
        <p:spPr>
          <a:xfrm flipH="1">
            <a:off x="10621743" y="6520179"/>
            <a:ext cx="210250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7545" name="Picture 17544">
            <a:extLst>
              <a:ext uri="{FF2B5EF4-FFF2-40B4-BE49-F238E27FC236}">
                <a16:creationId xmlns:a16="http://schemas.microsoft.com/office/drawing/2014/main" id="{733A9581-9855-CB09-ED48-754721D133AD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ackgroundRemoval t="10000" b="90000" l="8932" r="89978">
                        <a14:foregroundMark x1="8932" y1="42903" x2="8932" y2="42903"/>
                        <a14:foregroundMark x1="10022" y1="41613" x2="10022" y2="41613"/>
                        <a14:foregroundMark x1="13508" y1="43226" x2="13508" y2="43226"/>
                        <a14:foregroundMark x1="26362" y1="43548" x2="26362" y2="43548"/>
                        <a14:foregroundMark x1="37255" y1="42903" x2="37255" y2="42903"/>
                        <a14:foregroundMark x1="46405" y1="45161" x2="46405" y2="45161"/>
                        <a14:foregroundMark x1="57952" y1="44516" x2="57952" y2="44516"/>
                        <a14:foregroundMark x1="68627" y1="44516" x2="68627" y2="44516"/>
                        <a14:foregroundMark x1="82789" y1="41613" x2="82789" y2="41613"/>
                        <a14:foregroundMark x1="78214" y1="66452" x2="78214" y2="66452"/>
                        <a14:foregroundMark x1="61874" y1="64516" x2="61874" y2="64516"/>
                        <a14:foregroundMark x1="79303" y1="67419" x2="79303" y2="67419"/>
                        <a14:foregroundMark x1="71024" y1="67742" x2="71024" y2="67742"/>
                        <a14:foregroundMark x1="68845" y1="69355" x2="68845" y2="69355"/>
                        <a14:foregroundMark x1="62092" y1="64194" x2="62092" y2="64194"/>
                        <a14:foregroundMark x1="56863" y1="65161" x2="56863" y2="65161"/>
                        <a14:foregroundMark x1="53813" y1="64839" x2="53813" y2="64839"/>
                        <a14:foregroundMark x1="57298" y1="64194" x2="57298" y2="64194"/>
                        <a14:foregroundMark x1="50109" y1="64839" x2="50109" y2="64839"/>
                        <a14:foregroundMark x1="43355" y1="64839" x2="43355" y2="64839"/>
                        <a14:foregroundMark x1="46187" y1="64194" x2="46187" y2="64194"/>
                        <a14:foregroundMark x1="46623" y1="64194" x2="46623" y2="64194"/>
                        <a14:foregroundMark x1="39434" y1="64194" x2="39434" y2="64194"/>
                        <a14:foregroundMark x1="35948" y1="64839" x2="35948" y2="64839"/>
                        <a14:foregroundMark x1="34423" y1="64839" x2="34423" y2="64839"/>
                        <a14:foregroundMark x1="38780" y1="64839" x2="38780" y2="64839"/>
                        <a14:foregroundMark x1="34205" y1="67419" x2="34205" y2="67419"/>
                        <a14:foregroundMark x1="35076" y1="28065" x2="35076" y2="28065"/>
                        <a14:foregroundMark x1="38344" y1="32903" x2="38344" y2="32903"/>
                        <a14:foregroundMark x1="35076" y1="33226" x2="35076" y2="33226"/>
                        <a14:foregroundMark x1="34641" y1="36774" x2="34641" y2="36774"/>
                        <a14:foregroundMark x1="43355" y1="34194" x2="43355" y2="34194"/>
                        <a14:foregroundMark x1="46623" y1="28710" x2="46623" y2="28710"/>
                        <a14:foregroundMark x1="43137" y1="36452" x2="43137" y2="36452"/>
                        <a14:foregroundMark x1="52505" y1="31935" x2="52505" y2="31935"/>
                        <a14:foregroundMark x1="52070" y1="27742" x2="52070" y2="27742"/>
                        <a14:foregroundMark x1="53813" y1="25806" x2="53813" y2="25806"/>
                        <a14:foregroundMark x1="54466" y1="25806" x2="54466" y2="25806"/>
                        <a14:foregroundMark x1="49891" y1="25806" x2="49891" y2="25806"/>
                        <a14:foregroundMark x1="56863" y1="31290" x2="56863" y2="31290"/>
                        <a14:foregroundMark x1="59477" y1="31290" x2="59477" y2="31290"/>
                        <a14:foregroundMark x1="62527" y1="26774" x2="62527" y2="26774"/>
                        <a14:foregroundMark x1="64270" y1="26774" x2="64270" y2="26774"/>
                        <a14:foregroundMark x1="60784" y1="35806" x2="60784" y2="35806"/>
                        <a14:foregroundMark x1="70806" y1="30323" x2="70806" y2="30323"/>
                        <a14:foregroundMark x1="69281" y1="35806" x2="69281" y2="35806"/>
                        <a14:foregroundMark x1="79956" y1="27097" x2="79956" y2="27097"/>
                        <a14:foregroundMark x1="77996" y1="33548" x2="77996" y2="33548"/>
                        <a14:foregroundMark x1="81481" y1="30968" x2="81481" y2="30968"/>
                        <a14:foregroundMark x1="83224" y1="36774" x2="83224" y2="36774"/>
                        <a14:foregroundMark x1="84967" y1="34516" x2="84967" y2="34516"/>
                        <a14:foregroundMark x1="84967" y1="33548" x2="84967" y2="33548"/>
                        <a14:foregroundMark x1="85403" y1="29032" x2="85403" y2="2903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93331" y="4161962"/>
            <a:ext cx="876505" cy="591975"/>
          </a:xfrm>
          <a:prstGeom prst="rect">
            <a:avLst/>
          </a:prstGeom>
        </p:spPr>
      </p:pic>
      <p:sp>
        <p:nvSpPr>
          <p:cNvPr id="17551" name="TextBox 17550">
            <a:extLst>
              <a:ext uri="{FF2B5EF4-FFF2-40B4-BE49-F238E27FC236}">
                <a16:creationId xmlns:a16="http://schemas.microsoft.com/office/drawing/2014/main" id="{9F5B1F2B-0DA2-0E55-79A9-7BDBA02DAAC2}"/>
              </a:ext>
            </a:extLst>
          </p:cNvPr>
          <p:cNvSpPr txBox="1"/>
          <p:nvPr/>
        </p:nvSpPr>
        <p:spPr>
          <a:xfrm>
            <a:off x="10670331" y="4625451"/>
            <a:ext cx="135960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000" b="1" dirty="0"/>
              <a:t>Infrastructure </a:t>
            </a:r>
          </a:p>
          <a:p>
            <a:pPr algn="ctr"/>
            <a:r>
              <a:rPr lang="en-IN" sz="1000" b="1" dirty="0"/>
              <a:t>and </a:t>
            </a:r>
          </a:p>
          <a:p>
            <a:pPr algn="ctr"/>
            <a:r>
              <a:rPr lang="en-IN" sz="1000" b="1" dirty="0"/>
              <a:t>Development</a:t>
            </a:r>
          </a:p>
        </p:txBody>
      </p:sp>
      <p:sp>
        <p:nvSpPr>
          <p:cNvPr id="17552" name="TextBox 17551">
            <a:extLst>
              <a:ext uri="{FF2B5EF4-FFF2-40B4-BE49-F238E27FC236}">
                <a16:creationId xmlns:a16="http://schemas.microsoft.com/office/drawing/2014/main" id="{8D65ABCA-FF88-33A2-6A0E-D0E01197E661}"/>
              </a:ext>
            </a:extLst>
          </p:cNvPr>
          <p:cNvSpPr txBox="1"/>
          <p:nvPr/>
        </p:nvSpPr>
        <p:spPr>
          <a:xfrm>
            <a:off x="10874822" y="5334668"/>
            <a:ext cx="995679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/>
              <a:t>This system is deployed on NIC’s indigenous cloud servers </a:t>
            </a:r>
            <a:r>
              <a:rPr lang="en-US" sz="900" b="1" dirty="0"/>
              <a:t>MegRaj </a:t>
            </a:r>
            <a:r>
              <a:rPr lang="en-US" sz="800" b="1" dirty="0"/>
              <a:t>to protect data and ensure secure  handling of governments data. </a:t>
            </a:r>
            <a:endParaRPr lang="en-IN" sz="800" b="1" dirty="0"/>
          </a:p>
        </p:txBody>
      </p:sp>
      <p:sp>
        <p:nvSpPr>
          <p:cNvPr id="17556" name="Rectangle 17555">
            <a:extLst>
              <a:ext uri="{FF2B5EF4-FFF2-40B4-BE49-F238E27FC236}">
                <a16:creationId xmlns:a16="http://schemas.microsoft.com/office/drawing/2014/main" id="{EA9C1CF4-E4FD-2F3C-477B-D3BFD364BA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31154"/>
            <a:ext cx="12191999" cy="226846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557" name="Footer Placeholder 6">
            <a:extLst>
              <a:ext uri="{FF2B5EF4-FFF2-40B4-BE49-F238E27FC236}">
                <a16:creationId xmlns:a16="http://schemas.microsoft.com/office/drawing/2014/main" id="{2A1C826A-300B-EAAF-5FDE-CC280923C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47066" y="6706616"/>
            <a:ext cx="3869267" cy="251635"/>
          </a:xfrm>
        </p:spPr>
        <p:txBody>
          <a:bodyPr/>
          <a:lstStyle/>
          <a:p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</a:t>
            </a:r>
            <a:r>
              <a:rPr lang="en-US" sz="9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TEAM MEGATRON</a:t>
            </a:r>
            <a:endParaRPr lang="en-US" sz="900" dirty="0">
              <a:solidFill>
                <a:schemeClr val="bg1"/>
              </a:solidFill>
              <a:latin typeface="Calibri"/>
              <a:cs typeface="Calibri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7559" name="Slide Number Placeholder 5">
            <a:extLst>
              <a:ext uri="{FF2B5EF4-FFF2-40B4-BE49-F238E27FC236}">
                <a16:creationId xmlns:a16="http://schemas.microsoft.com/office/drawing/2014/main" id="{4408F055-ABCB-9699-57A2-C0216A555A3F}"/>
              </a:ext>
            </a:extLst>
          </p:cNvPr>
          <p:cNvSpPr txBox="1">
            <a:spLocks/>
          </p:cNvSpPr>
          <p:nvPr/>
        </p:nvSpPr>
        <p:spPr>
          <a:xfrm>
            <a:off x="8901268" y="6549499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defTabSz="457200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TradeGothic" pitchFamily="1" charset="0"/>
                <a:ea typeface="ＭＳ Ｐゴシック" pitchFamily="1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pPr>
              <a:defRPr/>
            </a:pPr>
            <a:fld id="{677C3CE7-23F7-4828-823C-E0205DF2CF97}" type="slidenum">
              <a:rPr lang="en-US" sz="1000" b="1" smtClean="0">
                <a:solidFill>
                  <a:prstClr val="white"/>
                </a:solidFill>
              </a:rPr>
              <a:pPr>
                <a:defRPr/>
              </a:pPr>
              <a:t>2</a:t>
            </a:fld>
            <a:endParaRPr lang="en-US" sz="1000" b="1" dirty="0">
              <a:solidFill>
                <a:prstClr val="white"/>
              </a:solidFill>
            </a:endParaRPr>
          </a:p>
        </p:txBody>
      </p:sp>
      <p:sp>
        <p:nvSpPr>
          <p:cNvPr id="17561" name="Rounded Rectangle 127">
            <a:extLst>
              <a:ext uri="{FF2B5EF4-FFF2-40B4-BE49-F238E27FC236}">
                <a16:creationId xmlns:a16="http://schemas.microsoft.com/office/drawing/2014/main" id="{76A499AA-31B2-B54F-4F3C-ACAEFC01907A}"/>
              </a:ext>
            </a:extLst>
          </p:cNvPr>
          <p:cNvSpPr/>
          <p:nvPr/>
        </p:nvSpPr>
        <p:spPr>
          <a:xfrm>
            <a:off x="5096742" y="980294"/>
            <a:ext cx="6933191" cy="2627801"/>
          </a:xfrm>
          <a:prstGeom prst="roundRect">
            <a:avLst>
              <a:gd name="adj" fmla="val 16989"/>
            </a:avLst>
          </a:prstGeom>
          <a:solidFill>
            <a:srgbClr val="FFFBF5"/>
          </a:solidFill>
          <a:ln w="12700">
            <a:solidFill>
              <a:srgbClr val="F0C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dirty="0"/>
          </a:p>
        </p:txBody>
      </p:sp>
      <p:sp>
        <p:nvSpPr>
          <p:cNvPr id="17562" name="TextBox 8">
            <a:extLst>
              <a:ext uri="{FF2B5EF4-FFF2-40B4-BE49-F238E27FC236}">
                <a16:creationId xmlns:a16="http://schemas.microsoft.com/office/drawing/2014/main" id="{224D79FD-A481-34E5-A57C-562D196611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75089" y="899716"/>
            <a:ext cx="296415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1600" b="1" u="sng" dirty="0">
                <a:solidFill>
                  <a:schemeClr val="tx2"/>
                </a:solidFill>
                <a:latin typeface="+mj-lt"/>
                <a:cs typeface="Arial" pitchFamily="34" charset="0"/>
              </a:rPr>
              <a:t>Proposed Solution :-</a:t>
            </a:r>
            <a:r>
              <a:rPr lang="en-US" sz="1600" dirty="0">
                <a:latin typeface="+mj-lt"/>
                <a:cs typeface="Arial" pitchFamily="34" charset="0"/>
              </a:rPr>
              <a:t> </a:t>
            </a:r>
          </a:p>
        </p:txBody>
      </p:sp>
      <p:sp>
        <p:nvSpPr>
          <p:cNvPr id="17564" name="TextBox 17563">
            <a:extLst>
              <a:ext uri="{FF2B5EF4-FFF2-40B4-BE49-F238E27FC236}">
                <a16:creationId xmlns:a16="http://schemas.microsoft.com/office/drawing/2014/main" id="{7F3647E4-60F8-66BB-BF1F-68DCDB3FE8B6}"/>
              </a:ext>
            </a:extLst>
          </p:cNvPr>
          <p:cNvSpPr txBox="1"/>
          <p:nvPr/>
        </p:nvSpPr>
        <p:spPr>
          <a:xfrm>
            <a:off x="5175042" y="980295"/>
            <a:ext cx="372622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16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Uniqueness :-</a:t>
            </a:r>
            <a:r>
              <a:rPr lang="en-US" sz="1600" dirty="0">
                <a:latin typeface="Arial" pitchFamily="34" charset="0"/>
                <a:cs typeface="Arial" pitchFamily="34" charset="0"/>
              </a:rPr>
              <a:t> </a:t>
            </a:r>
          </a:p>
        </p:txBody>
      </p:sp>
      <p:sp>
        <p:nvSpPr>
          <p:cNvPr id="17565" name="TextBox 17564">
            <a:extLst>
              <a:ext uri="{FF2B5EF4-FFF2-40B4-BE49-F238E27FC236}">
                <a16:creationId xmlns:a16="http://schemas.microsoft.com/office/drawing/2014/main" id="{8DFB5C41-ED64-741C-E4CB-22116C994769}"/>
              </a:ext>
            </a:extLst>
          </p:cNvPr>
          <p:cNvSpPr txBox="1"/>
          <p:nvPr/>
        </p:nvSpPr>
        <p:spPr>
          <a:xfrm>
            <a:off x="5199979" y="1266671"/>
            <a:ext cx="641790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+mn-lt"/>
              </a:rPr>
              <a:t>1) Computer Vision Based text extraction and Measurement :-</a:t>
            </a:r>
          </a:p>
          <a:p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Using ORC and ArUco reference tag to extract and measure font size in real word millimeters not just pixels</a:t>
            </a:r>
            <a:endParaRPr lang="en-IN" sz="1400" b="1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</a:endParaRPr>
          </a:p>
        </p:txBody>
      </p:sp>
      <p:sp>
        <p:nvSpPr>
          <p:cNvPr id="17567" name="TextBox 17566">
            <a:extLst>
              <a:ext uri="{FF2B5EF4-FFF2-40B4-BE49-F238E27FC236}">
                <a16:creationId xmlns:a16="http://schemas.microsoft.com/office/drawing/2014/main" id="{5266747F-7F07-6DE4-5746-AE62DC7299B8}"/>
              </a:ext>
            </a:extLst>
          </p:cNvPr>
          <p:cNvSpPr txBox="1"/>
          <p:nvPr/>
        </p:nvSpPr>
        <p:spPr>
          <a:xfrm>
            <a:off x="5199979" y="2039326"/>
            <a:ext cx="641790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+mn-lt"/>
              </a:rPr>
              <a:t>2) Deterministic Legal Rule Engine :-</a:t>
            </a:r>
          </a:p>
          <a:p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Use Programed blocked rule engine for fixed explainable legal decisions no LLM hallucinations in penalties or compliance result</a:t>
            </a:r>
            <a:endParaRPr lang="en-IN" sz="1400" b="1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</a:endParaRPr>
          </a:p>
        </p:txBody>
      </p:sp>
      <p:sp>
        <p:nvSpPr>
          <p:cNvPr id="17569" name="TextBox 17568">
            <a:extLst>
              <a:ext uri="{FF2B5EF4-FFF2-40B4-BE49-F238E27FC236}">
                <a16:creationId xmlns:a16="http://schemas.microsoft.com/office/drawing/2014/main" id="{49F88FC8-BB14-AA13-0758-101D80183DA8}"/>
              </a:ext>
            </a:extLst>
          </p:cNvPr>
          <p:cNvSpPr txBox="1"/>
          <p:nvPr/>
        </p:nvSpPr>
        <p:spPr>
          <a:xfrm>
            <a:off x="5199979" y="2794325"/>
            <a:ext cx="641790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+mn-lt"/>
              </a:rPr>
              <a:t>3) Offline First and Tamper Proof Inspection :-</a:t>
            </a:r>
            <a:endParaRPr lang="en-IN" sz="1600" b="1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</a:endParaRPr>
          </a:p>
          <a:p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 Captures data off-line without internet, lock images using SHA-256 hashing and automatically syncs data when connectivity returns</a:t>
            </a:r>
            <a:endParaRPr lang="en-IN" sz="1050" b="1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B9C3FC3-8ECE-25C1-958A-CA7A2B884CDF}"/>
              </a:ext>
            </a:extLst>
          </p:cNvPr>
          <p:cNvCxnSpPr>
            <a:cxnSpLocks/>
          </p:cNvCxnSpPr>
          <p:nvPr/>
        </p:nvCxnSpPr>
        <p:spPr>
          <a:xfrm flipH="1">
            <a:off x="10575306" y="3773930"/>
            <a:ext cx="210250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13857BE5-BD49-8D2E-8D41-F66B485B617F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8244196" y="3664200"/>
            <a:ext cx="16729" cy="4155435"/>
          </a:xfrm>
          <a:prstGeom prst="bentConnector3">
            <a:avLst>
              <a:gd name="adj1" fmla="val 654187"/>
            </a:avLst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93" name="TextBox 17492">
            <a:extLst>
              <a:ext uri="{FF2B5EF4-FFF2-40B4-BE49-F238E27FC236}">
                <a16:creationId xmlns:a16="http://schemas.microsoft.com/office/drawing/2014/main" id="{09529941-F530-6B06-8ED5-A61A185B644A}"/>
              </a:ext>
            </a:extLst>
          </p:cNvPr>
          <p:cNvSpPr txBox="1"/>
          <p:nvPr/>
        </p:nvSpPr>
        <p:spPr>
          <a:xfrm>
            <a:off x="1358563" y="394"/>
            <a:ext cx="864134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chemeClr val="tx2">
                    <a:lumMod val="76000"/>
                  </a:schemeClr>
                </a:solidFill>
                <a:latin typeface="+mj-lt"/>
                <a:ea typeface="ＭＳ Ｐゴシック"/>
                <a:cs typeface="Times New Roman"/>
              </a:rPr>
              <a:t>AI-Powered Legal Metrology &amp; Packaged Commodity Compliance System</a:t>
            </a:r>
            <a:endParaRPr lang="en-IN" sz="2200" dirty="0"/>
          </a:p>
        </p:txBody>
      </p:sp>
      <p:sp>
        <p:nvSpPr>
          <p:cNvPr id="17495" name="TextBox 17494">
            <a:extLst>
              <a:ext uri="{FF2B5EF4-FFF2-40B4-BE49-F238E27FC236}">
                <a16:creationId xmlns:a16="http://schemas.microsoft.com/office/drawing/2014/main" id="{3D4CD3C4-7AA3-503B-70CB-F0C6B6EFB172}"/>
              </a:ext>
            </a:extLst>
          </p:cNvPr>
          <p:cNvSpPr txBox="1"/>
          <p:nvPr/>
        </p:nvSpPr>
        <p:spPr>
          <a:xfrm>
            <a:off x="1294669" y="449160"/>
            <a:ext cx="8637103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900" b="1" dirty="0">
                <a:solidFill>
                  <a:schemeClr val="tx2"/>
                </a:solidFill>
                <a:latin typeface="+mj-lt"/>
                <a:ea typeface="ＭＳ Ｐゴシック"/>
                <a:cs typeface="Arial"/>
              </a:rPr>
              <a:t>Transforming</a:t>
            </a:r>
            <a:r>
              <a:rPr lang="en-US" sz="1900" b="1" dirty="0">
                <a:solidFill>
                  <a:srgbClr val="1F497D"/>
                </a:solidFill>
                <a:latin typeface="+mj-lt"/>
                <a:ea typeface="ＭＳ Ｐゴシック"/>
                <a:cs typeface="Arial"/>
              </a:rPr>
              <a:t> Legal Metrology Compliance through Multi model AI Inspection </a:t>
            </a:r>
            <a:endParaRPr lang="en-US" sz="1900" u="sng" dirty="0">
              <a:solidFill>
                <a:schemeClr val="tx2"/>
              </a:solidFill>
              <a:latin typeface="+mj-lt"/>
              <a:ea typeface="ＭＳ Ｐゴシック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Rounded Rectangle 16">
            <a:extLst>
              <a:ext uri="{FF2B5EF4-FFF2-40B4-BE49-F238E27FC236}">
                <a16:creationId xmlns:a16="http://schemas.microsoft.com/office/drawing/2014/main" id="{92BA9412-236F-F7A3-8692-2266269B9689}"/>
              </a:ext>
            </a:extLst>
          </p:cNvPr>
          <p:cNvSpPr/>
          <p:nvPr/>
        </p:nvSpPr>
        <p:spPr>
          <a:xfrm>
            <a:off x="5339080" y="760518"/>
            <a:ext cx="2097439" cy="1366645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5" name="Rounded Rectangle 57">
            <a:extLst>
              <a:ext uri="{FF2B5EF4-FFF2-40B4-BE49-F238E27FC236}">
                <a16:creationId xmlns:a16="http://schemas.microsoft.com/office/drawing/2014/main" id="{6BBA0CBB-7C31-36B1-947F-7DE569F2836D}"/>
              </a:ext>
            </a:extLst>
          </p:cNvPr>
          <p:cNvSpPr/>
          <p:nvPr/>
        </p:nvSpPr>
        <p:spPr>
          <a:xfrm>
            <a:off x="7539546" y="590037"/>
            <a:ext cx="1256397" cy="706795"/>
          </a:xfrm>
          <a:prstGeom prst="roundRect">
            <a:avLst/>
          </a:prstGeom>
          <a:solidFill>
            <a:srgbClr val="FFF0F6"/>
          </a:solidFill>
          <a:ln w="1143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Rounded Rectangle 57">
            <a:extLst>
              <a:ext uri="{FF2B5EF4-FFF2-40B4-BE49-F238E27FC236}">
                <a16:creationId xmlns:a16="http://schemas.microsoft.com/office/drawing/2014/main" id="{AE8D3536-D5A2-5FAE-B336-7AF6D2A03947}"/>
              </a:ext>
            </a:extLst>
          </p:cNvPr>
          <p:cNvSpPr/>
          <p:nvPr/>
        </p:nvSpPr>
        <p:spPr>
          <a:xfrm>
            <a:off x="7526375" y="1362184"/>
            <a:ext cx="1256397" cy="706795"/>
          </a:xfrm>
          <a:prstGeom prst="roundRect">
            <a:avLst/>
          </a:prstGeom>
          <a:solidFill>
            <a:srgbClr val="FFF0F6"/>
          </a:solidFill>
          <a:ln w="1143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78AF67E1-86B3-0C06-7F4A-891FD5DB41A2}"/>
              </a:ext>
            </a:extLst>
          </p:cNvPr>
          <p:cNvSpPr/>
          <p:nvPr/>
        </p:nvSpPr>
        <p:spPr>
          <a:xfrm>
            <a:off x="4045327" y="2328867"/>
            <a:ext cx="1350264" cy="462237"/>
          </a:xfrm>
          <a:prstGeom prst="ellipse">
            <a:avLst/>
          </a:prstGeom>
          <a:ln>
            <a:prstDash val="sysDot"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CB19E175-442D-5642-F340-6D0CF2AC97F7}"/>
              </a:ext>
            </a:extLst>
          </p:cNvPr>
          <p:cNvSpPr/>
          <p:nvPr/>
        </p:nvSpPr>
        <p:spPr>
          <a:xfrm>
            <a:off x="4017697" y="1803666"/>
            <a:ext cx="1170530" cy="462237"/>
          </a:xfrm>
          <a:prstGeom prst="ellipse">
            <a:avLst/>
          </a:prstGeom>
          <a:ln>
            <a:prstDash val="sysDot"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0" name="Rounded Rectangle 87">
            <a:extLst>
              <a:ext uri="{FF2B5EF4-FFF2-40B4-BE49-F238E27FC236}">
                <a16:creationId xmlns:a16="http://schemas.microsoft.com/office/drawing/2014/main" id="{AB360ABB-649B-E386-2DA6-4663B2DC9831}"/>
              </a:ext>
            </a:extLst>
          </p:cNvPr>
          <p:cNvSpPr/>
          <p:nvPr/>
        </p:nvSpPr>
        <p:spPr>
          <a:xfrm>
            <a:off x="7663442" y="15429"/>
            <a:ext cx="1256398" cy="461715"/>
          </a:xfrm>
          <a:prstGeom prst="roundRect">
            <a:avLst/>
          </a:prstGeom>
          <a:noFill/>
          <a:ln w="1143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55" name="Rounded Rectangle 57">
            <a:extLst>
              <a:ext uri="{FF2B5EF4-FFF2-40B4-BE49-F238E27FC236}">
                <a16:creationId xmlns:a16="http://schemas.microsoft.com/office/drawing/2014/main" id="{995EF6C6-A5D1-3D24-61A1-4B521E11831B}"/>
              </a:ext>
            </a:extLst>
          </p:cNvPr>
          <p:cNvSpPr/>
          <p:nvPr/>
        </p:nvSpPr>
        <p:spPr>
          <a:xfrm>
            <a:off x="6756709" y="4281455"/>
            <a:ext cx="1673337" cy="920757"/>
          </a:xfrm>
          <a:prstGeom prst="roundRect">
            <a:avLst/>
          </a:prstGeom>
          <a:solidFill>
            <a:srgbClr val="FFF0F6"/>
          </a:solidFill>
          <a:ln w="1143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0" name="Rounded Rectangle 16">
            <a:extLst>
              <a:ext uri="{FF2B5EF4-FFF2-40B4-BE49-F238E27FC236}">
                <a16:creationId xmlns:a16="http://schemas.microsoft.com/office/drawing/2014/main" id="{A5E46BE6-2253-68A5-211A-5463F228F7EE}"/>
              </a:ext>
            </a:extLst>
          </p:cNvPr>
          <p:cNvSpPr/>
          <p:nvPr/>
        </p:nvSpPr>
        <p:spPr>
          <a:xfrm>
            <a:off x="5516454" y="4426746"/>
            <a:ext cx="1043645" cy="1813389"/>
          </a:xfrm>
          <a:prstGeom prst="roundRect">
            <a:avLst/>
          </a:prstGeom>
          <a:solidFill>
            <a:srgbClr val="FFFFFF"/>
          </a:solidFill>
          <a:ln w="11430">
            <a:solidFill>
              <a:schemeClr val="accent6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cxnSp>
        <p:nvCxnSpPr>
          <p:cNvPr id="119" name="Connector: Elbow 118">
            <a:extLst>
              <a:ext uri="{FF2B5EF4-FFF2-40B4-BE49-F238E27FC236}">
                <a16:creationId xmlns:a16="http://schemas.microsoft.com/office/drawing/2014/main" id="{41DAF4BA-48EA-A39B-CBD8-7801A457E8B9}"/>
              </a:ext>
            </a:extLst>
          </p:cNvPr>
          <p:cNvCxnSpPr>
            <a:stCxn id="207" idx="2"/>
            <a:endCxn id="86" idx="2"/>
          </p:cNvCxnSpPr>
          <p:nvPr/>
        </p:nvCxnSpPr>
        <p:spPr>
          <a:xfrm rot="16200000" flipH="1">
            <a:off x="5334453" y="1405938"/>
            <a:ext cx="125377" cy="9839365"/>
          </a:xfrm>
          <a:prstGeom prst="bentConnector3">
            <a:avLst>
              <a:gd name="adj1" fmla="val 203056"/>
            </a:avLst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7" name="Call-out: Down Arrow 126">
            <a:extLst>
              <a:ext uri="{FF2B5EF4-FFF2-40B4-BE49-F238E27FC236}">
                <a16:creationId xmlns:a16="http://schemas.microsoft.com/office/drawing/2014/main" id="{E0E1FD35-5519-EA8B-5192-4F6AF98D4865}"/>
              </a:ext>
            </a:extLst>
          </p:cNvPr>
          <p:cNvSpPr/>
          <p:nvPr/>
        </p:nvSpPr>
        <p:spPr>
          <a:xfrm>
            <a:off x="6714065" y="5277396"/>
            <a:ext cx="1767026" cy="1135497"/>
          </a:xfrm>
          <a:prstGeom prst="downArrowCallout">
            <a:avLst>
              <a:gd name="adj1" fmla="val 50000"/>
              <a:gd name="adj2" fmla="val 25000"/>
              <a:gd name="adj3" fmla="val 25000"/>
              <a:gd name="adj4" fmla="val 75000"/>
            </a:avLst>
          </a:prstGeom>
          <a:noFill/>
          <a:ln>
            <a:solidFill>
              <a:srgbClr val="FF0000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9" name="Rounded Rectangle 16">
            <a:extLst>
              <a:ext uri="{FF2B5EF4-FFF2-40B4-BE49-F238E27FC236}">
                <a16:creationId xmlns:a16="http://schemas.microsoft.com/office/drawing/2014/main" id="{74C5C626-4B17-F241-304E-109E636DA868}"/>
              </a:ext>
            </a:extLst>
          </p:cNvPr>
          <p:cNvSpPr/>
          <p:nvPr/>
        </p:nvSpPr>
        <p:spPr>
          <a:xfrm>
            <a:off x="2280753" y="5194042"/>
            <a:ext cx="2085507" cy="1135497"/>
          </a:xfrm>
          <a:prstGeom prst="roundRect">
            <a:avLst/>
          </a:prstGeom>
          <a:solidFill>
            <a:srgbClr val="FFFFFF"/>
          </a:solidFill>
          <a:ln w="11430">
            <a:solidFill>
              <a:schemeClr val="accent6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22" name="Rounded Rectangle 62">
            <a:extLst>
              <a:ext uri="{FF2B5EF4-FFF2-40B4-BE49-F238E27FC236}">
                <a16:creationId xmlns:a16="http://schemas.microsoft.com/office/drawing/2014/main" id="{6B8E1EEC-650F-8EE1-69A3-1E482F9B8F87}"/>
              </a:ext>
            </a:extLst>
          </p:cNvPr>
          <p:cNvSpPr/>
          <p:nvPr/>
        </p:nvSpPr>
        <p:spPr>
          <a:xfrm>
            <a:off x="2540526" y="5055899"/>
            <a:ext cx="1436741" cy="365125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10160">
            <a:solidFill>
              <a:srgbClr val="8A5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00" name="Rounded Rectangle 16">
            <a:extLst>
              <a:ext uri="{FF2B5EF4-FFF2-40B4-BE49-F238E27FC236}">
                <a16:creationId xmlns:a16="http://schemas.microsoft.com/office/drawing/2014/main" id="{B85DA3AA-FC13-A142-6C27-995F4692E87A}"/>
              </a:ext>
            </a:extLst>
          </p:cNvPr>
          <p:cNvSpPr/>
          <p:nvPr/>
        </p:nvSpPr>
        <p:spPr>
          <a:xfrm>
            <a:off x="5961888" y="2256437"/>
            <a:ext cx="2336793" cy="529099"/>
          </a:xfrm>
          <a:prstGeom prst="roundRect">
            <a:avLst/>
          </a:prstGeom>
          <a:solidFill>
            <a:srgbClr val="FFFFFF"/>
          </a:solidFill>
          <a:ln w="11430">
            <a:solidFill>
              <a:schemeClr val="accent6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78" name="Rounded Rectangle 16">
            <a:extLst>
              <a:ext uri="{FF2B5EF4-FFF2-40B4-BE49-F238E27FC236}">
                <a16:creationId xmlns:a16="http://schemas.microsoft.com/office/drawing/2014/main" id="{836F9DAD-2A7B-29C8-08C5-4E7B420477EF}"/>
              </a:ext>
            </a:extLst>
          </p:cNvPr>
          <p:cNvSpPr/>
          <p:nvPr/>
        </p:nvSpPr>
        <p:spPr>
          <a:xfrm>
            <a:off x="9043420" y="486468"/>
            <a:ext cx="1006335" cy="1548318"/>
          </a:xfrm>
          <a:prstGeom prst="roundRect">
            <a:avLst/>
          </a:prstGeom>
          <a:solidFill>
            <a:srgbClr val="FFFFFF"/>
          </a:solidFill>
          <a:ln w="11430">
            <a:solidFill>
              <a:schemeClr val="accent6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32" name="Rounded Rectangle 16">
            <a:extLst>
              <a:ext uri="{FF2B5EF4-FFF2-40B4-BE49-F238E27FC236}">
                <a16:creationId xmlns:a16="http://schemas.microsoft.com/office/drawing/2014/main" id="{C2BDDD49-5076-5100-E113-C7C021B8F6A5}"/>
              </a:ext>
            </a:extLst>
          </p:cNvPr>
          <p:cNvSpPr/>
          <p:nvPr/>
        </p:nvSpPr>
        <p:spPr>
          <a:xfrm>
            <a:off x="1758042" y="109257"/>
            <a:ext cx="2017396" cy="51072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7D8A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7" name="Rounded Rectangle 53">
            <a:extLst>
              <a:ext uri="{FF2B5EF4-FFF2-40B4-BE49-F238E27FC236}">
                <a16:creationId xmlns:a16="http://schemas.microsoft.com/office/drawing/2014/main" id="{503C55C4-A4E6-B27B-5F06-C2021643910A}"/>
              </a:ext>
            </a:extLst>
          </p:cNvPr>
          <p:cNvSpPr/>
          <p:nvPr/>
        </p:nvSpPr>
        <p:spPr>
          <a:xfrm>
            <a:off x="8975549" y="85039"/>
            <a:ext cx="1127111" cy="647004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10160">
            <a:solidFill>
              <a:srgbClr val="5AA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ounded Rectangle 47">
            <a:extLst>
              <a:ext uri="{FF2B5EF4-FFF2-40B4-BE49-F238E27FC236}">
                <a16:creationId xmlns:a16="http://schemas.microsoft.com/office/drawing/2014/main" id="{DD5637C7-40FE-7EE1-95A6-1226E82261DB}"/>
              </a:ext>
            </a:extLst>
          </p:cNvPr>
          <p:cNvSpPr/>
          <p:nvPr/>
        </p:nvSpPr>
        <p:spPr>
          <a:xfrm>
            <a:off x="1352462" y="73212"/>
            <a:ext cx="928291" cy="584775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10160">
            <a:solidFill>
              <a:srgbClr val="8A5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 dirty="0"/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C254FA76-01B7-4137-4D74-45DE45B3118C}"/>
              </a:ext>
            </a:extLst>
          </p:cNvPr>
          <p:cNvSpPr/>
          <p:nvPr/>
        </p:nvSpPr>
        <p:spPr>
          <a:xfrm>
            <a:off x="477458" y="3451388"/>
            <a:ext cx="1664533" cy="246538"/>
          </a:xfrm>
          <a:prstGeom prst="rect">
            <a:avLst/>
          </a:prstGeom>
          <a:solidFill>
            <a:schemeClr val="accent6">
              <a:lumMod val="40000"/>
              <a:lumOff val="60000"/>
              <a:alpha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6" name="Rounded Rectangle 3">
            <a:extLst>
              <a:ext uri="{FF2B5EF4-FFF2-40B4-BE49-F238E27FC236}">
                <a16:creationId xmlns:a16="http://schemas.microsoft.com/office/drawing/2014/main" id="{A00C4035-802F-FA7A-4F8D-CA62AC51FEA2}"/>
              </a:ext>
            </a:extLst>
          </p:cNvPr>
          <p:cNvSpPr/>
          <p:nvPr/>
        </p:nvSpPr>
        <p:spPr>
          <a:xfrm>
            <a:off x="8590107" y="2142997"/>
            <a:ext cx="3453434" cy="4245313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8F78D71-58EB-8C7B-CD68-DBC4BEB35A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598453"/>
            <a:ext cx="12191999" cy="259546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4A33D5AA-611C-F453-8DEC-366C8FE74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58087" y="6492873"/>
            <a:ext cx="2844800" cy="365125"/>
          </a:xfrm>
        </p:spPr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8" name="Footer Placeholder 6">
            <a:extLst>
              <a:ext uri="{FF2B5EF4-FFF2-40B4-BE49-F238E27FC236}">
                <a16:creationId xmlns:a16="http://schemas.microsoft.com/office/drawing/2014/main" id="{E942228B-0539-5B3D-8B08-13A8B1F06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93999" y="6551480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submission- MEGATRON</a:t>
            </a:r>
          </a:p>
        </p:txBody>
      </p:sp>
      <p:sp>
        <p:nvSpPr>
          <p:cNvPr id="18" name="Rounded Rectangle 16">
            <a:extLst>
              <a:ext uri="{FF2B5EF4-FFF2-40B4-BE49-F238E27FC236}">
                <a16:creationId xmlns:a16="http://schemas.microsoft.com/office/drawing/2014/main" id="{BB6D81F4-EA4F-60DC-F2D8-8C16214B941E}"/>
              </a:ext>
            </a:extLst>
          </p:cNvPr>
          <p:cNvSpPr/>
          <p:nvPr/>
        </p:nvSpPr>
        <p:spPr>
          <a:xfrm>
            <a:off x="55149" y="808433"/>
            <a:ext cx="2564296" cy="2319511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7D8A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2CCF3AA-0236-2A0C-70F6-618AA2BF1C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484" y="1166286"/>
            <a:ext cx="1021078" cy="1718979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2E59BD57-7DAA-38FC-3CDD-992B4513CD20}"/>
              </a:ext>
            </a:extLst>
          </p:cNvPr>
          <p:cNvSpPr txBox="1"/>
          <p:nvPr/>
        </p:nvSpPr>
        <p:spPr>
          <a:xfrm>
            <a:off x="700099" y="777830"/>
            <a:ext cx="12518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400" b="1" dirty="0">
                <a:latin typeface="+mj-lt"/>
              </a:rPr>
              <a:t>2.FRONTEND 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C48C9AFA-BC24-BFAD-033B-281E003AF8D2}"/>
              </a:ext>
            </a:extLst>
          </p:cNvPr>
          <p:cNvSpPr/>
          <p:nvPr/>
        </p:nvSpPr>
        <p:spPr>
          <a:xfrm>
            <a:off x="1326027" y="1033792"/>
            <a:ext cx="1006335" cy="608899"/>
          </a:xfrm>
          <a:prstGeom prst="roundRect">
            <a:avLst/>
          </a:prstGeom>
          <a:solidFill>
            <a:srgbClr val="F6FAFF"/>
          </a:solidFill>
          <a:ln w="12700">
            <a:solidFill>
              <a:srgbClr val="9FC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endParaRPr lang="en-IN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A25546F-40BD-C3C3-C0FB-D2AD68916B40}"/>
              </a:ext>
            </a:extLst>
          </p:cNvPr>
          <p:cNvSpPr txBox="1"/>
          <p:nvPr/>
        </p:nvSpPr>
        <p:spPr>
          <a:xfrm>
            <a:off x="1352462" y="1381081"/>
            <a:ext cx="100633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100" b="1" dirty="0">
                <a:latin typeface="+mn-lt"/>
              </a:rPr>
              <a:t>React/</a:t>
            </a:r>
            <a:r>
              <a:rPr lang="en-US" sz="1100" b="1" dirty="0"/>
              <a:t>N</a:t>
            </a:r>
            <a:r>
              <a:rPr lang="en-IN" sz="1100" b="1" dirty="0"/>
              <a:t>ext.js</a:t>
            </a:r>
            <a:endParaRPr lang="en-IN" sz="1100" b="1" dirty="0">
              <a:latin typeface="+mn-lt"/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3FC6B305-B68B-F4B5-F6EE-98FF73C02B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5630" y="1098016"/>
            <a:ext cx="401076" cy="401076"/>
          </a:xfrm>
          <a:prstGeom prst="rect">
            <a:avLst/>
          </a:prstGeom>
        </p:spPr>
      </p:pic>
      <p:pic>
        <p:nvPicPr>
          <p:cNvPr id="32" name="Picture 31" descr="File:React-icon.svg - Wikimedia Commons">
            <a:extLst>
              <a:ext uri="{FF2B5EF4-FFF2-40B4-BE49-F238E27FC236}">
                <a16:creationId xmlns:a16="http://schemas.microsoft.com/office/drawing/2014/main" id="{67CF00B1-7D28-98CB-BA6C-908F113C4D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1404404" y="1126426"/>
            <a:ext cx="328787" cy="292826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A137221F-32C7-2565-A0F7-E3E5942AA426}"/>
              </a:ext>
            </a:extLst>
          </p:cNvPr>
          <p:cNvSpPr txBox="1"/>
          <p:nvPr/>
        </p:nvSpPr>
        <p:spPr>
          <a:xfrm>
            <a:off x="1189255" y="1707668"/>
            <a:ext cx="10094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900" dirty="0"/>
              <a:t>Website behaves like mobile app</a:t>
            </a:r>
          </a:p>
        </p:txBody>
      </p:sp>
      <p:pic>
        <p:nvPicPr>
          <p:cNvPr id="42" name="Picture 41" descr="PWA Icon SVG Vector &amp; PNG Free Download | UXWing">
            <a:extLst>
              <a:ext uri="{FF2B5EF4-FFF2-40B4-BE49-F238E27FC236}">
                <a16:creationId xmlns:a16="http://schemas.microsoft.com/office/drawing/2014/main" id="{235D1897-5884-073C-FF24-CD5EC6444C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77068" y="1696232"/>
            <a:ext cx="363458" cy="344242"/>
          </a:xfrm>
          <a:prstGeom prst="rect">
            <a:avLst/>
          </a:prstGeom>
        </p:spPr>
      </p:pic>
      <p:sp>
        <p:nvSpPr>
          <p:cNvPr id="48" name="Rounded Rectangle 25">
            <a:extLst>
              <a:ext uri="{FF2B5EF4-FFF2-40B4-BE49-F238E27FC236}">
                <a16:creationId xmlns:a16="http://schemas.microsoft.com/office/drawing/2014/main" id="{56EA5EB2-567D-5C16-F495-2EC6A92A7991}"/>
              </a:ext>
            </a:extLst>
          </p:cNvPr>
          <p:cNvSpPr/>
          <p:nvPr/>
        </p:nvSpPr>
        <p:spPr>
          <a:xfrm>
            <a:off x="1240295" y="2051910"/>
            <a:ext cx="1238366" cy="901453"/>
          </a:xfrm>
          <a:prstGeom prst="roundRect">
            <a:avLst/>
          </a:prstGeom>
          <a:solidFill>
            <a:srgbClr val="F6FAFF"/>
          </a:solidFill>
          <a:ln w="12700">
            <a:solidFill>
              <a:srgbClr val="9FC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endParaRPr lang="en-IN" b="1" dirty="0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7940C11B-0A6D-F3BE-20D0-CC6A081588D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478" y="2040474"/>
            <a:ext cx="974035" cy="912889"/>
          </a:xfrm>
          <a:prstGeom prst="rect">
            <a:avLst/>
          </a:prstGeom>
        </p:spPr>
      </p:pic>
      <p:sp>
        <p:nvSpPr>
          <p:cNvPr id="52" name="Rounded Rectangle 25">
            <a:extLst>
              <a:ext uri="{FF2B5EF4-FFF2-40B4-BE49-F238E27FC236}">
                <a16:creationId xmlns:a16="http://schemas.microsoft.com/office/drawing/2014/main" id="{90A165C1-3BF5-2B6A-784C-98D05E39411F}"/>
              </a:ext>
            </a:extLst>
          </p:cNvPr>
          <p:cNvSpPr/>
          <p:nvPr/>
        </p:nvSpPr>
        <p:spPr>
          <a:xfrm>
            <a:off x="1850606" y="2547715"/>
            <a:ext cx="534148" cy="369332"/>
          </a:xfrm>
          <a:prstGeom prst="roundRect">
            <a:avLst/>
          </a:prstGeom>
          <a:solidFill>
            <a:srgbClr val="F6FAFF"/>
          </a:solidFill>
          <a:ln w="12700">
            <a:solidFill>
              <a:srgbClr val="9FC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endParaRPr lang="en-IN" b="1" dirty="0"/>
          </a:p>
        </p:txBody>
      </p:sp>
      <p:pic>
        <p:nvPicPr>
          <p:cNvPr id="50" name="Picture 49" descr="Leafletjs logo - free Icon PNG, SVG">
            <a:extLst>
              <a:ext uri="{FF2B5EF4-FFF2-40B4-BE49-F238E27FC236}">
                <a16:creationId xmlns:a16="http://schemas.microsoft.com/office/drawing/2014/main" id="{5E6B3029-7CDE-1A75-7A4B-E900D614B876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71854" t="27742" r="2981" b="14865"/>
          <a:stretch>
            <a:fillRect/>
          </a:stretch>
        </p:blipFill>
        <p:spPr>
          <a:xfrm>
            <a:off x="1998898" y="2572211"/>
            <a:ext cx="227993" cy="249992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D40BD36E-DD97-303A-6753-7FFAC6DA2E53}"/>
              </a:ext>
            </a:extLst>
          </p:cNvPr>
          <p:cNvSpPr txBox="1"/>
          <p:nvPr/>
        </p:nvSpPr>
        <p:spPr>
          <a:xfrm>
            <a:off x="1875176" y="2715755"/>
            <a:ext cx="51984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900" b="1" dirty="0">
                <a:latin typeface="+mn-lt"/>
              </a:rPr>
              <a:t>leaflet</a:t>
            </a:r>
            <a:endParaRPr lang="en-IN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62EB6B3-3EDA-E7EC-95E5-5076CECF3DD8}"/>
              </a:ext>
            </a:extLst>
          </p:cNvPr>
          <p:cNvSpPr txBox="1"/>
          <p:nvPr/>
        </p:nvSpPr>
        <p:spPr>
          <a:xfrm>
            <a:off x="1527833" y="2068980"/>
            <a:ext cx="117969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/>
              <a:t>Inspection map</a:t>
            </a:r>
            <a:endParaRPr lang="en-IN" sz="105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6E6761D-A962-C41B-67E6-04291652E65B}"/>
              </a:ext>
            </a:extLst>
          </p:cNvPr>
          <p:cNvSpPr txBox="1"/>
          <p:nvPr/>
        </p:nvSpPr>
        <p:spPr>
          <a:xfrm>
            <a:off x="9667938" y="2107603"/>
            <a:ext cx="136414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600" b="1" dirty="0">
                <a:latin typeface="+mj-lt"/>
              </a:rPr>
              <a:t>3.BACKEND</a:t>
            </a:r>
            <a:endParaRPr lang="en-IN" sz="1100" b="1" dirty="0">
              <a:latin typeface="+mj-lt"/>
            </a:endParaRPr>
          </a:p>
        </p:txBody>
      </p:sp>
      <p:sp>
        <p:nvSpPr>
          <p:cNvPr id="68" name="Rounded Rectangle 65">
            <a:extLst>
              <a:ext uri="{FF2B5EF4-FFF2-40B4-BE49-F238E27FC236}">
                <a16:creationId xmlns:a16="http://schemas.microsoft.com/office/drawing/2014/main" id="{9C6EDE4C-A57E-5070-1D1F-D2E9D6328BF8}"/>
              </a:ext>
            </a:extLst>
          </p:cNvPr>
          <p:cNvSpPr/>
          <p:nvPr/>
        </p:nvSpPr>
        <p:spPr>
          <a:xfrm>
            <a:off x="9255606" y="2442729"/>
            <a:ext cx="1199306" cy="599391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B6D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FABC775-56EB-62CB-E34B-4902BFEF1490}"/>
              </a:ext>
            </a:extLst>
          </p:cNvPr>
          <p:cNvSpPr txBox="1"/>
          <p:nvPr/>
        </p:nvSpPr>
        <p:spPr>
          <a:xfrm>
            <a:off x="9255606" y="2765812"/>
            <a:ext cx="159687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100" b="1" dirty="0">
                <a:latin typeface="+mn-lt"/>
              </a:rPr>
              <a:t>Node.js/Express.js</a:t>
            </a:r>
            <a:endParaRPr lang="en-IN" sz="1100" b="1" dirty="0">
              <a:latin typeface="+mn-lt"/>
            </a:endParaRPr>
          </a:p>
        </p:txBody>
      </p:sp>
      <p:pic>
        <p:nvPicPr>
          <p:cNvPr id="76" name="Picture 75" descr="Free Node Js Logo Icon - Download or Copy SVG, PNG | IconScout">
            <a:extLst>
              <a:ext uri="{FF2B5EF4-FFF2-40B4-BE49-F238E27FC236}">
                <a16:creationId xmlns:a16="http://schemas.microsoft.com/office/drawing/2014/main" id="{61C1A1EB-B338-E15F-84F6-E59AB60118D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53389" y="2484238"/>
            <a:ext cx="384071" cy="325464"/>
          </a:xfrm>
          <a:prstGeom prst="rect">
            <a:avLst/>
          </a:prstGeom>
        </p:spPr>
      </p:pic>
      <p:sp>
        <p:nvSpPr>
          <p:cNvPr id="78" name="Rounded Rectangle 65">
            <a:extLst>
              <a:ext uri="{FF2B5EF4-FFF2-40B4-BE49-F238E27FC236}">
                <a16:creationId xmlns:a16="http://schemas.microsoft.com/office/drawing/2014/main" id="{53A7952A-921E-375B-55A7-5B6BD93BF3DC}"/>
              </a:ext>
            </a:extLst>
          </p:cNvPr>
          <p:cNvSpPr/>
          <p:nvPr/>
        </p:nvSpPr>
        <p:spPr>
          <a:xfrm>
            <a:off x="8720396" y="2428162"/>
            <a:ext cx="381245" cy="3717234"/>
          </a:xfrm>
          <a:prstGeom prst="roundRect">
            <a:avLst/>
          </a:prstGeom>
          <a:solidFill>
            <a:srgbClr val="81DEFF"/>
          </a:solidFill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A6F8161-26AD-9E4A-3944-CBBC95C51BCE}"/>
              </a:ext>
            </a:extLst>
          </p:cNvPr>
          <p:cNvSpPr txBox="1"/>
          <p:nvPr/>
        </p:nvSpPr>
        <p:spPr>
          <a:xfrm>
            <a:off x="8795161" y="2704965"/>
            <a:ext cx="28823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0"/>
              </a:spcBef>
            </a:pPr>
            <a:r>
              <a:rPr lang="en-US" b="1" dirty="0">
                <a:latin typeface="+mj-lt"/>
              </a:rPr>
              <a:t>API</a:t>
            </a:r>
          </a:p>
          <a:p>
            <a:pPr algn="ctr">
              <a:spcBef>
                <a:spcPts val="0"/>
              </a:spcBef>
            </a:pPr>
            <a:r>
              <a:rPr lang="en-US" b="1" dirty="0">
                <a:latin typeface="+mj-lt"/>
              </a:rPr>
              <a:t> GATEWAY</a:t>
            </a:r>
            <a:endParaRPr lang="en-IN" b="1" dirty="0">
              <a:latin typeface="+mj-lt"/>
            </a:endParaRPr>
          </a:p>
        </p:txBody>
      </p:sp>
      <p:pic>
        <p:nvPicPr>
          <p:cNvPr id="82" name="Picture 81">
            <a:extLst>
              <a:ext uri="{FF2B5EF4-FFF2-40B4-BE49-F238E27FC236}">
                <a16:creationId xmlns:a16="http://schemas.microsoft.com/office/drawing/2014/main" id="{D78BD7BE-5AA9-5285-1A9F-836670CCB2A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47277" y="2476667"/>
            <a:ext cx="300433" cy="300433"/>
          </a:xfrm>
          <a:prstGeom prst="rect">
            <a:avLst/>
          </a:prstGeom>
        </p:spPr>
      </p:pic>
      <p:pic>
        <p:nvPicPr>
          <p:cNvPr id="84" name="Picture 83">
            <a:extLst>
              <a:ext uri="{FF2B5EF4-FFF2-40B4-BE49-F238E27FC236}">
                <a16:creationId xmlns:a16="http://schemas.microsoft.com/office/drawing/2014/main" id="{26888917-04EC-77E5-1205-798AB423860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53586" y="5763807"/>
            <a:ext cx="300433" cy="300433"/>
          </a:xfrm>
          <a:prstGeom prst="rect">
            <a:avLst/>
          </a:prstGeom>
        </p:spPr>
      </p:pic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065615E9-0B2C-59B9-E29F-07842178D7D1}"/>
              </a:ext>
            </a:extLst>
          </p:cNvPr>
          <p:cNvCxnSpPr>
            <a:cxnSpLocks/>
          </p:cNvCxnSpPr>
          <p:nvPr/>
        </p:nvCxnSpPr>
        <p:spPr>
          <a:xfrm flipH="1">
            <a:off x="9101641" y="4281455"/>
            <a:ext cx="178377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9" name="Rounded Rectangle 74">
            <a:extLst>
              <a:ext uri="{FF2B5EF4-FFF2-40B4-BE49-F238E27FC236}">
                <a16:creationId xmlns:a16="http://schemas.microsoft.com/office/drawing/2014/main" id="{E67A39AD-3930-B93B-BA38-B5D15DCD7C1E}"/>
              </a:ext>
            </a:extLst>
          </p:cNvPr>
          <p:cNvSpPr/>
          <p:nvPr/>
        </p:nvSpPr>
        <p:spPr>
          <a:xfrm>
            <a:off x="9231944" y="3964497"/>
            <a:ext cx="896512" cy="602315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B6D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Redis </a:t>
            </a:r>
            <a:endParaRPr dirty="0"/>
          </a:p>
        </p:txBody>
      </p:sp>
      <p:pic>
        <p:nvPicPr>
          <p:cNvPr id="101" name="Picture 100" descr="Redis Icon &amp; Logo | Dashboard Icons &amp; Logos">
            <a:extLst>
              <a:ext uri="{FF2B5EF4-FFF2-40B4-BE49-F238E27FC236}">
                <a16:creationId xmlns:a16="http://schemas.microsoft.com/office/drawing/2014/main" id="{99340714-D863-9766-5662-C6BB73940B6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flipH="1">
            <a:off x="9486384" y="4077472"/>
            <a:ext cx="386464" cy="329782"/>
          </a:xfrm>
          <a:prstGeom prst="rect">
            <a:avLst/>
          </a:prstGeom>
        </p:spPr>
      </p:pic>
      <p:sp>
        <p:nvSpPr>
          <p:cNvPr id="103" name="TextBox 102">
            <a:extLst>
              <a:ext uri="{FF2B5EF4-FFF2-40B4-BE49-F238E27FC236}">
                <a16:creationId xmlns:a16="http://schemas.microsoft.com/office/drawing/2014/main" id="{EC38A9DC-2A84-24C0-D865-E590F4E659D8}"/>
              </a:ext>
            </a:extLst>
          </p:cNvPr>
          <p:cNvSpPr txBox="1"/>
          <p:nvPr/>
        </p:nvSpPr>
        <p:spPr>
          <a:xfrm>
            <a:off x="9475241" y="4316907"/>
            <a:ext cx="515725" cy="2701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100" b="1" dirty="0"/>
              <a:t>R</a:t>
            </a:r>
            <a:r>
              <a:rPr lang="en-IN" sz="1100" b="1" dirty="0"/>
              <a:t>edis</a:t>
            </a:r>
          </a:p>
        </p:txBody>
      </p: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6B43BC3B-C7A8-B1A2-D396-8E19D4596BF9}"/>
              </a:ext>
            </a:extLst>
          </p:cNvPr>
          <p:cNvCxnSpPr>
            <a:cxnSpLocks/>
          </p:cNvCxnSpPr>
          <p:nvPr/>
        </p:nvCxnSpPr>
        <p:spPr>
          <a:xfrm>
            <a:off x="10325066" y="3127944"/>
            <a:ext cx="0" cy="279809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8" name="Rounded Rectangle 129">
            <a:extLst>
              <a:ext uri="{FF2B5EF4-FFF2-40B4-BE49-F238E27FC236}">
                <a16:creationId xmlns:a16="http://schemas.microsoft.com/office/drawing/2014/main" id="{EF0B3F64-0248-1B7C-3399-4257C5EEA656}"/>
              </a:ext>
            </a:extLst>
          </p:cNvPr>
          <p:cNvSpPr/>
          <p:nvPr/>
        </p:nvSpPr>
        <p:spPr>
          <a:xfrm>
            <a:off x="10515943" y="2806121"/>
            <a:ext cx="876798" cy="3456810"/>
          </a:xfrm>
          <a:prstGeom prst="roundRect">
            <a:avLst/>
          </a:prstGeom>
          <a:solidFill>
            <a:srgbClr val="FFFFFF"/>
          </a:solidFill>
          <a:ln w="889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dirty="0"/>
          </a:p>
        </p:txBody>
      </p:sp>
      <p:pic>
        <p:nvPicPr>
          <p:cNvPr id="113" name="Picture 112">
            <a:extLst>
              <a:ext uri="{FF2B5EF4-FFF2-40B4-BE49-F238E27FC236}">
                <a16:creationId xmlns:a16="http://schemas.microsoft.com/office/drawing/2014/main" id="{37781E19-FA93-0040-E2DB-A4C7D79BA85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429623" y="2806121"/>
            <a:ext cx="571931" cy="354999"/>
          </a:xfrm>
          <a:prstGeom prst="rect">
            <a:avLst/>
          </a:prstGeom>
        </p:spPr>
      </p:pic>
      <p:pic>
        <p:nvPicPr>
          <p:cNvPr id="114" name="Picture 113" descr="What is YOLOv8; Exploring its Cutting-Edge Features - Yolov8">
            <a:extLst>
              <a:ext uri="{FF2B5EF4-FFF2-40B4-BE49-F238E27FC236}">
                <a16:creationId xmlns:a16="http://schemas.microsoft.com/office/drawing/2014/main" id="{C98E6353-8C1C-11C8-C667-535DA9CE736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392741" y="3380480"/>
            <a:ext cx="602380" cy="357275"/>
          </a:xfrm>
          <a:prstGeom prst="rect">
            <a:avLst/>
          </a:prstGeom>
        </p:spPr>
      </p:pic>
      <p:pic>
        <p:nvPicPr>
          <p:cNvPr id="115" name="Picture 114" descr="Ai icons | Canva">
            <a:extLst>
              <a:ext uri="{FF2B5EF4-FFF2-40B4-BE49-F238E27FC236}">
                <a16:creationId xmlns:a16="http://schemas.microsoft.com/office/drawing/2014/main" id="{1FD40F8C-599B-5C1F-918C-0CBE33D103D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446116" y="4103923"/>
            <a:ext cx="408467" cy="357275"/>
          </a:xfrm>
          <a:prstGeom prst="rect">
            <a:avLst/>
          </a:prstGeom>
        </p:spPr>
      </p:pic>
      <p:sp>
        <p:nvSpPr>
          <p:cNvPr id="135" name="TextBox 134">
            <a:extLst>
              <a:ext uri="{FF2B5EF4-FFF2-40B4-BE49-F238E27FC236}">
                <a16:creationId xmlns:a16="http://schemas.microsoft.com/office/drawing/2014/main" id="{B371E3B0-A284-642B-5421-BFF78FD71ACB}"/>
              </a:ext>
            </a:extLst>
          </p:cNvPr>
          <p:cNvSpPr txBox="1"/>
          <p:nvPr/>
        </p:nvSpPr>
        <p:spPr>
          <a:xfrm>
            <a:off x="469802" y="3460380"/>
            <a:ext cx="1672190" cy="261610"/>
          </a:xfrm>
          <a:prstGeom prst="rect">
            <a:avLst/>
          </a:prstGeom>
          <a:solidFill>
            <a:srgbClr val="81DEFF"/>
          </a:solidFill>
          <a:ln w="28575">
            <a:solidFill>
              <a:srgbClr val="002060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sz="1100" b="1" dirty="0">
                <a:latin typeface="+mj-lt"/>
              </a:rPr>
              <a:t>1. DATA CAPTURE LAYER</a:t>
            </a:r>
          </a:p>
        </p:txBody>
      </p:sp>
      <p:sp>
        <p:nvSpPr>
          <p:cNvPr id="137" name="Rounded Rectangle 5">
            <a:extLst>
              <a:ext uri="{FF2B5EF4-FFF2-40B4-BE49-F238E27FC236}">
                <a16:creationId xmlns:a16="http://schemas.microsoft.com/office/drawing/2014/main" id="{E918DD9B-725B-3BB4-4B4A-93E84FE765A7}"/>
              </a:ext>
            </a:extLst>
          </p:cNvPr>
          <p:cNvSpPr/>
          <p:nvPr/>
        </p:nvSpPr>
        <p:spPr>
          <a:xfrm>
            <a:off x="114719" y="3984781"/>
            <a:ext cx="640855" cy="80852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9FC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>
                <a:solidFill>
                  <a:srgbClr val="111111"/>
                </a:solidFill>
              </a:rPr>
              <a:t> </a:t>
            </a:r>
            <a:endParaRPr sz="1050" b="1" dirty="0"/>
          </a:p>
        </p:txBody>
      </p:sp>
      <p:pic>
        <p:nvPicPr>
          <p:cNvPr id="149" name="Picture 148">
            <a:extLst>
              <a:ext uri="{FF2B5EF4-FFF2-40B4-BE49-F238E27FC236}">
                <a16:creationId xmlns:a16="http://schemas.microsoft.com/office/drawing/2014/main" id="{5B3CA0B7-D362-30EA-BEE9-5F626C2434EC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68268" y="4019689"/>
            <a:ext cx="296958" cy="296958"/>
          </a:xfrm>
          <a:prstGeom prst="rect">
            <a:avLst/>
          </a:prstGeom>
        </p:spPr>
      </p:pic>
      <p:sp>
        <p:nvSpPr>
          <p:cNvPr id="169" name="Oval 168" descr="Your startup LOGO">
            <a:extLst>
              <a:ext uri="{FF2B5EF4-FFF2-40B4-BE49-F238E27FC236}">
                <a16:creationId xmlns:a16="http://schemas.microsoft.com/office/drawing/2014/main" id="{027BA12A-8624-AFEB-D7E2-52D7017D8AA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7345" y="45265"/>
            <a:ext cx="1251857" cy="664512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endParaRPr lang="en-US">
              <a:ea typeface="Calibri"/>
              <a:cs typeface="Calibri"/>
            </a:endParaRP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284D5908-2E35-A74C-E9DD-7EB6E7C05BD1}"/>
              </a:ext>
            </a:extLst>
          </p:cNvPr>
          <p:cNvSpPr txBox="1"/>
          <p:nvPr/>
        </p:nvSpPr>
        <p:spPr>
          <a:xfrm>
            <a:off x="58093" y="45264"/>
            <a:ext cx="125185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dirty="0">
                <a:latin typeface="Calibri"/>
                <a:ea typeface="Calibri"/>
                <a:cs typeface="Calibri"/>
              </a:rPr>
              <a:t>TEAM </a:t>
            </a:r>
            <a:endParaRPr lang="en-US" sz="1600" dirty="0">
              <a:latin typeface="Calibri"/>
              <a:cs typeface="Calibri" pitchFamily="34" charset="0"/>
            </a:endParaRPr>
          </a:p>
          <a:p>
            <a:pPr algn="ctr"/>
            <a:r>
              <a:rPr lang="en-US" sz="1600" dirty="0">
                <a:latin typeface="Calibri"/>
                <a:ea typeface="Calibri"/>
                <a:cs typeface="Calibri"/>
              </a:rPr>
              <a:t>MEGATRON</a:t>
            </a:r>
            <a:endParaRPr lang="en-US" sz="1600" dirty="0">
              <a:latin typeface="Calibri"/>
              <a:cs typeface="Calibri"/>
            </a:endParaRPr>
          </a:p>
        </p:txBody>
      </p:sp>
      <p:sp>
        <p:nvSpPr>
          <p:cNvPr id="172" name="Title 1">
            <a:extLst>
              <a:ext uri="{FF2B5EF4-FFF2-40B4-BE49-F238E27FC236}">
                <a16:creationId xmlns:a16="http://schemas.microsoft.com/office/drawing/2014/main" id="{8DC89225-B291-F43C-B112-8943FA3E0FAD}"/>
              </a:ext>
            </a:extLst>
          </p:cNvPr>
          <p:cNvSpPr txBox="1">
            <a:spLocks/>
          </p:cNvSpPr>
          <p:nvPr/>
        </p:nvSpPr>
        <p:spPr>
          <a:xfrm>
            <a:off x="268268" y="-70778"/>
            <a:ext cx="10972800" cy="409492"/>
          </a:xfrm>
          <a:prstGeom prst="rect">
            <a:avLst/>
          </a:prstGeom>
        </p:spPr>
        <p:txBody>
          <a:bodyPr/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/>
            <a:r>
              <a:rPr lang="en-US" sz="24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pic>
        <p:nvPicPr>
          <p:cNvPr id="174" name="Picture 173">
            <a:extLst>
              <a:ext uri="{FF2B5EF4-FFF2-40B4-BE49-F238E27FC236}">
                <a16:creationId xmlns:a16="http://schemas.microsoft.com/office/drawing/2014/main" id="{B7608779-0907-2FED-EF3D-C88D65F7DBC3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9611" y="-24391"/>
            <a:ext cx="2017397" cy="815199"/>
          </a:xfrm>
          <a:prstGeom prst="rect">
            <a:avLst/>
          </a:prstGeom>
        </p:spPr>
      </p:pic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22A818F4-8BD2-503A-E274-55397B853451}"/>
              </a:ext>
            </a:extLst>
          </p:cNvPr>
          <p:cNvCxnSpPr>
            <a:cxnSpLocks/>
          </p:cNvCxnSpPr>
          <p:nvPr/>
        </p:nvCxnSpPr>
        <p:spPr>
          <a:xfrm flipV="1">
            <a:off x="1319255" y="3042120"/>
            <a:ext cx="0" cy="432394"/>
          </a:xfrm>
          <a:prstGeom prst="lin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5" name="Straight Connector 184">
            <a:extLst>
              <a:ext uri="{FF2B5EF4-FFF2-40B4-BE49-F238E27FC236}">
                <a16:creationId xmlns:a16="http://schemas.microsoft.com/office/drawing/2014/main" id="{D31874C8-C883-5251-67A1-8D17BC6C948D}"/>
              </a:ext>
            </a:extLst>
          </p:cNvPr>
          <p:cNvCxnSpPr>
            <a:cxnSpLocks/>
          </p:cNvCxnSpPr>
          <p:nvPr/>
        </p:nvCxnSpPr>
        <p:spPr>
          <a:xfrm>
            <a:off x="416747" y="3799808"/>
            <a:ext cx="3600949" cy="646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383AEE31-188A-6FD8-6458-1C3A00FC7AD2}"/>
              </a:ext>
            </a:extLst>
          </p:cNvPr>
          <p:cNvCxnSpPr>
            <a:cxnSpLocks/>
          </p:cNvCxnSpPr>
          <p:nvPr/>
        </p:nvCxnSpPr>
        <p:spPr>
          <a:xfrm>
            <a:off x="1305897" y="3641943"/>
            <a:ext cx="0" cy="15240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1" name="Rounded Rectangle 5">
            <a:extLst>
              <a:ext uri="{FF2B5EF4-FFF2-40B4-BE49-F238E27FC236}">
                <a16:creationId xmlns:a16="http://schemas.microsoft.com/office/drawing/2014/main" id="{4BE59952-8A47-C893-E231-812EB25F964A}"/>
              </a:ext>
            </a:extLst>
          </p:cNvPr>
          <p:cNvSpPr/>
          <p:nvPr/>
        </p:nvSpPr>
        <p:spPr>
          <a:xfrm>
            <a:off x="824849" y="3979934"/>
            <a:ext cx="640855" cy="80852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9FC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rgbClr val="111111"/>
                </a:solidFill>
              </a:rPr>
              <a:t> </a:t>
            </a:r>
            <a:endParaRPr sz="1050" b="1" dirty="0"/>
          </a:p>
        </p:txBody>
      </p:sp>
      <p:sp>
        <p:nvSpPr>
          <p:cNvPr id="193" name="Rounded Rectangle 5">
            <a:extLst>
              <a:ext uri="{FF2B5EF4-FFF2-40B4-BE49-F238E27FC236}">
                <a16:creationId xmlns:a16="http://schemas.microsoft.com/office/drawing/2014/main" id="{D65D51C6-932F-9926-8D23-089C483FBC56}"/>
              </a:ext>
            </a:extLst>
          </p:cNvPr>
          <p:cNvSpPr/>
          <p:nvPr/>
        </p:nvSpPr>
        <p:spPr>
          <a:xfrm>
            <a:off x="1547851" y="3973087"/>
            <a:ext cx="640855" cy="80852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9FC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>
                <a:solidFill>
                  <a:srgbClr val="111111"/>
                </a:solidFill>
              </a:rPr>
              <a:t> </a:t>
            </a:r>
            <a:endParaRPr sz="1050" b="1" dirty="0"/>
          </a:p>
        </p:txBody>
      </p:sp>
      <p:sp>
        <p:nvSpPr>
          <p:cNvPr id="195" name="Rounded Rectangle 5">
            <a:extLst>
              <a:ext uri="{FF2B5EF4-FFF2-40B4-BE49-F238E27FC236}">
                <a16:creationId xmlns:a16="http://schemas.microsoft.com/office/drawing/2014/main" id="{5930C951-B07A-2764-D71F-67A01D477E02}"/>
              </a:ext>
            </a:extLst>
          </p:cNvPr>
          <p:cNvSpPr/>
          <p:nvPr/>
        </p:nvSpPr>
        <p:spPr>
          <a:xfrm>
            <a:off x="2280753" y="3990330"/>
            <a:ext cx="640855" cy="80852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9FC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>
                <a:solidFill>
                  <a:srgbClr val="111111"/>
                </a:solidFill>
              </a:rPr>
              <a:t> </a:t>
            </a:r>
            <a:endParaRPr sz="1050" b="1" dirty="0"/>
          </a:p>
        </p:txBody>
      </p:sp>
      <p:sp>
        <p:nvSpPr>
          <p:cNvPr id="197" name="Rounded Rectangle 5">
            <a:extLst>
              <a:ext uri="{FF2B5EF4-FFF2-40B4-BE49-F238E27FC236}">
                <a16:creationId xmlns:a16="http://schemas.microsoft.com/office/drawing/2014/main" id="{0D20C79B-93BE-76EC-D467-67B971CD1E43}"/>
              </a:ext>
            </a:extLst>
          </p:cNvPr>
          <p:cNvSpPr/>
          <p:nvPr/>
        </p:nvSpPr>
        <p:spPr>
          <a:xfrm>
            <a:off x="2990883" y="3985385"/>
            <a:ext cx="640855" cy="80852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9FC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>
                <a:solidFill>
                  <a:srgbClr val="111111"/>
                </a:solidFill>
              </a:rPr>
              <a:t> </a:t>
            </a:r>
            <a:endParaRPr sz="1050" b="1" dirty="0"/>
          </a:p>
        </p:txBody>
      </p: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B4A46EC9-2E2C-6273-0E9F-BE304DEA19CF}"/>
              </a:ext>
            </a:extLst>
          </p:cNvPr>
          <p:cNvCxnSpPr>
            <a:cxnSpLocks/>
            <a:endCxn id="137" idx="0"/>
          </p:cNvCxnSpPr>
          <p:nvPr/>
        </p:nvCxnSpPr>
        <p:spPr>
          <a:xfrm>
            <a:off x="434751" y="3815269"/>
            <a:ext cx="396" cy="16951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DAD29A5F-23B8-D2CE-2DF5-2910D5591041}"/>
              </a:ext>
            </a:extLst>
          </p:cNvPr>
          <p:cNvCxnSpPr>
            <a:cxnSpLocks/>
          </p:cNvCxnSpPr>
          <p:nvPr/>
        </p:nvCxnSpPr>
        <p:spPr>
          <a:xfrm>
            <a:off x="1169742" y="3806713"/>
            <a:ext cx="396" cy="16951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1" name="Straight Connector 210">
            <a:extLst>
              <a:ext uri="{FF2B5EF4-FFF2-40B4-BE49-F238E27FC236}">
                <a16:creationId xmlns:a16="http://schemas.microsoft.com/office/drawing/2014/main" id="{D9253A24-1774-7B62-3040-DC5859D08875}"/>
              </a:ext>
            </a:extLst>
          </p:cNvPr>
          <p:cNvCxnSpPr>
            <a:cxnSpLocks/>
          </p:cNvCxnSpPr>
          <p:nvPr/>
        </p:nvCxnSpPr>
        <p:spPr>
          <a:xfrm>
            <a:off x="1868844" y="3794985"/>
            <a:ext cx="396" cy="16951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2" name="Straight Connector 211">
            <a:extLst>
              <a:ext uri="{FF2B5EF4-FFF2-40B4-BE49-F238E27FC236}">
                <a16:creationId xmlns:a16="http://schemas.microsoft.com/office/drawing/2014/main" id="{6CBC6E22-4BB2-9E10-F6CC-A9FF71C0EB65}"/>
              </a:ext>
            </a:extLst>
          </p:cNvPr>
          <p:cNvCxnSpPr>
            <a:cxnSpLocks/>
          </p:cNvCxnSpPr>
          <p:nvPr/>
        </p:nvCxnSpPr>
        <p:spPr>
          <a:xfrm>
            <a:off x="2609870" y="3804806"/>
            <a:ext cx="694" cy="17997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3" name="Straight Connector 212">
            <a:extLst>
              <a:ext uri="{FF2B5EF4-FFF2-40B4-BE49-F238E27FC236}">
                <a16:creationId xmlns:a16="http://schemas.microsoft.com/office/drawing/2014/main" id="{8B679442-D3D7-AC19-ABD3-17B85DA0A170}"/>
              </a:ext>
            </a:extLst>
          </p:cNvPr>
          <p:cNvCxnSpPr>
            <a:cxnSpLocks/>
          </p:cNvCxnSpPr>
          <p:nvPr/>
        </p:nvCxnSpPr>
        <p:spPr>
          <a:xfrm>
            <a:off x="3328483" y="3804806"/>
            <a:ext cx="0" cy="1775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7" name="TextBox 216">
            <a:extLst>
              <a:ext uri="{FF2B5EF4-FFF2-40B4-BE49-F238E27FC236}">
                <a16:creationId xmlns:a16="http://schemas.microsoft.com/office/drawing/2014/main" id="{91041106-CD57-FEDE-991F-A3661367CA3C}"/>
              </a:ext>
            </a:extLst>
          </p:cNvPr>
          <p:cNvSpPr txBox="1"/>
          <p:nvPr/>
        </p:nvSpPr>
        <p:spPr>
          <a:xfrm>
            <a:off x="114719" y="4235079"/>
            <a:ext cx="70445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b="1" dirty="0">
                <a:solidFill>
                  <a:srgbClr val="111111"/>
                </a:solidFill>
              </a:rPr>
              <a:t>Capture</a:t>
            </a:r>
            <a:endParaRPr lang="en-IN" dirty="0"/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0EB58D81-4060-8E81-9A7C-0A9052D6D3AA}"/>
              </a:ext>
            </a:extLst>
          </p:cNvPr>
          <p:cNvSpPr txBox="1"/>
          <p:nvPr/>
        </p:nvSpPr>
        <p:spPr>
          <a:xfrm>
            <a:off x="104192" y="4395260"/>
            <a:ext cx="75263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en-IN" sz="700" dirty="0">
                <a:latin typeface="+mn-lt"/>
              </a:rPr>
              <a:t>1.Front Image</a:t>
            </a:r>
          </a:p>
          <a:p>
            <a:pPr rtl="0"/>
            <a:r>
              <a:rPr lang="en-IN" sz="700" dirty="0">
                <a:latin typeface="+mn-lt"/>
              </a:rPr>
              <a:t>2.Back Image</a:t>
            </a:r>
          </a:p>
          <a:p>
            <a:pPr rtl="0"/>
            <a:r>
              <a:rPr lang="en-IN" sz="700" dirty="0">
                <a:latin typeface="+mn-lt"/>
              </a:rPr>
              <a:t>3.Close-up</a:t>
            </a:r>
          </a:p>
        </p:txBody>
      </p:sp>
      <p:pic>
        <p:nvPicPr>
          <p:cNvPr id="151" name="Picture 150" descr="Barcode - Free commerce icons">
            <a:extLst>
              <a:ext uri="{FF2B5EF4-FFF2-40B4-BE49-F238E27FC236}">
                <a16:creationId xmlns:a16="http://schemas.microsoft.com/office/drawing/2014/main" id="{EA734C0A-DFF0-7399-0602-E510BAB1B64C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flipH="1">
            <a:off x="949477" y="3968000"/>
            <a:ext cx="434271" cy="434271"/>
          </a:xfrm>
          <a:prstGeom prst="rect">
            <a:avLst/>
          </a:prstGeom>
        </p:spPr>
      </p:pic>
      <p:sp>
        <p:nvSpPr>
          <p:cNvPr id="221" name="TextBox 220">
            <a:extLst>
              <a:ext uri="{FF2B5EF4-FFF2-40B4-BE49-F238E27FC236}">
                <a16:creationId xmlns:a16="http://schemas.microsoft.com/office/drawing/2014/main" id="{8D989E41-240C-59E9-CC14-73E3AA3C7679}"/>
              </a:ext>
            </a:extLst>
          </p:cNvPr>
          <p:cNvSpPr txBox="1"/>
          <p:nvPr/>
        </p:nvSpPr>
        <p:spPr>
          <a:xfrm>
            <a:off x="879316" y="4286497"/>
            <a:ext cx="71215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900" b="1" i="0" dirty="0">
                <a:effectLst/>
                <a:latin typeface="+mn-lt"/>
              </a:rPr>
              <a:t>Barcode</a:t>
            </a:r>
            <a:r>
              <a:rPr lang="en-IN" sz="900" b="1" dirty="0">
                <a:latin typeface="+mn-lt"/>
              </a:rPr>
              <a:t> /</a:t>
            </a:r>
            <a:r>
              <a:rPr lang="en-IN" sz="900" b="1" i="0" dirty="0">
                <a:effectLst/>
                <a:latin typeface="+mn-lt"/>
              </a:rPr>
              <a:t>QR Scanner</a:t>
            </a:r>
            <a:endParaRPr lang="en-IN" sz="900" b="1" dirty="0">
              <a:latin typeface="+mn-lt"/>
            </a:endParaRPr>
          </a:p>
        </p:txBody>
      </p:sp>
      <p:pic>
        <p:nvPicPr>
          <p:cNvPr id="155" name="Picture 154" descr="GPS icon design on transparent background PNG | SimilarPNG">
            <a:extLst>
              <a:ext uri="{FF2B5EF4-FFF2-40B4-BE49-F238E27FC236}">
                <a16:creationId xmlns:a16="http://schemas.microsoft.com/office/drawing/2014/main" id="{06F3BAA7-2280-848A-AAD0-894600397BC0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ackgroundRemoval t="4000" b="97290" l="9167" r="90667">
                        <a14:foregroundMark x1="30167" y1="5290" x2="30167" y2="5290"/>
                        <a14:foregroundMark x1="30167" y1="5290" x2="36500" y2="4258"/>
                        <a14:foregroundMark x1="9167" y1="30968" x2="9167" y2="30968"/>
                        <a14:foregroundMark x1="51333" y1="93935" x2="51333" y2="93935"/>
                        <a14:foregroundMark x1="49833" y1="97419" x2="49833" y2="97419"/>
                        <a14:foregroundMark x1="90667" y1="29935" x2="90667" y2="2993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55393" y="3990330"/>
            <a:ext cx="251756" cy="325185"/>
          </a:xfrm>
          <a:prstGeom prst="rect">
            <a:avLst/>
          </a:prstGeom>
        </p:spPr>
      </p:pic>
      <p:sp>
        <p:nvSpPr>
          <p:cNvPr id="157" name="TextBox 156">
            <a:extLst>
              <a:ext uri="{FF2B5EF4-FFF2-40B4-BE49-F238E27FC236}">
                <a16:creationId xmlns:a16="http://schemas.microsoft.com/office/drawing/2014/main" id="{56E0701C-4B30-64F7-0BAE-97DEB636ED53}"/>
              </a:ext>
            </a:extLst>
          </p:cNvPr>
          <p:cNvSpPr txBox="1"/>
          <p:nvPr/>
        </p:nvSpPr>
        <p:spPr>
          <a:xfrm>
            <a:off x="1605685" y="4256400"/>
            <a:ext cx="71851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800" b="1" dirty="0"/>
              <a:t>GPS + Location Shop Metadata</a:t>
            </a:r>
          </a:p>
        </p:txBody>
      </p:sp>
      <p:pic>
        <p:nvPicPr>
          <p:cNvPr id="159" name="Picture 158" descr="BHASHINI – Apps on Google Play">
            <a:extLst>
              <a:ext uri="{FF2B5EF4-FFF2-40B4-BE49-F238E27FC236}">
                <a16:creationId xmlns:a16="http://schemas.microsoft.com/office/drawing/2014/main" id="{3C7773AB-1C73-7C96-E8B5-2A02C09F2A8F}"/>
              </a:ext>
            </a:extLst>
          </p:cNvPr>
          <p:cNvPicPr>
            <a:picLocks noChangeAspect="1"/>
          </p:cNvPicPr>
          <p:nvPr/>
        </p:nvPicPr>
        <p:blipFill rotWithShape="1">
          <a:blip r:embed="rId19"/>
          <a:srcRect l="17260" t="28772" r="10391" b="21596"/>
          <a:stretch>
            <a:fillRect/>
          </a:stretch>
        </p:blipFill>
        <p:spPr>
          <a:xfrm>
            <a:off x="2344850" y="4003684"/>
            <a:ext cx="529005" cy="362903"/>
          </a:xfrm>
          <a:prstGeom prst="ellipse">
            <a:avLst/>
          </a:prstGeom>
        </p:spPr>
      </p:pic>
      <p:sp>
        <p:nvSpPr>
          <p:cNvPr id="223" name="TextBox 222">
            <a:extLst>
              <a:ext uri="{FF2B5EF4-FFF2-40B4-BE49-F238E27FC236}">
                <a16:creationId xmlns:a16="http://schemas.microsoft.com/office/drawing/2014/main" id="{0F63C0F3-AF1E-9998-335D-027C9A53A804}"/>
              </a:ext>
            </a:extLst>
          </p:cNvPr>
          <p:cNvSpPr txBox="1"/>
          <p:nvPr/>
        </p:nvSpPr>
        <p:spPr>
          <a:xfrm>
            <a:off x="2318787" y="4271385"/>
            <a:ext cx="670581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900" b="1" dirty="0">
                <a:latin typeface="+mn-lt"/>
              </a:rPr>
              <a:t>Regional</a:t>
            </a:r>
          </a:p>
          <a:p>
            <a:pPr>
              <a:buNone/>
            </a:pPr>
            <a:r>
              <a:rPr lang="en-IN" sz="900" b="1" dirty="0">
                <a:latin typeface="+mn-lt"/>
              </a:rPr>
              <a:t>Language UI</a:t>
            </a:r>
          </a:p>
        </p:txBody>
      </p:sp>
      <p:pic>
        <p:nvPicPr>
          <p:cNvPr id="161" name="Picture 160" descr="Text Icon Stock Vector (Royalty Free) 725973751 | Shutterstock">
            <a:extLst>
              <a:ext uri="{FF2B5EF4-FFF2-40B4-BE49-F238E27FC236}">
                <a16:creationId xmlns:a16="http://schemas.microsoft.com/office/drawing/2014/main" id="{46C0EC3E-6A63-75B8-60BE-2FCEC97E6659}"/>
              </a:ext>
            </a:extLst>
          </p:cNvPr>
          <p:cNvPicPr>
            <a:picLocks noChangeAspect="1"/>
          </p:cNvPicPr>
          <p:nvPr/>
        </p:nvPicPr>
        <p:blipFill rotWithShape="1">
          <a:blip r:embed="rId20"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backgroundRemoval t="13183" b="78276" l="16047" r="85742"/>
                    </a14:imgEffect>
                  </a14:imgLayer>
                </a14:imgProps>
              </a:ext>
            </a:extLst>
          </a:blip>
          <a:srcRect l="7335" t="5047" r="5546" b="13587"/>
          <a:stretch>
            <a:fillRect/>
          </a:stretch>
        </p:blipFill>
        <p:spPr>
          <a:xfrm>
            <a:off x="3182931" y="3993533"/>
            <a:ext cx="291103" cy="292793"/>
          </a:xfrm>
          <a:prstGeom prst="rect">
            <a:avLst/>
          </a:prstGeom>
        </p:spPr>
      </p:pic>
      <p:sp>
        <p:nvSpPr>
          <p:cNvPr id="163" name="TextBox 162">
            <a:extLst>
              <a:ext uri="{FF2B5EF4-FFF2-40B4-BE49-F238E27FC236}">
                <a16:creationId xmlns:a16="http://schemas.microsoft.com/office/drawing/2014/main" id="{BD863BCB-6107-971E-36FB-23A2DF32DD8E}"/>
              </a:ext>
            </a:extLst>
          </p:cNvPr>
          <p:cNvSpPr txBox="1"/>
          <p:nvPr/>
        </p:nvSpPr>
        <p:spPr>
          <a:xfrm>
            <a:off x="2932135" y="4174015"/>
            <a:ext cx="76051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050" b="1" dirty="0">
                <a:latin typeface="+mj-lt"/>
              </a:rPr>
              <a:t>Metadata</a:t>
            </a:r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51F781BC-0204-D383-B3A8-8CFDC4D6194B}"/>
              </a:ext>
            </a:extLst>
          </p:cNvPr>
          <p:cNvSpPr txBox="1"/>
          <p:nvPr/>
        </p:nvSpPr>
        <p:spPr>
          <a:xfrm>
            <a:off x="2863318" y="4325295"/>
            <a:ext cx="8928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200" dirty="0"/>
              <a:t>extra details</a:t>
            </a:r>
          </a:p>
        </p:txBody>
      </p:sp>
      <p:cxnSp>
        <p:nvCxnSpPr>
          <p:cNvPr id="235" name="Straight Connector 234">
            <a:extLst>
              <a:ext uri="{FF2B5EF4-FFF2-40B4-BE49-F238E27FC236}">
                <a16:creationId xmlns:a16="http://schemas.microsoft.com/office/drawing/2014/main" id="{98E2DA31-4573-84F8-6567-B31088C6A4CC}"/>
              </a:ext>
            </a:extLst>
          </p:cNvPr>
          <p:cNvCxnSpPr>
            <a:cxnSpLocks/>
          </p:cNvCxnSpPr>
          <p:nvPr/>
        </p:nvCxnSpPr>
        <p:spPr>
          <a:xfrm>
            <a:off x="4017696" y="3790965"/>
            <a:ext cx="0" cy="1775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8" name="Rounded Rectangle 5">
            <a:extLst>
              <a:ext uri="{FF2B5EF4-FFF2-40B4-BE49-F238E27FC236}">
                <a16:creationId xmlns:a16="http://schemas.microsoft.com/office/drawing/2014/main" id="{71C5C81A-901D-26C0-D417-1E7DC7453B9A}"/>
              </a:ext>
            </a:extLst>
          </p:cNvPr>
          <p:cNvSpPr/>
          <p:nvPr/>
        </p:nvSpPr>
        <p:spPr>
          <a:xfrm>
            <a:off x="3689734" y="3971002"/>
            <a:ext cx="640855" cy="827849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9FC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>
                <a:solidFill>
                  <a:srgbClr val="111111"/>
                </a:solidFill>
              </a:rPr>
              <a:t> </a:t>
            </a:r>
            <a:endParaRPr sz="1050" b="1" dirty="0"/>
          </a:p>
        </p:txBody>
      </p:sp>
      <p:pic>
        <p:nvPicPr>
          <p:cNvPr id="165" name="Picture 164">
            <a:extLst>
              <a:ext uri="{FF2B5EF4-FFF2-40B4-BE49-F238E27FC236}">
                <a16:creationId xmlns:a16="http://schemas.microsoft.com/office/drawing/2014/main" id="{15FB9E32-F5F9-03C7-CDFA-45234FA1B2CE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853508" y="3974791"/>
            <a:ext cx="330361" cy="294899"/>
          </a:xfrm>
          <a:prstGeom prst="rect">
            <a:avLst/>
          </a:prstGeom>
        </p:spPr>
      </p:pic>
      <p:sp>
        <p:nvSpPr>
          <p:cNvPr id="167" name="TextBox 166">
            <a:extLst>
              <a:ext uri="{FF2B5EF4-FFF2-40B4-BE49-F238E27FC236}">
                <a16:creationId xmlns:a16="http://schemas.microsoft.com/office/drawing/2014/main" id="{6ABB2695-4F7E-E617-1795-CD6EC6CCEE95}"/>
              </a:ext>
            </a:extLst>
          </p:cNvPr>
          <p:cNvSpPr txBox="1"/>
          <p:nvPr/>
        </p:nvSpPr>
        <p:spPr>
          <a:xfrm>
            <a:off x="3641413" y="4166039"/>
            <a:ext cx="85927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900" b="1" dirty="0">
                <a:latin typeface="+mn-lt"/>
              </a:rPr>
              <a:t>offline Data</a:t>
            </a:r>
          </a:p>
        </p:txBody>
      </p:sp>
      <p:sp>
        <p:nvSpPr>
          <p:cNvPr id="241" name="TextBox 240">
            <a:extLst>
              <a:ext uri="{FF2B5EF4-FFF2-40B4-BE49-F238E27FC236}">
                <a16:creationId xmlns:a16="http://schemas.microsoft.com/office/drawing/2014/main" id="{B51C98A2-0989-CC8B-3D32-6DB00995FF34}"/>
              </a:ext>
            </a:extLst>
          </p:cNvPr>
          <p:cNvSpPr txBox="1"/>
          <p:nvPr/>
        </p:nvSpPr>
        <p:spPr>
          <a:xfrm>
            <a:off x="3773160" y="4357569"/>
            <a:ext cx="64085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Store locally</a:t>
            </a:r>
            <a:endParaRPr lang="en-IN" dirty="0"/>
          </a:p>
        </p:txBody>
      </p:sp>
      <p:cxnSp>
        <p:nvCxnSpPr>
          <p:cNvPr id="246" name="Straight Connector 245">
            <a:extLst>
              <a:ext uri="{FF2B5EF4-FFF2-40B4-BE49-F238E27FC236}">
                <a16:creationId xmlns:a16="http://schemas.microsoft.com/office/drawing/2014/main" id="{FB0CA0B7-BCF7-1CB5-BF60-0FDA0020CF82}"/>
              </a:ext>
            </a:extLst>
          </p:cNvPr>
          <p:cNvCxnSpPr>
            <a:cxnSpLocks/>
          </p:cNvCxnSpPr>
          <p:nvPr/>
        </p:nvCxnSpPr>
        <p:spPr>
          <a:xfrm flipH="1">
            <a:off x="10325066" y="3127944"/>
            <a:ext cx="18409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1F7A980E-D1C6-944D-DFE9-0CEDE9BCA013}"/>
              </a:ext>
            </a:extLst>
          </p:cNvPr>
          <p:cNvCxnSpPr>
            <a:cxnSpLocks/>
          </p:cNvCxnSpPr>
          <p:nvPr/>
        </p:nvCxnSpPr>
        <p:spPr>
          <a:xfrm flipH="1">
            <a:off x="10331848" y="3615167"/>
            <a:ext cx="18409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8" name="Straight Connector 247">
            <a:extLst>
              <a:ext uri="{FF2B5EF4-FFF2-40B4-BE49-F238E27FC236}">
                <a16:creationId xmlns:a16="http://schemas.microsoft.com/office/drawing/2014/main" id="{E32D3F6E-2645-1BC7-69F8-A780CEEDB2B4}"/>
              </a:ext>
            </a:extLst>
          </p:cNvPr>
          <p:cNvCxnSpPr>
            <a:cxnSpLocks/>
          </p:cNvCxnSpPr>
          <p:nvPr/>
        </p:nvCxnSpPr>
        <p:spPr>
          <a:xfrm flipH="1">
            <a:off x="10314032" y="4174372"/>
            <a:ext cx="18409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9" name="Straight Connector 248">
            <a:extLst>
              <a:ext uri="{FF2B5EF4-FFF2-40B4-BE49-F238E27FC236}">
                <a16:creationId xmlns:a16="http://schemas.microsoft.com/office/drawing/2014/main" id="{059FA976-5FA1-496B-1A7B-0449720DB762}"/>
              </a:ext>
            </a:extLst>
          </p:cNvPr>
          <p:cNvCxnSpPr>
            <a:cxnSpLocks/>
          </p:cNvCxnSpPr>
          <p:nvPr/>
        </p:nvCxnSpPr>
        <p:spPr>
          <a:xfrm flipH="1">
            <a:off x="10331848" y="5914023"/>
            <a:ext cx="18409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7" name="Straight Connector 256">
            <a:extLst>
              <a:ext uri="{FF2B5EF4-FFF2-40B4-BE49-F238E27FC236}">
                <a16:creationId xmlns:a16="http://schemas.microsoft.com/office/drawing/2014/main" id="{D2E3AA27-1FC6-323F-4375-F315DCCE79AE}"/>
              </a:ext>
            </a:extLst>
          </p:cNvPr>
          <p:cNvCxnSpPr>
            <a:cxnSpLocks/>
          </p:cNvCxnSpPr>
          <p:nvPr/>
        </p:nvCxnSpPr>
        <p:spPr>
          <a:xfrm flipH="1">
            <a:off x="10331617" y="5081052"/>
            <a:ext cx="18432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61" name="Picture 260" descr="Paddlepaddle Icon | Simpleicons Brands Iconpack | Simpleicons Team">
            <a:extLst>
              <a:ext uri="{FF2B5EF4-FFF2-40B4-BE49-F238E27FC236}">
                <a16:creationId xmlns:a16="http://schemas.microsoft.com/office/drawing/2014/main" id="{0266AFBF-037B-39C5-C8FD-4504956DFD20}"/>
              </a:ext>
            </a:extLst>
          </p:cNvPr>
          <p:cNvPicPr>
            <a:picLocks noChangeAspect="1"/>
          </p:cNvPicPr>
          <p:nvPr/>
        </p:nvPicPr>
        <p:blipFill>
          <a:blip r:embed="rId23"/>
          <a:srcRect l="-1" t="18825" r="-40455" b="28289"/>
          <a:stretch>
            <a:fillRect/>
          </a:stretch>
        </p:blipFill>
        <p:spPr>
          <a:xfrm>
            <a:off x="11475972" y="4985409"/>
            <a:ext cx="479231" cy="180448"/>
          </a:xfrm>
          <a:prstGeom prst="rect">
            <a:avLst/>
          </a:prstGeom>
        </p:spPr>
      </p:pic>
      <p:pic>
        <p:nvPicPr>
          <p:cNvPr id="272" name="Picture 271" descr="Barcode - Free commerce icons">
            <a:extLst>
              <a:ext uri="{FF2B5EF4-FFF2-40B4-BE49-F238E27FC236}">
                <a16:creationId xmlns:a16="http://schemas.microsoft.com/office/drawing/2014/main" id="{54AF2849-02EA-6BF1-BF41-5F36B628C19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flipH="1">
            <a:off x="11453326" y="5626770"/>
            <a:ext cx="481209" cy="435031"/>
          </a:xfrm>
          <a:prstGeom prst="rect">
            <a:avLst/>
          </a:prstGeom>
        </p:spPr>
      </p:pic>
      <p:cxnSp>
        <p:nvCxnSpPr>
          <p:cNvPr id="281" name="Straight Arrow Connector 280">
            <a:extLst>
              <a:ext uri="{FF2B5EF4-FFF2-40B4-BE49-F238E27FC236}">
                <a16:creationId xmlns:a16="http://schemas.microsoft.com/office/drawing/2014/main" id="{C0D53CAA-C6E4-8332-F821-79387E46168F}"/>
              </a:ext>
            </a:extLst>
          </p:cNvPr>
          <p:cNvCxnSpPr>
            <a:cxnSpLocks/>
          </p:cNvCxnSpPr>
          <p:nvPr/>
        </p:nvCxnSpPr>
        <p:spPr>
          <a:xfrm>
            <a:off x="10937058" y="3154226"/>
            <a:ext cx="0" cy="203249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86" name="Straight Arrow Connector 285">
            <a:extLst>
              <a:ext uri="{FF2B5EF4-FFF2-40B4-BE49-F238E27FC236}">
                <a16:creationId xmlns:a16="http://schemas.microsoft.com/office/drawing/2014/main" id="{3C53DD39-5276-0C75-CC82-9E7909FBE02E}"/>
              </a:ext>
            </a:extLst>
          </p:cNvPr>
          <p:cNvCxnSpPr>
            <a:cxnSpLocks/>
          </p:cNvCxnSpPr>
          <p:nvPr/>
        </p:nvCxnSpPr>
        <p:spPr>
          <a:xfrm>
            <a:off x="10951077" y="3798400"/>
            <a:ext cx="0" cy="203249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87" name="Straight Arrow Connector 286">
            <a:extLst>
              <a:ext uri="{FF2B5EF4-FFF2-40B4-BE49-F238E27FC236}">
                <a16:creationId xmlns:a16="http://schemas.microsoft.com/office/drawing/2014/main" id="{85E9C21B-4AF0-DF89-EB7C-55BE5E3AF793}"/>
              </a:ext>
            </a:extLst>
          </p:cNvPr>
          <p:cNvCxnSpPr>
            <a:cxnSpLocks/>
          </p:cNvCxnSpPr>
          <p:nvPr/>
        </p:nvCxnSpPr>
        <p:spPr>
          <a:xfrm>
            <a:off x="10937509" y="4519776"/>
            <a:ext cx="0" cy="227202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88" name="Straight Arrow Connector 287">
            <a:extLst>
              <a:ext uri="{FF2B5EF4-FFF2-40B4-BE49-F238E27FC236}">
                <a16:creationId xmlns:a16="http://schemas.microsoft.com/office/drawing/2014/main" id="{E5F51971-1D48-0F92-82C2-BF1D8742365B}"/>
              </a:ext>
            </a:extLst>
          </p:cNvPr>
          <p:cNvCxnSpPr>
            <a:cxnSpLocks/>
          </p:cNvCxnSpPr>
          <p:nvPr/>
        </p:nvCxnSpPr>
        <p:spPr>
          <a:xfrm>
            <a:off x="10951077" y="5348786"/>
            <a:ext cx="0" cy="203249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8" name="Connector: Elbow 307">
            <a:extLst>
              <a:ext uri="{FF2B5EF4-FFF2-40B4-BE49-F238E27FC236}">
                <a16:creationId xmlns:a16="http://schemas.microsoft.com/office/drawing/2014/main" id="{2BD0E2B5-6609-05A2-7BC2-EF2B6DC526CC}"/>
              </a:ext>
            </a:extLst>
          </p:cNvPr>
          <p:cNvCxnSpPr>
            <a:cxnSpLocks/>
            <a:endCxn id="108" idx="0"/>
          </p:cNvCxnSpPr>
          <p:nvPr/>
        </p:nvCxnSpPr>
        <p:spPr>
          <a:xfrm flipV="1">
            <a:off x="4459143" y="2806121"/>
            <a:ext cx="6495199" cy="1421068"/>
          </a:xfrm>
          <a:prstGeom prst="bentConnector4">
            <a:avLst>
              <a:gd name="adj1" fmla="val 62184"/>
              <a:gd name="adj2" fmla="val 149689"/>
            </a:avLst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21" name="Rounded Rectangle 74">
            <a:extLst>
              <a:ext uri="{FF2B5EF4-FFF2-40B4-BE49-F238E27FC236}">
                <a16:creationId xmlns:a16="http://schemas.microsoft.com/office/drawing/2014/main" id="{5DB0890B-7411-0548-79DC-45F4F4F7AAE9}"/>
              </a:ext>
            </a:extLst>
          </p:cNvPr>
          <p:cNvSpPr/>
          <p:nvPr/>
        </p:nvSpPr>
        <p:spPr>
          <a:xfrm>
            <a:off x="9226308" y="5679343"/>
            <a:ext cx="896512" cy="602315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B6D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Redis </a:t>
            </a:r>
            <a:endParaRPr dirty="0"/>
          </a:p>
        </p:txBody>
      </p:sp>
      <p:pic>
        <p:nvPicPr>
          <p:cNvPr id="323" name="Picture 322">
            <a:extLst>
              <a:ext uri="{FF2B5EF4-FFF2-40B4-BE49-F238E27FC236}">
                <a16:creationId xmlns:a16="http://schemas.microsoft.com/office/drawing/2014/main" id="{8CC5F7B8-945A-820E-14A7-254795914B3A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381376" y="5685703"/>
            <a:ext cx="427416" cy="367490"/>
          </a:xfrm>
          <a:prstGeom prst="rect">
            <a:avLst/>
          </a:prstGeom>
        </p:spPr>
      </p:pic>
      <p:sp>
        <p:nvSpPr>
          <p:cNvPr id="325" name="TextBox 324">
            <a:extLst>
              <a:ext uri="{FF2B5EF4-FFF2-40B4-BE49-F238E27FC236}">
                <a16:creationId xmlns:a16="http://schemas.microsoft.com/office/drawing/2014/main" id="{4259DF92-8AEC-51D5-DAEB-883CB3F420E1}"/>
              </a:ext>
            </a:extLst>
          </p:cNvPr>
          <p:cNvSpPr txBox="1"/>
          <p:nvPr/>
        </p:nvSpPr>
        <p:spPr>
          <a:xfrm>
            <a:off x="9231944" y="6014803"/>
            <a:ext cx="103706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100" b="1" dirty="0">
                <a:latin typeface="+mn-lt"/>
              </a:rPr>
              <a:t>Websocket</a:t>
            </a:r>
          </a:p>
        </p:txBody>
      </p:sp>
      <p:cxnSp>
        <p:nvCxnSpPr>
          <p:cNvPr id="333" name="Connector: Elbow 332">
            <a:extLst>
              <a:ext uri="{FF2B5EF4-FFF2-40B4-BE49-F238E27FC236}">
                <a16:creationId xmlns:a16="http://schemas.microsoft.com/office/drawing/2014/main" id="{0F530DAA-2801-CD30-C982-EFF8E0E2994E}"/>
              </a:ext>
            </a:extLst>
          </p:cNvPr>
          <p:cNvCxnSpPr>
            <a:endCxn id="323" idx="0"/>
          </p:cNvCxnSpPr>
          <p:nvPr/>
        </p:nvCxnSpPr>
        <p:spPr>
          <a:xfrm rot="5400000">
            <a:off x="9461648" y="4815925"/>
            <a:ext cx="1076334" cy="650502"/>
          </a:xfrm>
          <a:prstGeom prst="bentConnector3">
            <a:avLst>
              <a:gd name="adj1" fmla="val 36149"/>
            </a:avLst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36" name="Straight Arrow Connector 335">
            <a:extLst>
              <a:ext uri="{FF2B5EF4-FFF2-40B4-BE49-F238E27FC236}">
                <a16:creationId xmlns:a16="http://schemas.microsoft.com/office/drawing/2014/main" id="{F5C9CCF2-B491-80E9-0461-D8C4C1C2F92C}"/>
              </a:ext>
            </a:extLst>
          </p:cNvPr>
          <p:cNvCxnSpPr/>
          <p:nvPr/>
        </p:nvCxnSpPr>
        <p:spPr>
          <a:xfrm>
            <a:off x="10128456" y="4990864"/>
            <a:ext cx="209040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37" name="Straight Arrow Connector 336">
            <a:extLst>
              <a:ext uri="{FF2B5EF4-FFF2-40B4-BE49-F238E27FC236}">
                <a16:creationId xmlns:a16="http://schemas.microsoft.com/office/drawing/2014/main" id="{F034D302-7B90-A4FE-C235-3E40850CC40C}"/>
              </a:ext>
            </a:extLst>
          </p:cNvPr>
          <p:cNvCxnSpPr/>
          <p:nvPr/>
        </p:nvCxnSpPr>
        <p:spPr>
          <a:xfrm>
            <a:off x="10128456" y="4285606"/>
            <a:ext cx="209040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38" name="TextBox 337">
            <a:extLst>
              <a:ext uri="{FF2B5EF4-FFF2-40B4-BE49-F238E27FC236}">
                <a16:creationId xmlns:a16="http://schemas.microsoft.com/office/drawing/2014/main" id="{02EF9795-B172-2E7A-4C7B-260A66A70A0C}"/>
              </a:ext>
            </a:extLst>
          </p:cNvPr>
          <p:cNvSpPr txBox="1"/>
          <p:nvPr/>
        </p:nvSpPr>
        <p:spPr>
          <a:xfrm rot="16200000">
            <a:off x="9394805" y="5169383"/>
            <a:ext cx="3995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live</a:t>
            </a:r>
            <a:endParaRPr lang="en-IN" sz="1200" dirty="0"/>
          </a:p>
        </p:txBody>
      </p:sp>
      <p:sp>
        <p:nvSpPr>
          <p:cNvPr id="339" name="TextBox 338">
            <a:extLst>
              <a:ext uri="{FF2B5EF4-FFF2-40B4-BE49-F238E27FC236}">
                <a16:creationId xmlns:a16="http://schemas.microsoft.com/office/drawing/2014/main" id="{5B0C66B7-89F9-C78D-C5E2-7782A3C63A04}"/>
              </a:ext>
            </a:extLst>
          </p:cNvPr>
          <p:cNvSpPr txBox="1"/>
          <p:nvPr/>
        </p:nvSpPr>
        <p:spPr>
          <a:xfrm>
            <a:off x="9643791" y="4769000"/>
            <a:ext cx="5579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status</a:t>
            </a:r>
            <a:endParaRPr lang="en-IN" sz="1200" dirty="0"/>
          </a:p>
        </p:txBody>
      </p:sp>
      <p:sp>
        <p:nvSpPr>
          <p:cNvPr id="341" name="TextBox 340">
            <a:extLst>
              <a:ext uri="{FF2B5EF4-FFF2-40B4-BE49-F238E27FC236}">
                <a16:creationId xmlns:a16="http://schemas.microsoft.com/office/drawing/2014/main" id="{15C3CB6B-D73A-F5BE-5676-370A606D82E6}"/>
              </a:ext>
            </a:extLst>
          </p:cNvPr>
          <p:cNvSpPr txBox="1"/>
          <p:nvPr/>
        </p:nvSpPr>
        <p:spPr>
          <a:xfrm rot="18320691">
            <a:off x="9585001" y="5133761"/>
            <a:ext cx="80550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/>
              <a:t>frontend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C4D369-8185-43C5-75D1-7D324C7E3774}"/>
              </a:ext>
            </a:extLst>
          </p:cNvPr>
          <p:cNvSpPr txBox="1"/>
          <p:nvPr/>
        </p:nvSpPr>
        <p:spPr>
          <a:xfrm>
            <a:off x="1377447" y="99513"/>
            <a:ext cx="101757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b="1" dirty="0">
                <a:latin typeface="+mj-lt"/>
              </a:rPr>
              <a:t>Rule 19 &amp; Rule 21 : Premises Context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F0A75D6-2F33-4F38-8266-96E8F148FDF3}"/>
              </a:ext>
            </a:extLst>
          </p:cNvPr>
          <p:cNvSpPr txBox="1"/>
          <p:nvPr/>
        </p:nvSpPr>
        <p:spPr>
          <a:xfrm>
            <a:off x="9050057" y="181998"/>
            <a:ext cx="109224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b="1" dirty="0"/>
              <a:t>Rule 11, 12 &amp; 13 : Standard Units &amp; Phrasing</a:t>
            </a:r>
          </a:p>
          <a:p>
            <a:r>
              <a:rPr lang="en-IN" sz="1200" dirty="0"/>
              <a:t> 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B998D8E-5498-092D-F139-E27F40980F13}"/>
              </a:ext>
            </a:extLst>
          </p:cNvPr>
          <p:cNvSpPr txBox="1"/>
          <p:nvPr/>
        </p:nvSpPr>
        <p:spPr>
          <a:xfrm>
            <a:off x="2251303" y="87165"/>
            <a:ext cx="155358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800" dirty="0"/>
              <a:t>Inspections must be tied to a physical location (Factory under Rule 19, or Retail Shop under Rule 21)</a:t>
            </a:r>
            <a:endParaRPr lang="en-IN" sz="105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53C029E-E9C2-BA39-0BED-1A07D705ECD2}"/>
              </a:ext>
            </a:extLst>
          </p:cNvPr>
          <p:cNvSpPr txBox="1"/>
          <p:nvPr/>
        </p:nvSpPr>
        <p:spPr>
          <a:xfrm>
            <a:off x="5824387" y="4504525"/>
            <a:ext cx="788564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1000" b="1" dirty="0">
                <a:latin typeface="+mj-lt"/>
              </a:rPr>
              <a:t>A dealer cannot alter, smudge, or paste a new sticker over the printed MRP, nor sell above it.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6AFECFEA-A22B-2B4C-D108-8133AFC0632A}"/>
              </a:ext>
            </a:extLst>
          </p:cNvPr>
          <p:cNvSpPr txBox="1"/>
          <p:nvPr/>
        </p:nvSpPr>
        <p:spPr>
          <a:xfrm>
            <a:off x="6133972" y="4050209"/>
            <a:ext cx="251179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800" dirty="0"/>
              <a:t>PMM=Wmarker_px/Wmarker_mm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998FF5E8-E5ED-F6CB-BDF4-5E8E025425D9}"/>
              </a:ext>
            </a:extLst>
          </p:cNvPr>
          <p:cNvSpPr txBox="1"/>
          <p:nvPr/>
        </p:nvSpPr>
        <p:spPr>
          <a:xfrm>
            <a:off x="6212201" y="2230322"/>
            <a:ext cx="182132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dirty="0"/>
              <a:t>Hfont,mm=Hchar,px/PMM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0EEF22E6-8561-36F6-E17F-A2B580184FCE}"/>
                  </a:ext>
                </a:extLst>
              </p:cNvPr>
              <p:cNvSpPr txBox="1"/>
              <p:nvPr/>
            </p:nvSpPr>
            <p:spPr>
              <a:xfrm>
                <a:off x="6096001" y="2382577"/>
                <a:ext cx="2013472" cy="4247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IN" sz="1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0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IN" sz="1000" i="1">
                            <a:latin typeface="Cambria Math" panose="02040503050406030204" pitchFamily="18" charset="0"/>
                          </a:rPr>
                          <m:t>𝑓𝑜𝑛𝑡</m:t>
                        </m:r>
                        <m:r>
                          <a:rPr lang="en-IN" sz="1000" i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1000" i="1">
                            <a:latin typeface="Cambria Math" panose="02040503050406030204" pitchFamily="18" charset="0"/>
                          </a:rPr>
                          <m:t>𝑚𝑚</m:t>
                        </m:r>
                      </m:sub>
                    </m:sSub>
                    <m:r>
                      <a:rPr lang="en-US" sz="1000" b="0" i="1" smtClean="0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IN" sz="1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0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IN" sz="1000" i="1">
                            <a:latin typeface="Cambria Math" panose="02040503050406030204" pitchFamily="18" charset="0"/>
                          </a:rPr>
                          <m:t>𝑠𝑡𝑎𝑡𝑢𝑡𝑜𝑟𝑦</m:t>
                        </m:r>
                        <m:r>
                          <a:rPr lang="en-IN" sz="1000" i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1000" i="1">
                            <a:latin typeface="Cambria Math" panose="02040503050406030204" pitchFamily="18" charset="0"/>
                          </a:rPr>
                          <m:t>𝑚𝑖𝑛</m:t>
                        </m:r>
                      </m:sub>
                    </m:sSub>
                    <m:r>
                      <a:rPr lang="en-US" sz="10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IN" sz="1000" dirty="0">
                    <a:effectLst/>
                  </a:rPr>
                  <a:t> </a:t>
                </a:r>
                <a:r>
                  <a:rPr lang="en-IN" sz="1000" b="1" dirty="0">
                    <a:effectLst/>
                  </a:rPr>
                  <a:t>PASS</a:t>
                </a:r>
                <a:endParaRPr lang="en-IN" sz="1000" dirty="0"/>
              </a:p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IN" sz="1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0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IN" sz="1000" i="1">
                            <a:latin typeface="Cambria Math" panose="02040503050406030204" pitchFamily="18" charset="0"/>
                          </a:rPr>
                          <m:t>𝑓𝑜𝑛𝑡</m:t>
                        </m:r>
                        <m:r>
                          <a:rPr lang="en-IN" sz="1000" i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1000" i="1">
                            <a:latin typeface="Cambria Math" panose="02040503050406030204" pitchFamily="18" charset="0"/>
                          </a:rPr>
                          <m:t>𝑚𝑚</m:t>
                        </m:r>
                      </m:sub>
                    </m:sSub>
                    <m:r>
                      <a:rPr lang="en-US" sz="1000" b="0" i="0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IN" sz="1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0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IN" sz="1000" i="1">
                            <a:latin typeface="Cambria Math" panose="02040503050406030204" pitchFamily="18" charset="0"/>
                          </a:rPr>
                          <m:t>𝑠𝑡𝑎𝑡𝑢𝑡𝑜𝑟𝑦</m:t>
                        </m:r>
                        <m:r>
                          <a:rPr lang="en-IN" sz="1000" i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1000" i="1">
                            <a:latin typeface="Cambria Math" panose="02040503050406030204" pitchFamily="18" charset="0"/>
                          </a:rPr>
                          <m:t>𝑚𝑖𝑛</m:t>
                        </m:r>
                      </m:sub>
                    </m:sSub>
                    <m:r>
                      <a:rPr lang="en-US" sz="1000" b="0" i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IN" sz="1000" b="1" dirty="0">
                    <a:effectLst/>
                  </a:rPr>
                  <a:t>FAIL</a:t>
                </a:r>
                <a:endParaRPr lang="en-IN" sz="1000" dirty="0"/>
              </a:p>
            </p:txBody>
          </p:sp>
        </mc:Choice>
        <mc:Fallback xmlns="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0EEF22E6-8561-36F6-E17F-A2B580184F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1" y="2382577"/>
                <a:ext cx="2013472" cy="424732"/>
              </a:xfrm>
              <a:prstGeom prst="rect">
                <a:avLst/>
              </a:prstGeom>
              <a:blipFill>
                <a:blip r:embed="rId25"/>
                <a:stretch>
                  <a:fillRect b="-428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0" name="Connector: Elbow 129">
            <a:extLst>
              <a:ext uri="{FF2B5EF4-FFF2-40B4-BE49-F238E27FC236}">
                <a16:creationId xmlns:a16="http://schemas.microsoft.com/office/drawing/2014/main" id="{47F473EF-B733-EFCA-4357-9C660CC5C4A3}"/>
              </a:ext>
            </a:extLst>
          </p:cNvPr>
          <p:cNvCxnSpPr>
            <a:cxnSpLocks/>
            <a:stCxn id="20" idx="0"/>
            <a:endCxn id="10" idx="2"/>
          </p:cNvCxnSpPr>
          <p:nvPr/>
        </p:nvCxnSpPr>
        <p:spPr>
          <a:xfrm rot="5400000" flipH="1" flipV="1">
            <a:off x="1023741" y="303794"/>
            <a:ext cx="512775" cy="1212210"/>
          </a:xfrm>
          <a:prstGeom prst="bentConnector3">
            <a:avLst>
              <a:gd name="adj1" fmla="val 77136"/>
            </a:avLst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6" name="Connector: Elbow 155">
            <a:extLst>
              <a:ext uri="{FF2B5EF4-FFF2-40B4-BE49-F238E27FC236}">
                <a16:creationId xmlns:a16="http://schemas.microsoft.com/office/drawing/2014/main" id="{F2FB711D-7523-A6A9-807A-D8B3F936C826}"/>
              </a:ext>
            </a:extLst>
          </p:cNvPr>
          <p:cNvCxnSpPr>
            <a:cxnSpLocks/>
          </p:cNvCxnSpPr>
          <p:nvPr/>
        </p:nvCxnSpPr>
        <p:spPr>
          <a:xfrm flipV="1">
            <a:off x="11467451" y="1606756"/>
            <a:ext cx="510092" cy="2921160"/>
          </a:xfrm>
          <a:prstGeom prst="bentConnector3">
            <a:avLst>
              <a:gd name="adj1" fmla="val 126889"/>
            </a:avLst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11944CA3-8D10-AE1A-5B9D-333C1FFC32E6}"/>
              </a:ext>
            </a:extLst>
          </p:cNvPr>
          <p:cNvSpPr txBox="1"/>
          <p:nvPr/>
        </p:nvSpPr>
        <p:spPr>
          <a:xfrm>
            <a:off x="9049994" y="801270"/>
            <a:ext cx="993185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1000" dirty="0">
                <a:latin typeface="+mj-lt"/>
              </a:rPr>
              <a:t>Quantity must be in metric units (g, kg, ml, L). Vague terms like "approx" or "minimum" are strictly banned</a:t>
            </a:r>
            <a:r>
              <a:rPr lang="en-IN" sz="1050" dirty="0">
                <a:latin typeface="+mj-lt"/>
              </a:rPr>
              <a:t>.</a:t>
            </a:r>
            <a:endParaRPr lang="en-IN" sz="1200" dirty="0">
              <a:latin typeface="+mj-lt"/>
            </a:endParaRPr>
          </a:p>
        </p:txBody>
      </p:sp>
      <p:cxnSp>
        <p:nvCxnSpPr>
          <p:cNvPr id="184" name="Straight Connector 183">
            <a:extLst>
              <a:ext uri="{FF2B5EF4-FFF2-40B4-BE49-F238E27FC236}">
                <a16:creationId xmlns:a16="http://schemas.microsoft.com/office/drawing/2014/main" id="{58B81D80-482B-E00C-A120-A7D5CD744124}"/>
              </a:ext>
            </a:extLst>
          </p:cNvPr>
          <p:cNvCxnSpPr>
            <a:cxnSpLocks/>
          </p:cNvCxnSpPr>
          <p:nvPr/>
        </p:nvCxnSpPr>
        <p:spPr>
          <a:xfrm flipH="1">
            <a:off x="10049755" y="1503575"/>
            <a:ext cx="350854" cy="0"/>
          </a:xfrm>
          <a:prstGeom prst="line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94" name="TextBox 193">
            <a:extLst>
              <a:ext uri="{FF2B5EF4-FFF2-40B4-BE49-F238E27FC236}">
                <a16:creationId xmlns:a16="http://schemas.microsoft.com/office/drawing/2014/main" id="{A531BD4D-3CE6-251F-8302-36AC3B88B59B}"/>
              </a:ext>
            </a:extLst>
          </p:cNvPr>
          <p:cNvSpPr txBox="1"/>
          <p:nvPr/>
        </p:nvSpPr>
        <p:spPr>
          <a:xfrm rot="16200000">
            <a:off x="7638309" y="3349893"/>
            <a:ext cx="154241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800" b="1" dirty="0"/>
              <a:t>Physical Font Height Calculation</a:t>
            </a:r>
          </a:p>
        </p:txBody>
      </p:sp>
      <p:sp>
        <p:nvSpPr>
          <p:cNvPr id="81" name="Rounded Rectangle 56">
            <a:extLst>
              <a:ext uri="{FF2B5EF4-FFF2-40B4-BE49-F238E27FC236}">
                <a16:creationId xmlns:a16="http://schemas.microsoft.com/office/drawing/2014/main" id="{D49723CA-940B-176F-E84D-ED3A9434ACEE}"/>
              </a:ext>
            </a:extLst>
          </p:cNvPr>
          <p:cNvSpPr/>
          <p:nvPr/>
        </p:nvSpPr>
        <p:spPr>
          <a:xfrm>
            <a:off x="4933149" y="4013292"/>
            <a:ext cx="1147753" cy="345521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10160">
            <a:solidFill>
              <a:srgbClr val="2F6E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5773CD3-8A4C-27CD-D1ED-A20A9BBF1DCF}"/>
              </a:ext>
            </a:extLst>
          </p:cNvPr>
          <p:cNvSpPr txBox="1"/>
          <p:nvPr/>
        </p:nvSpPr>
        <p:spPr>
          <a:xfrm>
            <a:off x="4943982" y="4007196"/>
            <a:ext cx="121366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800" b="1" dirty="0">
                <a:latin typeface="+mj-lt"/>
              </a:rPr>
              <a:t>Rule 7 (Table-I &amp; II) N : Numeral &amp; Font Height</a:t>
            </a:r>
          </a:p>
        </p:txBody>
      </p:sp>
      <p:pic>
        <p:nvPicPr>
          <p:cNvPr id="207" name="Picture 206">
            <a:extLst>
              <a:ext uri="{FF2B5EF4-FFF2-40B4-BE49-F238E27FC236}">
                <a16:creationId xmlns:a16="http://schemas.microsoft.com/office/drawing/2014/main" id="{935D1081-9AF9-9D30-042E-31377ED32146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149" y="5073462"/>
            <a:ext cx="946620" cy="1189471"/>
          </a:xfrm>
          <a:prstGeom prst="rect">
            <a:avLst/>
          </a:prstGeom>
        </p:spPr>
      </p:pic>
      <p:pic>
        <p:nvPicPr>
          <p:cNvPr id="209" name="Picture 208">
            <a:extLst>
              <a:ext uri="{FF2B5EF4-FFF2-40B4-BE49-F238E27FC236}">
                <a16:creationId xmlns:a16="http://schemas.microsoft.com/office/drawing/2014/main" id="{D8268295-5CE9-3609-22D7-69BA46405045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31976" y="5080527"/>
            <a:ext cx="944855" cy="1192078"/>
          </a:xfrm>
          <a:prstGeom prst="rect">
            <a:avLst/>
          </a:prstGeom>
        </p:spPr>
      </p:pic>
      <p:sp>
        <p:nvSpPr>
          <p:cNvPr id="218" name="TextBox 217">
            <a:extLst>
              <a:ext uri="{FF2B5EF4-FFF2-40B4-BE49-F238E27FC236}">
                <a16:creationId xmlns:a16="http://schemas.microsoft.com/office/drawing/2014/main" id="{B56F8006-ECFE-C1ED-B8EB-0547F752CD13}"/>
              </a:ext>
            </a:extLst>
          </p:cNvPr>
          <p:cNvSpPr txBox="1"/>
          <p:nvPr/>
        </p:nvSpPr>
        <p:spPr>
          <a:xfrm>
            <a:off x="2363230" y="5035060"/>
            <a:ext cx="1795026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100" b="1" dirty="0">
                <a:latin typeface="+mj-lt"/>
              </a:rPr>
              <a:t>Rule 22:package's net weight falls</a:t>
            </a:r>
          </a:p>
          <a:p>
            <a:r>
              <a:rPr lang="en-IN" sz="1200" dirty="0"/>
              <a:t> </a:t>
            </a:r>
            <a:endParaRPr lang="en-IN" dirty="0"/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5765EE94-0C1F-6113-0D8D-3DC26990FE91}"/>
              </a:ext>
            </a:extLst>
          </p:cNvPr>
          <p:cNvSpPr txBox="1"/>
          <p:nvPr/>
        </p:nvSpPr>
        <p:spPr>
          <a:xfrm>
            <a:off x="2226891" y="5435256"/>
            <a:ext cx="2139369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050" dirty="0">
                <a:latin typeface="+mj-lt"/>
              </a:rPr>
              <a:t>Allowed Deficit</a:t>
            </a:r>
          </a:p>
          <a:p>
            <a:pPr algn="ctr"/>
            <a:r>
              <a:rPr lang="en-IN" sz="1050" dirty="0">
                <a:latin typeface="+mj-lt"/>
              </a:rPr>
              <a:t>=Declared Quantity×(MPE%/100)</a:t>
            </a:r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33ACF7B8-244D-E1FC-9094-3AFA411F40C0}"/>
              </a:ext>
            </a:extLst>
          </p:cNvPr>
          <p:cNvSpPr txBox="1"/>
          <p:nvPr/>
        </p:nvSpPr>
        <p:spPr>
          <a:xfrm>
            <a:off x="1964942" y="5880690"/>
            <a:ext cx="2653754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050" dirty="0">
                <a:latin typeface="+mj-lt"/>
              </a:rPr>
              <a:t>Minimum Legal Weight</a:t>
            </a:r>
          </a:p>
          <a:p>
            <a:pPr algn="ctr"/>
            <a:r>
              <a:rPr lang="en-IN" sz="1050" dirty="0">
                <a:latin typeface="+mj-lt"/>
              </a:rPr>
              <a:t>=Declared Quantity−Allowed Deficit</a:t>
            </a:r>
          </a:p>
        </p:txBody>
      </p:sp>
      <p:sp>
        <p:nvSpPr>
          <p:cNvPr id="236" name="Arrow: Right 235">
            <a:extLst>
              <a:ext uri="{FF2B5EF4-FFF2-40B4-BE49-F238E27FC236}">
                <a16:creationId xmlns:a16="http://schemas.microsoft.com/office/drawing/2014/main" id="{132FB831-CF47-38EA-DCDB-18FD679D9AA6}"/>
              </a:ext>
            </a:extLst>
          </p:cNvPr>
          <p:cNvSpPr/>
          <p:nvPr/>
        </p:nvSpPr>
        <p:spPr>
          <a:xfrm>
            <a:off x="1859478" y="5577834"/>
            <a:ext cx="348076" cy="258495"/>
          </a:xfrm>
          <a:prstGeom prst="rightArrow">
            <a:avLst/>
          </a:prstGeom>
          <a:solidFill>
            <a:schemeClr val="bg1"/>
          </a:solidFill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8" name="Rounded Rectangle 16">
            <a:extLst>
              <a:ext uri="{FF2B5EF4-FFF2-40B4-BE49-F238E27FC236}">
                <a16:creationId xmlns:a16="http://schemas.microsoft.com/office/drawing/2014/main" id="{7F4B09E0-7166-CAB3-FB0C-6C2BA95D7825}"/>
              </a:ext>
            </a:extLst>
          </p:cNvPr>
          <p:cNvSpPr/>
          <p:nvPr/>
        </p:nvSpPr>
        <p:spPr>
          <a:xfrm>
            <a:off x="10363794" y="897979"/>
            <a:ext cx="1631327" cy="1135925"/>
          </a:xfrm>
          <a:prstGeom prst="roundRect">
            <a:avLst/>
          </a:prstGeom>
          <a:solidFill>
            <a:srgbClr val="FFFFFF"/>
          </a:solidFill>
          <a:ln w="11430">
            <a:solidFill>
              <a:schemeClr val="accent6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4" name="Rounded Rectangle 50">
            <a:extLst>
              <a:ext uri="{FF2B5EF4-FFF2-40B4-BE49-F238E27FC236}">
                <a16:creationId xmlns:a16="http://schemas.microsoft.com/office/drawing/2014/main" id="{403DE608-48E8-9EB0-DD8E-78628785585E}"/>
              </a:ext>
            </a:extLst>
          </p:cNvPr>
          <p:cNvSpPr/>
          <p:nvPr/>
        </p:nvSpPr>
        <p:spPr>
          <a:xfrm>
            <a:off x="10223514" y="808499"/>
            <a:ext cx="1871412" cy="319909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10160">
            <a:solidFill>
              <a:srgbClr val="F59B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0D54FAB-AACA-BC4D-1CAB-C207437E41AF}"/>
              </a:ext>
            </a:extLst>
          </p:cNvPr>
          <p:cNvSpPr txBox="1"/>
          <p:nvPr/>
        </p:nvSpPr>
        <p:spPr>
          <a:xfrm>
            <a:off x="10191220" y="848420"/>
            <a:ext cx="194563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800" b="1" dirty="0">
                <a:latin typeface="+mj-lt"/>
              </a:rPr>
              <a:t>Rule 6(1)(a to f) : </a:t>
            </a:r>
            <a:r>
              <a:rPr lang="en-IN" sz="800" b="1" dirty="0"/>
              <a:t>Mandatory Declarations</a:t>
            </a:r>
            <a:r>
              <a:rPr lang="en-IN" sz="800" b="1" dirty="0">
                <a:latin typeface="+mj-lt"/>
              </a:rPr>
              <a:t>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FF7D2ED-6020-A8C8-60D4-FD273BAE6CC5}"/>
              </a:ext>
            </a:extLst>
          </p:cNvPr>
          <p:cNvSpPr txBox="1"/>
          <p:nvPr/>
        </p:nvSpPr>
        <p:spPr>
          <a:xfrm>
            <a:off x="10462087" y="1143343"/>
            <a:ext cx="151117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900" dirty="0">
                <a:latin typeface="+mj-lt"/>
              </a:rPr>
              <a:t>Label must show Manufacturer Name/Address, Generic Name, Net Qty, Date, MRP (incl. of all taxes), and Consumer Care details.</a:t>
            </a:r>
          </a:p>
        </p:txBody>
      </p:sp>
      <p:sp>
        <p:nvSpPr>
          <p:cNvPr id="3" name="Rounded Rectangle 16">
            <a:extLst>
              <a:ext uri="{FF2B5EF4-FFF2-40B4-BE49-F238E27FC236}">
                <a16:creationId xmlns:a16="http://schemas.microsoft.com/office/drawing/2014/main" id="{F0343EAD-8B5F-F548-68B3-CD33E506922E}"/>
              </a:ext>
            </a:extLst>
          </p:cNvPr>
          <p:cNvSpPr/>
          <p:nvPr/>
        </p:nvSpPr>
        <p:spPr>
          <a:xfrm>
            <a:off x="2718486" y="695456"/>
            <a:ext cx="2564296" cy="1012213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235D3E8-6AEC-1C3D-EF03-97D1D38C433B}"/>
              </a:ext>
            </a:extLst>
          </p:cNvPr>
          <p:cNvPicPr>
            <a:picLocks noChangeAspect="1"/>
          </p:cNvPicPr>
          <p:nvPr/>
        </p:nvPicPr>
        <p:blipFill>
          <a:blip r:embed="rId28"/>
          <a:srcRect l="-3131" t="-14882" r="7916" b="12409"/>
          <a:stretch>
            <a:fillRect/>
          </a:stretch>
        </p:blipFill>
        <p:spPr>
          <a:xfrm>
            <a:off x="2645880" y="729699"/>
            <a:ext cx="895192" cy="89519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D850A3A-CDA7-2765-C88B-FA34BA02BA7E}"/>
              </a:ext>
            </a:extLst>
          </p:cNvPr>
          <p:cNvSpPr txBox="1"/>
          <p:nvPr/>
        </p:nvSpPr>
        <p:spPr>
          <a:xfrm>
            <a:off x="3603240" y="962352"/>
            <a:ext cx="1500924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1. Related Details</a:t>
            </a:r>
            <a:br>
              <a:rPr lang="en-US" sz="1400" dirty="0"/>
            </a:br>
            <a:r>
              <a:rPr lang="en-US" sz="1400" dirty="0"/>
              <a:t>2. Capture Images</a:t>
            </a:r>
            <a:br>
              <a:rPr lang="en-US" sz="1400" dirty="0"/>
            </a:br>
            <a:r>
              <a:rPr lang="en-US" sz="1400" dirty="0"/>
              <a:t>3. Submit</a:t>
            </a:r>
            <a:endParaRPr lang="en-IN" sz="1400" dirty="0"/>
          </a:p>
        </p:txBody>
      </p:sp>
      <p:sp>
        <p:nvSpPr>
          <p:cNvPr id="34" name="Rounded Rectangle 16">
            <a:extLst>
              <a:ext uri="{FF2B5EF4-FFF2-40B4-BE49-F238E27FC236}">
                <a16:creationId xmlns:a16="http://schemas.microsoft.com/office/drawing/2014/main" id="{83C80A92-0525-EBD7-4B26-BD2D1F6B96BC}"/>
              </a:ext>
            </a:extLst>
          </p:cNvPr>
          <p:cNvSpPr/>
          <p:nvPr/>
        </p:nvSpPr>
        <p:spPr>
          <a:xfrm>
            <a:off x="2677679" y="2808624"/>
            <a:ext cx="1918105" cy="834258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39" name="Picture 38" descr="New option to approve IT service requests | Newsroom | University of  Nebraska Medical Center">
            <a:extLst>
              <a:ext uri="{FF2B5EF4-FFF2-40B4-BE49-F238E27FC236}">
                <a16:creationId xmlns:a16="http://schemas.microsoft.com/office/drawing/2014/main" id="{F7D20B8D-C08B-6017-C34A-8C0A6660D7DA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BEBA8EAE-BF5A-486C-A8C5-ECC9F3942E4B}">
                <a14:imgProps xmlns:a14="http://schemas.microsoft.com/office/drawing/2010/main">
                  <a14:imgLayer r:embed="rId30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b="5344"/>
          <a:stretch>
            <a:fillRect/>
          </a:stretch>
        </p:blipFill>
        <p:spPr>
          <a:xfrm>
            <a:off x="2634113" y="2992002"/>
            <a:ext cx="651676" cy="411234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D54EB8DB-E613-2890-8E9D-7C03DB34FC4B}"/>
              </a:ext>
            </a:extLst>
          </p:cNvPr>
          <p:cNvSpPr txBox="1"/>
          <p:nvPr/>
        </p:nvSpPr>
        <p:spPr>
          <a:xfrm>
            <a:off x="3192413" y="2995722"/>
            <a:ext cx="13748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1. HEAT Map</a:t>
            </a:r>
          </a:p>
          <a:p>
            <a:r>
              <a:rPr lang="en-US" sz="1200" dirty="0"/>
              <a:t>2. Approval System</a:t>
            </a:r>
          </a:p>
          <a:p>
            <a:r>
              <a:rPr lang="en-IN" sz="1200" dirty="0"/>
              <a:t>3. Show KPI’S</a:t>
            </a:r>
          </a:p>
        </p:txBody>
      </p: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4279C844-9D42-110C-A38F-4D7CC4ECD2BF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224948" y="2521722"/>
            <a:ext cx="100279" cy="785130"/>
          </a:xfrm>
          <a:prstGeom prst="bentConnector4">
            <a:avLst>
              <a:gd name="adj1" fmla="val -227966"/>
              <a:gd name="adj2" fmla="val 89432"/>
            </a:avLst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2D1AF934-6372-180E-6BCC-2EE61BA87331}"/>
              </a:ext>
            </a:extLst>
          </p:cNvPr>
          <p:cNvSpPr txBox="1"/>
          <p:nvPr/>
        </p:nvSpPr>
        <p:spPr>
          <a:xfrm>
            <a:off x="1829194" y="3141298"/>
            <a:ext cx="85632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Google Map Apl</a:t>
            </a:r>
            <a:endParaRPr lang="en-IN" dirty="0"/>
          </a:p>
        </p:txBody>
      </p:sp>
      <p:cxnSp>
        <p:nvCxnSpPr>
          <p:cNvPr id="100" name="Connector: Elbow 99">
            <a:extLst>
              <a:ext uri="{FF2B5EF4-FFF2-40B4-BE49-F238E27FC236}">
                <a16:creationId xmlns:a16="http://schemas.microsoft.com/office/drawing/2014/main" id="{9EA9491B-5EA2-7360-EF9B-55A45ADF6295}"/>
              </a:ext>
            </a:extLst>
          </p:cNvPr>
          <p:cNvCxnSpPr>
            <a:cxnSpLocks/>
            <a:stCxn id="3" idx="0"/>
            <a:endCxn id="78" idx="0"/>
          </p:cNvCxnSpPr>
          <p:nvPr/>
        </p:nvCxnSpPr>
        <p:spPr>
          <a:xfrm rot="16200000" flipH="1">
            <a:off x="5589473" y="-893383"/>
            <a:ext cx="1732706" cy="4910385"/>
          </a:xfrm>
          <a:prstGeom prst="bentConnector3">
            <a:avLst>
              <a:gd name="adj1" fmla="val -8604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4" name="TextBox 103">
            <a:extLst>
              <a:ext uri="{FF2B5EF4-FFF2-40B4-BE49-F238E27FC236}">
                <a16:creationId xmlns:a16="http://schemas.microsoft.com/office/drawing/2014/main" id="{847669BC-0A8A-F7C9-CF16-ECC15BEDE1FB}"/>
              </a:ext>
            </a:extLst>
          </p:cNvPr>
          <p:cNvSpPr txBox="1"/>
          <p:nvPr/>
        </p:nvSpPr>
        <p:spPr>
          <a:xfrm>
            <a:off x="5754802" y="335505"/>
            <a:ext cx="17957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Inspector After Submition</a:t>
            </a:r>
            <a:endParaRPr lang="en-IN" sz="1200" dirty="0"/>
          </a:p>
        </p:txBody>
      </p:sp>
      <p:sp>
        <p:nvSpPr>
          <p:cNvPr id="85" name="Rounded Rectangle 63">
            <a:extLst>
              <a:ext uri="{FF2B5EF4-FFF2-40B4-BE49-F238E27FC236}">
                <a16:creationId xmlns:a16="http://schemas.microsoft.com/office/drawing/2014/main" id="{C11F409B-51A2-6D3A-EAD0-6F6025F397BF}"/>
              </a:ext>
            </a:extLst>
          </p:cNvPr>
          <p:cNvSpPr/>
          <p:nvPr/>
        </p:nvSpPr>
        <p:spPr>
          <a:xfrm>
            <a:off x="6918313" y="6388310"/>
            <a:ext cx="1398901" cy="17640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rgbClr val="B6D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F97077F-DB31-7BF4-85C0-45DB5FDF9184}"/>
              </a:ext>
            </a:extLst>
          </p:cNvPr>
          <p:cNvSpPr txBox="1"/>
          <p:nvPr/>
        </p:nvSpPr>
        <p:spPr>
          <a:xfrm>
            <a:off x="6851633" y="6359523"/>
            <a:ext cx="1566396" cy="21544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en-IN" sz="800" b="1" dirty="0">
                <a:latin typeface="+mj-lt"/>
              </a:rPr>
              <a:t>Rule 8 &amp; 9 : Legibility &amp; Contrast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A5555C24-F63C-7D3B-67FB-9330F2F9807B}"/>
              </a:ext>
            </a:extLst>
          </p:cNvPr>
          <p:cNvSpPr txBox="1"/>
          <p:nvPr/>
        </p:nvSpPr>
        <p:spPr>
          <a:xfrm>
            <a:off x="6756709" y="5303042"/>
            <a:ext cx="1708282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900" dirty="0">
                <a:latin typeface="+mj-lt"/>
              </a:rPr>
              <a:t>Text must "contrast conspicuously" with the background. The area around the Net Qty must be clear of graphics.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4D6A6900-2E64-A67F-DE5B-FD07360FCD05}"/>
              </a:ext>
            </a:extLst>
          </p:cNvPr>
          <p:cNvSpPr txBox="1"/>
          <p:nvPr/>
        </p:nvSpPr>
        <p:spPr>
          <a:xfrm>
            <a:off x="3180821" y="6321860"/>
            <a:ext cx="439669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800" b="1" dirty="0">
                <a:latin typeface="+mj-lt"/>
              </a:rPr>
              <a:t>Ensures text stands out clearly against the package background</a:t>
            </a:r>
            <a:endParaRPr lang="en-IN" b="1" dirty="0"/>
          </a:p>
        </p:txBody>
      </p:sp>
      <p:sp>
        <p:nvSpPr>
          <p:cNvPr id="162" name="Rounded Rectangle 47">
            <a:extLst>
              <a:ext uri="{FF2B5EF4-FFF2-40B4-BE49-F238E27FC236}">
                <a16:creationId xmlns:a16="http://schemas.microsoft.com/office/drawing/2014/main" id="{4CE3A635-5EAA-7454-380B-C24C903EDD8A}"/>
              </a:ext>
            </a:extLst>
          </p:cNvPr>
          <p:cNvSpPr/>
          <p:nvPr/>
        </p:nvSpPr>
        <p:spPr>
          <a:xfrm>
            <a:off x="4468734" y="5546030"/>
            <a:ext cx="1256398" cy="626813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10160">
            <a:solidFill>
              <a:srgbClr val="8A5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5E246B1-49A3-44B1-4565-714BAEA057D0}"/>
              </a:ext>
            </a:extLst>
          </p:cNvPr>
          <p:cNvSpPr txBox="1"/>
          <p:nvPr/>
        </p:nvSpPr>
        <p:spPr>
          <a:xfrm>
            <a:off x="4471259" y="5569604"/>
            <a:ext cx="126167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b="1" dirty="0">
                <a:latin typeface="+mj-lt"/>
              </a:rPr>
              <a:t>Rule 18(2) &amp; 18(5) : Retail Overpricing &amp; Tampering</a:t>
            </a:r>
          </a:p>
        </p:txBody>
      </p:sp>
      <p:pic>
        <p:nvPicPr>
          <p:cNvPr id="164" name="Picture 163" descr="True-Ally 3000Pcs Price Stickers, 38x25mm Self-Adhesive MRP Price Stickers,  Price Tags with Large Blank to Print or Write Pricing for Retail. (3 Roll  ...">
            <a:extLst>
              <a:ext uri="{FF2B5EF4-FFF2-40B4-BE49-F238E27FC236}">
                <a16:creationId xmlns:a16="http://schemas.microsoft.com/office/drawing/2014/main" id="{A58F0528-2FF6-4534-914E-9473B7FB3937}"/>
              </a:ext>
            </a:extLst>
          </p:cNvPr>
          <p:cNvPicPr>
            <a:picLocks noChangeAspect="1"/>
          </p:cNvPicPr>
          <p:nvPr/>
        </p:nvPicPr>
        <p:blipFill>
          <a:blip r:embed="rId31"/>
          <a:srcRect l="10552" t="15871" r="11160" b="24889"/>
          <a:stretch>
            <a:fillRect/>
          </a:stretch>
        </p:blipFill>
        <p:spPr>
          <a:xfrm>
            <a:off x="4533923" y="4549524"/>
            <a:ext cx="1217861" cy="1036267"/>
          </a:xfrm>
          <a:prstGeom prst="rect">
            <a:avLst/>
          </a:prstGeom>
        </p:spPr>
      </p:pic>
      <p:cxnSp>
        <p:nvCxnSpPr>
          <p:cNvPr id="182" name="Connector: Elbow 181">
            <a:extLst>
              <a:ext uri="{FF2B5EF4-FFF2-40B4-BE49-F238E27FC236}">
                <a16:creationId xmlns:a16="http://schemas.microsoft.com/office/drawing/2014/main" id="{2F12912E-8189-33AA-F76D-974CFEA52E95}"/>
              </a:ext>
            </a:extLst>
          </p:cNvPr>
          <p:cNvCxnSpPr>
            <a:cxnSpLocks/>
            <a:stCxn id="137" idx="2"/>
          </p:cNvCxnSpPr>
          <p:nvPr/>
        </p:nvCxnSpPr>
        <p:spPr>
          <a:xfrm rot="16200000" flipH="1">
            <a:off x="2395375" y="2833075"/>
            <a:ext cx="213930" cy="4134386"/>
          </a:xfrm>
          <a:prstGeom prst="bentConnector2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6" name="Connector: Elbow 195">
            <a:extLst>
              <a:ext uri="{FF2B5EF4-FFF2-40B4-BE49-F238E27FC236}">
                <a16:creationId xmlns:a16="http://schemas.microsoft.com/office/drawing/2014/main" id="{7926BAC2-CF4D-77F4-E9D4-C8C11A7EF0D9}"/>
              </a:ext>
            </a:extLst>
          </p:cNvPr>
          <p:cNvCxnSpPr>
            <a:cxnSpLocks/>
            <a:stCxn id="63" idx="3"/>
          </p:cNvCxnSpPr>
          <p:nvPr/>
        </p:nvCxnSpPr>
        <p:spPr>
          <a:xfrm>
            <a:off x="6612951" y="5397077"/>
            <a:ext cx="44375" cy="1095796"/>
          </a:xfrm>
          <a:prstGeom prst="bentConnector2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6" name="TextBox 205">
            <a:extLst>
              <a:ext uri="{FF2B5EF4-FFF2-40B4-BE49-F238E27FC236}">
                <a16:creationId xmlns:a16="http://schemas.microsoft.com/office/drawing/2014/main" id="{F89118AE-2C52-284A-D300-3C589508C201}"/>
              </a:ext>
            </a:extLst>
          </p:cNvPr>
          <p:cNvSpPr txBox="1"/>
          <p:nvPr/>
        </p:nvSpPr>
        <p:spPr>
          <a:xfrm>
            <a:off x="7131933" y="4341723"/>
            <a:ext cx="12911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MongoDB</a:t>
            </a:r>
            <a:endParaRPr lang="en-IN" sz="1400" b="1" dirty="0"/>
          </a:p>
        </p:txBody>
      </p:sp>
      <p:pic>
        <p:nvPicPr>
          <p:cNvPr id="214" name="Picture 213">
            <a:extLst>
              <a:ext uri="{FF2B5EF4-FFF2-40B4-BE49-F238E27FC236}">
                <a16:creationId xmlns:a16="http://schemas.microsoft.com/office/drawing/2014/main" id="{AEA0AC93-0DFE-A71F-2F40-A9D88EEE07F8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6783750" y="4341837"/>
            <a:ext cx="522344" cy="522344"/>
          </a:xfrm>
          <a:prstGeom prst="rect">
            <a:avLst/>
          </a:prstGeom>
        </p:spPr>
      </p:pic>
      <p:sp>
        <p:nvSpPr>
          <p:cNvPr id="220" name="TextBox 219">
            <a:extLst>
              <a:ext uri="{FF2B5EF4-FFF2-40B4-BE49-F238E27FC236}">
                <a16:creationId xmlns:a16="http://schemas.microsoft.com/office/drawing/2014/main" id="{0D32CF0D-A9E2-2D35-595F-8E52CE931324}"/>
              </a:ext>
            </a:extLst>
          </p:cNvPr>
          <p:cNvSpPr txBox="1"/>
          <p:nvPr/>
        </p:nvSpPr>
        <p:spPr>
          <a:xfrm>
            <a:off x="6745549" y="4808863"/>
            <a:ext cx="17125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Data Store JSON Format</a:t>
            </a:r>
            <a:endParaRPr lang="en-IN" sz="4000" b="1" dirty="0"/>
          </a:p>
        </p:txBody>
      </p:sp>
      <p:sp>
        <p:nvSpPr>
          <p:cNvPr id="262" name="PostgreSQL Title">
            <a:extLst>
              <a:ext uri="{FF2B5EF4-FFF2-40B4-BE49-F238E27FC236}">
                <a16:creationId xmlns:a16="http://schemas.microsoft.com/office/drawing/2014/main" id="{DB00A78C-AB87-6C45-4413-C0DC12B4B384}"/>
              </a:ext>
            </a:extLst>
          </p:cNvPr>
          <p:cNvSpPr txBox="1"/>
          <p:nvPr/>
        </p:nvSpPr>
        <p:spPr>
          <a:xfrm>
            <a:off x="7761121" y="603217"/>
            <a:ext cx="1310885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1400" b="1" dirty="0">
                <a:solidFill>
                  <a:srgbClr val="102A4E"/>
                </a:solidFill>
                <a:latin typeface="Aptos"/>
              </a:rPr>
              <a:t>PostgreSQL</a:t>
            </a:r>
            <a:endParaRPr lang="en-IN" sz="1500" b="1" dirty="0">
              <a:solidFill>
                <a:srgbClr val="102A4E"/>
              </a:solidFill>
              <a:latin typeface="Aptos"/>
            </a:endParaRPr>
          </a:p>
        </p:txBody>
      </p:sp>
      <p:pic>
        <p:nvPicPr>
          <p:cNvPr id="265" name="Graphic 264" descr="PostgreSQL - Wikipedia">
            <a:extLst>
              <a:ext uri="{FF2B5EF4-FFF2-40B4-BE49-F238E27FC236}">
                <a16:creationId xmlns:a16="http://schemas.microsoft.com/office/drawing/2014/main" id="{0EBBC7FC-2025-8EB2-FDD1-B83E4EBDDB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7584791" y="664602"/>
            <a:ext cx="248909" cy="256688"/>
          </a:xfrm>
          <a:prstGeom prst="rect">
            <a:avLst/>
          </a:prstGeom>
        </p:spPr>
      </p:pic>
      <p:sp>
        <p:nvSpPr>
          <p:cNvPr id="267" name="TextBox 266">
            <a:extLst>
              <a:ext uri="{FF2B5EF4-FFF2-40B4-BE49-F238E27FC236}">
                <a16:creationId xmlns:a16="http://schemas.microsoft.com/office/drawing/2014/main" id="{7BB6DA97-DE10-6C7B-BEE5-41B613B736B4}"/>
              </a:ext>
            </a:extLst>
          </p:cNvPr>
          <p:cNvSpPr txBox="1"/>
          <p:nvPr/>
        </p:nvSpPr>
        <p:spPr>
          <a:xfrm>
            <a:off x="7686893" y="857341"/>
            <a:ext cx="1095879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050" b="1" dirty="0">
                <a:latin typeface="+mj-lt"/>
              </a:rPr>
              <a:t>Store structured information</a:t>
            </a:r>
          </a:p>
        </p:txBody>
      </p:sp>
      <p:pic>
        <p:nvPicPr>
          <p:cNvPr id="253" name="Picture 252" descr="PostGIS">
            <a:extLst>
              <a:ext uri="{FF2B5EF4-FFF2-40B4-BE49-F238E27FC236}">
                <a16:creationId xmlns:a16="http://schemas.microsoft.com/office/drawing/2014/main" id="{4BC12968-2A0E-4ECA-2428-C778CD0EDB4E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7619552" y="1361582"/>
            <a:ext cx="948905" cy="326255"/>
          </a:xfrm>
          <a:prstGeom prst="rect">
            <a:avLst/>
          </a:prstGeom>
        </p:spPr>
      </p:pic>
      <p:sp>
        <p:nvSpPr>
          <p:cNvPr id="271" name="TextBox 270">
            <a:extLst>
              <a:ext uri="{FF2B5EF4-FFF2-40B4-BE49-F238E27FC236}">
                <a16:creationId xmlns:a16="http://schemas.microsoft.com/office/drawing/2014/main" id="{2A938057-8799-0D94-37F7-B43DCA963A97}"/>
              </a:ext>
            </a:extLst>
          </p:cNvPr>
          <p:cNvSpPr txBox="1"/>
          <p:nvPr/>
        </p:nvSpPr>
        <p:spPr>
          <a:xfrm>
            <a:off x="7601496" y="1640811"/>
            <a:ext cx="12563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/>
              <a:t>Store Inspection Location Coordinates</a:t>
            </a:r>
            <a:endParaRPr lang="en-IN" sz="900" b="1" dirty="0"/>
          </a:p>
        </p:txBody>
      </p:sp>
      <p:sp>
        <p:nvSpPr>
          <p:cNvPr id="275" name="TextBox 274">
            <a:extLst>
              <a:ext uri="{FF2B5EF4-FFF2-40B4-BE49-F238E27FC236}">
                <a16:creationId xmlns:a16="http://schemas.microsoft.com/office/drawing/2014/main" id="{B7F0628D-87AF-F806-A4AC-9EF521B1B225}"/>
              </a:ext>
            </a:extLst>
          </p:cNvPr>
          <p:cNvSpPr txBox="1"/>
          <p:nvPr/>
        </p:nvSpPr>
        <p:spPr>
          <a:xfrm>
            <a:off x="7591835" y="227380"/>
            <a:ext cx="139482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>
                <a:latin typeface="+mj-lt"/>
              </a:rPr>
              <a:t>Latitude, </a:t>
            </a:r>
            <a:r>
              <a:rPr lang="en-IN" sz="1200" dirty="0"/>
              <a:t>Longitude</a:t>
            </a:r>
          </a:p>
          <a:p>
            <a:endParaRPr lang="en-IN" sz="1100" dirty="0">
              <a:latin typeface="+mj-lt"/>
            </a:endParaRPr>
          </a:p>
        </p:txBody>
      </p:sp>
      <p:cxnSp>
        <p:nvCxnSpPr>
          <p:cNvPr id="280" name="Connector: Elbow 279">
            <a:extLst>
              <a:ext uri="{FF2B5EF4-FFF2-40B4-BE49-F238E27FC236}">
                <a16:creationId xmlns:a16="http://schemas.microsoft.com/office/drawing/2014/main" id="{69763B17-A52B-7C5F-337B-64C1A13855D0}"/>
              </a:ext>
            </a:extLst>
          </p:cNvPr>
          <p:cNvCxnSpPr>
            <a:cxnSpLocks/>
            <a:stCxn id="18" idx="3"/>
            <a:endCxn id="36" idx="0"/>
          </p:cNvCxnSpPr>
          <p:nvPr/>
        </p:nvCxnSpPr>
        <p:spPr>
          <a:xfrm>
            <a:off x="2619445" y="1968189"/>
            <a:ext cx="1142599" cy="854151"/>
          </a:xfrm>
          <a:prstGeom prst="bentConnector2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83" name="Straight Arrow Connector 282">
            <a:extLst>
              <a:ext uri="{FF2B5EF4-FFF2-40B4-BE49-F238E27FC236}">
                <a16:creationId xmlns:a16="http://schemas.microsoft.com/office/drawing/2014/main" id="{7C590AEE-322A-449E-7B74-472A54D90888}"/>
              </a:ext>
            </a:extLst>
          </p:cNvPr>
          <p:cNvCxnSpPr>
            <a:cxnSpLocks/>
          </p:cNvCxnSpPr>
          <p:nvPr/>
        </p:nvCxnSpPr>
        <p:spPr>
          <a:xfrm flipV="1">
            <a:off x="3758021" y="1695408"/>
            <a:ext cx="0" cy="272780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4" name="TextBox 283">
            <a:extLst>
              <a:ext uri="{FF2B5EF4-FFF2-40B4-BE49-F238E27FC236}">
                <a16:creationId xmlns:a16="http://schemas.microsoft.com/office/drawing/2014/main" id="{E232E401-B17D-000D-07B8-E9705021E234}"/>
              </a:ext>
            </a:extLst>
          </p:cNvPr>
          <p:cNvSpPr txBox="1"/>
          <p:nvPr/>
        </p:nvSpPr>
        <p:spPr>
          <a:xfrm>
            <a:off x="2540526" y="1737548"/>
            <a:ext cx="131318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Products Inspection</a:t>
            </a:r>
            <a:endParaRPr lang="en-IN" sz="1100" dirty="0"/>
          </a:p>
        </p:txBody>
      </p:sp>
      <p:sp>
        <p:nvSpPr>
          <p:cNvPr id="285" name="TextBox 284">
            <a:extLst>
              <a:ext uri="{FF2B5EF4-FFF2-40B4-BE49-F238E27FC236}">
                <a16:creationId xmlns:a16="http://schemas.microsoft.com/office/drawing/2014/main" id="{B6B37A83-B929-2F95-C892-31DDB87DDD65}"/>
              </a:ext>
            </a:extLst>
          </p:cNvPr>
          <p:cNvSpPr txBox="1"/>
          <p:nvPr/>
        </p:nvSpPr>
        <p:spPr>
          <a:xfrm rot="2152205">
            <a:off x="2817110" y="2204323"/>
            <a:ext cx="86113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Overall Data</a:t>
            </a:r>
            <a:endParaRPr lang="en-IN" sz="1050" dirty="0"/>
          </a:p>
        </p:txBody>
      </p:sp>
      <p:sp>
        <p:nvSpPr>
          <p:cNvPr id="289" name="TextBox 288">
            <a:extLst>
              <a:ext uri="{FF2B5EF4-FFF2-40B4-BE49-F238E27FC236}">
                <a16:creationId xmlns:a16="http://schemas.microsoft.com/office/drawing/2014/main" id="{C2456B6C-7470-F76A-6E15-7BFFD093BB6F}"/>
              </a:ext>
            </a:extLst>
          </p:cNvPr>
          <p:cNvSpPr txBox="1"/>
          <p:nvPr/>
        </p:nvSpPr>
        <p:spPr>
          <a:xfrm>
            <a:off x="6431280" y="179832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cxnSp>
        <p:nvCxnSpPr>
          <p:cNvPr id="293" name="Straight Connector 292">
            <a:extLst>
              <a:ext uri="{FF2B5EF4-FFF2-40B4-BE49-F238E27FC236}">
                <a16:creationId xmlns:a16="http://schemas.microsoft.com/office/drawing/2014/main" id="{CECC77CE-6B4D-1F84-88EB-FD1BC94EF45D}"/>
              </a:ext>
            </a:extLst>
          </p:cNvPr>
          <p:cNvCxnSpPr>
            <a:cxnSpLocks/>
            <a:endCxn id="36" idx="0"/>
          </p:cNvCxnSpPr>
          <p:nvPr/>
        </p:nvCxnSpPr>
        <p:spPr>
          <a:xfrm>
            <a:off x="2607769" y="1968188"/>
            <a:ext cx="1154275" cy="854152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96" name="TextBox 295">
            <a:extLst>
              <a:ext uri="{FF2B5EF4-FFF2-40B4-BE49-F238E27FC236}">
                <a16:creationId xmlns:a16="http://schemas.microsoft.com/office/drawing/2014/main" id="{F2FCDF96-1863-CF29-87E7-B5AFB5AC5668}"/>
              </a:ext>
            </a:extLst>
          </p:cNvPr>
          <p:cNvSpPr txBox="1"/>
          <p:nvPr/>
        </p:nvSpPr>
        <p:spPr>
          <a:xfrm rot="5400000">
            <a:off x="3325031" y="2188546"/>
            <a:ext cx="102615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900" b="1" dirty="0">
                <a:latin typeface="+mj-lt"/>
              </a:rPr>
              <a:t>interconnected</a:t>
            </a:r>
          </a:p>
        </p:txBody>
      </p:sp>
      <p:sp>
        <p:nvSpPr>
          <p:cNvPr id="298" name="Rounded Rectangle 32">
            <a:extLst>
              <a:ext uri="{FF2B5EF4-FFF2-40B4-BE49-F238E27FC236}">
                <a16:creationId xmlns:a16="http://schemas.microsoft.com/office/drawing/2014/main" id="{5D0151B2-B2FB-A66C-F885-912843E9543D}"/>
              </a:ext>
            </a:extLst>
          </p:cNvPr>
          <p:cNvSpPr/>
          <p:nvPr/>
        </p:nvSpPr>
        <p:spPr>
          <a:xfrm>
            <a:off x="5333936" y="615227"/>
            <a:ext cx="2083116" cy="307777"/>
          </a:xfrm>
          <a:prstGeom prst="roundRect">
            <a:avLst/>
          </a:prstGeom>
          <a:solidFill>
            <a:srgbClr val="81DEFF"/>
          </a:solidFill>
          <a:ln w="11430">
            <a:solidFill>
              <a:srgbClr val="5E3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00" name="TextBox 299">
            <a:extLst>
              <a:ext uri="{FF2B5EF4-FFF2-40B4-BE49-F238E27FC236}">
                <a16:creationId xmlns:a16="http://schemas.microsoft.com/office/drawing/2014/main" id="{24011663-682E-0D37-9911-8DA329886E0E}"/>
              </a:ext>
            </a:extLst>
          </p:cNvPr>
          <p:cNvSpPr txBox="1"/>
          <p:nvPr/>
        </p:nvSpPr>
        <p:spPr>
          <a:xfrm>
            <a:off x="5911862" y="571277"/>
            <a:ext cx="8448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+mj-lt"/>
              </a:rPr>
              <a:t>5.OUTPUT</a:t>
            </a:r>
            <a:endParaRPr lang="en-IN" sz="1400" b="1" dirty="0">
              <a:latin typeface="+mj-lt"/>
            </a:endParaRPr>
          </a:p>
        </p:txBody>
      </p:sp>
      <p:sp>
        <p:nvSpPr>
          <p:cNvPr id="302" name="TextBox 301">
            <a:extLst>
              <a:ext uri="{FF2B5EF4-FFF2-40B4-BE49-F238E27FC236}">
                <a16:creationId xmlns:a16="http://schemas.microsoft.com/office/drawing/2014/main" id="{42F2A518-EDD8-E234-AA2B-D37461E30FE1}"/>
              </a:ext>
            </a:extLst>
          </p:cNvPr>
          <p:cNvSpPr txBox="1"/>
          <p:nvPr/>
        </p:nvSpPr>
        <p:spPr>
          <a:xfrm>
            <a:off x="5280282" y="745721"/>
            <a:ext cx="2417717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 dirty="0">
                <a:latin typeface="+mj-lt"/>
              </a:rPr>
              <a:t> INSPECTOR </a:t>
            </a:r>
            <a:r>
              <a:rPr lang="en-US" sz="900" b="1" dirty="0">
                <a:latin typeface="+mj-lt"/>
              </a:rPr>
              <a:t>Verificitation Result</a:t>
            </a:r>
            <a:endParaRPr sz="900" b="1" dirty="0">
              <a:latin typeface="+mj-lt"/>
            </a:endParaRPr>
          </a:p>
        </p:txBody>
      </p:sp>
      <p:pic>
        <p:nvPicPr>
          <p:cNvPr id="309" name="Picture 308" descr="manager Icon - Free PNG &amp; SVG 398117 - Noun Project">
            <a:extLst>
              <a:ext uri="{FF2B5EF4-FFF2-40B4-BE49-F238E27FC236}">
                <a16:creationId xmlns:a16="http://schemas.microsoft.com/office/drawing/2014/main" id="{5FA58692-FF34-4E83-E228-00902FD9CFE4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5397141" y="617865"/>
            <a:ext cx="262072" cy="298048"/>
          </a:xfrm>
          <a:prstGeom prst="rect">
            <a:avLst/>
          </a:prstGeom>
        </p:spPr>
      </p:pic>
      <p:sp>
        <p:nvSpPr>
          <p:cNvPr id="313" name="TextBox 312">
            <a:extLst>
              <a:ext uri="{FF2B5EF4-FFF2-40B4-BE49-F238E27FC236}">
                <a16:creationId xmlns:a16="http://schemas.microsoft.com/office/drawing/2014/main" id="{4E3A782E-964B-DA78-1BE3-E388D70CFCDD}"/>
              </a:ext>
            </a:extLst>
          </p:cNvPr>
          <p:cNvSpPr txBox="1"/>
          <p:nvPr/>
        </p:nvSpPr>
        <p:spPr>
          <a:xfrm>
            <a:off x="5542458" y="893651"/>
            <a:ext cx="1902448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n-IN" sz="1100" dirty="0">
                <a:latin typeface="+mj-lt"/>
              </a:rPr>
              <a:t>Verification</a:t>
            </a:r>
          </a:p>
          <a:p>
            <a:pPr marL="228600" indent="-228600">
              <a:buAutoNum type="arabicPeriod"/>
            </a:pPr>
            <a:r>
              <a:rPr lang="en-IN" sz="1100" dirty="0">
                <a:latin typeface="+mj-lt"/>
              </a:rPr>
              <a:t>Report Generate</a:t>
            </a:r>
          </a:p>
          <a:p>
            <a:pPr marL="228600" indent="-228600">
              <a:buAutoNum type="arabicPeriod"/>
            </a:pPr>
            <a:r>
              <a:rPr lang="en-IN" sz="1100" dirty="0">
                <a:latin typeface="+mj-lt"/>
              </a:rPr>
              <a:t>Rule Evaluation</a:t>
            </a:r>
          </a:p>
          <a:p>
            <a:pPr marL="228600" indent="-228600">
              <a:buFontTx/>
              <a:buAutoNum type="arabicPeriod"/>
            </a:pPr>
            <a:r>
              <a:rPr lang="en-IN" sz="1100" dirty="0"/>
              <a:t>Violations Detected</a:t>
            </a:r>
            <a:endParaRPr lang="en-IN" sz="1100" dirty="0">
              <a:latin typeface="+mj-lt"/>
            </a:endParaRPr>
          </a:p>
          <a:p>
            <a:pPr marL="228600" indent="-228600">
              <a:buAutoNum type="arabicPeriod"/>
            </a:pPr>
            <a:r>
              <a:rPr lang="en-IN" sz="1100" dirty="0">
                <a:latin typeface="+mj-lt"/>
              </a:rPr>
              <a:t>Evidence</a:t>
            </a:r>
          </a:p>
          <a:p>
            <a:pPr marL="228600" indent="-228600">
              <a:buAutoNum type="arabicPeriod"/>
            </a:pPr>
            <a:r>
              <a:rPr lang="en-IN" sz="1100" dirty="0">
                <a:latin typeface="+mj-lt"/>
              </a:rPr>
              <a:t>Inspector &amp; Administrator</a:t>
            </a:r>
            <a:br>
              <a:rPr lang="en-IN" sz="1100" dirty="0">
                <a:latin typeface="+mj-lt"/>
              </a:rPr>
            </a:br>
            <a:r>
              <a:rPr lang="en-IN" sz="1100" dirty="0">
                <a:latin typeface="+mj-lt"/>
              </a:rPr>
              <a:t>Approval</a:t>
            </a:r>
          </a:p>
        </p:txBody>
      </p:sp>
      <p:sp>
        <p:nvSpPr>
          <p:cNvPr id="316" name="Arrow: Right 315">
            <a:extLst>
              <a:ext uri="{FF2B5EF4-FFF2-40B4-BE49-F238E27FC236}">
                <a16:creationId xmlns:a16="http://schemas.microsoft.com/office/drawing/2014/main" id="{C72F39FF-1247-977E-0F7C-F9BBDC785FA0}"/>
              </a:ext>
            </a:extLst>
          </p:cNvPr>
          <p:cNvSpPr/>
          <p:nvPr/>
        </p:nvSpPr>
        <p:spPr>
          <a:xfrm>
            <a:off x="5168378" y="1210839"/>
            <a:ext cx="348076" cy="258495"/>
          </a:xfrm>
          <a:prstGeom prst="rightArrow">
            <a:avLst/>
          </a:prstGeom>
          <a:solidFill>
            <a:schemeClr val="bg1"/>
          </a:solidFill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ounded Rectangle 174">
            <a:extLst>
              <a:ext uri="{FF2B5EF4-FFF2-40B4-BE49-F238E27FC236}">
                <a16:creationId xmlns:a16="http://schemas.microsoft.com/office/drawing/2014/main" id="{8B2CAA4B-2DA1-F55F-E447-A86EFC92A6EF}"/>
              </a:ext>
            </a:extLst>
          </p:cNvPr>
          <p:cNvSpPr/>
          <p:nvPr/>
        </p:nvSpPr>
        <p:spPr>
          <a:xfrm>
            <a:off x="4640572" y="2822203"/>
            <a:ext cx="3631562" cy="1133763"/>
          </a:xfrm>
          <a:prstGeom prst="roundRect">
            <a:avLst/>
          </a:prstGeom>
          <a:solidFill>
            <a:srgbClr val="F6FCFD"/>
          </a:solidFill>
          <a:ln w="19050">
            <a:solidFill>
              <a:schemeClr val="tx2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9BC6769-158B-BBAF-4431-EF5B7C73D7A7}"/>
              </a:ext>
            </a:extLst>
          </p:cNvPr>
          <p:cNvSpPr txBox="1"/>
          <p:nvPr/>
        </p:nvSpPr>
        <p:spPr>
          <a:xfrm>
            <a:off x="5427063" y="2799474"/>
            <a:ext cx="2211257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1400" b="1" dirty="0">
                <a:latin typeface="+mj-lt"/>
              </a:rPr>
              <a:t>4.</a:t>
            </a:r>
            <a:r>
              <a:rPr sz="1400" b="1" dirty="0">
                <a:latin typeface="+mj-lt"/>
              </a:rPr>
              <a:t>EXTERNAL API SERVICES</a:t>
            </a:r>
          </a:p>
        </p:txBody>
      </p:sp>
      <p:sp>
        <p:nvSpPr>
          <p:cNvPr id="17" name="TextBox 8">
            <a:extLst>
              <a:ext uri="{FF2B5EF4-FFF2-40B4-BE49-F238E27FC236}">
                <a16:creationId xmlns:a16="http://schemas.microsoft.com/office/drawing/2014/main" id="{B586E843-2CC6-60C2-439C-D5F0BD3E6431}"/>
              </a:ext>
            </a:extLst>
          </p:cNvPr>
          <p:cNvSpPr txBox="1"/>
          <p:nvPr/>
        </p:nvSpPr>
        <p:spPr>
          <a:xfrm>
            <a:off x="4750160" y="3439407"/>
            <a:ext cx="714755" cy="4801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840" b="0">
                <a:solidFill>
                  <a:srgbClr val="5B697A"/>
                </a:solidFill>
                <a:latin typeface="Aptos"/>
              </a:defRPr>
            </a:pPr>
            <a:r>
              <a:rPr b="1" dirty="0">
                <a:latin typeface="+mj-lt"/>
              </a:rPr>
              <a:t>License</a:t>
            </a:r>
            <a:br>
              <a:rPr b="1" dirty="0">
                <a:latin typeface="+mj-lt"/>
              </a:rPr>
            </a:br>
            <a:r>
              <a:rPr b="1" dirty="0">
                <a:latin typeface="+mj-lt"/>
              </a:rPr>
              <a:t>Verification</a:t>
            </a:r>
            <a:r>
              <a:rPr lang="en-US" b="1" dirty="0">
                <a:latin typeface="+mj-lt"/>
              </a:rPr>
              <a:t> API</a:t>
            </a:r>
            <a:endParaRPr b="1" dirty="0">
              <a:latin typeface="+mj-lt"/>
            </a:endParaRPr>
          </a:p>
        </p:txBody>
      </p:sp>
      <p:pic>
        <p:nvPicPr>
          <p:cNvPr id="23" name="Picture 22" descr="Fssai logo vector, Fssai icon free vector 20336357 Vector ...">
            <a:extLst>
              <a:ext uri="{FF2B5EF4-FFF2-40B4-BE49-F238E27FC236}">
                <a16:creationId xmlns:a16="http://schemas.microsoft.com/office/drawing/2014/main" id="{DDF60323-727E-C75D-EEB1-B57E90ADC87B}"/>
              </a:ext>
            </a:extLst>
          </p:cNvPr>
          <p:cNvPicPr>
            <a:picLocks noChangeAspect="1"/>
          </p:cNvPicPr>
          <p:nvPr/>
        </p:nvPicPr>
        <p:blipFill rotWithShape="1">
          <a:blip r:embed="rId36">
            <a:extLst>
              <a:ext uri="{BEBA8EAE-BF5A-486C-A8C5-ECC9F3942E4B}">
                <a14:imgProps xmlns:a14="http://schemas.microsoft.com/office/drawing/2010/main">
                  <a14:imgLayer r:embed="rId37">
                    <a14:imgEffect>
                      <a14:backgroundRemoval t="36735" b="70000" l="18469" r="80918">
                        <a14:foregroundMark x1="28163" y1="50612" x2="28163" y2="50612"/>
                        <a14:foregroundMark x1="32959" y1="44694" x2="32959" y2="44694"/>
                        <a14:foregroundMark x1="31020" y1="44286" x2="31020" y2="44286"/>
                        <a14:foregroundMark x1="31020" y1="44286" x2="31020" y2="44286"/>
                        <a14:foregroundMark x1="32551" y1="44286" x2="32551" y2="44286"/>
                        <a14:foregroundMark x1="30408" y1="44286" x2="30408" y2="44286"/>
                        <a14:foregroundMark x1="29388" y1="44490" x2="29388" y2="44490"/>
                        <a14:foregroundMark x1="29388" y1="44490" x2="29388" y2="44490"/>
                        <a14:foregroundMark x1="35000" y1="52959" x2="35000" y2="52959"/>
                        <a14:foregroundMark x1="46531" y1="51429" x2="46531" y2="51429"/>
                        <a14:foregroundMark x1="75306" y1="51633" x2="75306" y2="51633"/>
                        <a14:foregroundMark x1="71939" y1="48776" x2="71939" y2="48776"/>
                        <a14:foregroundMark x1="71735" y1="48980" x2="71735" y2="48980"/>
                        <a14:foregroundMark x1="77959" y1="39694" x2="77959" y2="39694"/>
                        <a14:foregroundMark x1="73061" y1="41837" x2="73061" y2="41837"/>
                        <a14:foregroundMark x1="60306" y1="65000" x2="60306" y2="65000"/>
                        <a14:foregroundMark x1="20918" y1="64898" x2="20918" y2="64898"/>
                        <a14:foregroundMark x1="38163" y1="37449" x2="38163" y2="37449"/>
                        <a14:foregroundMark x1="81020" y1="44694" x2="81020" y2="44694"/>
                        <a14:foregroundMark x1="18469" y1="65204" x2="18469" y2="65204"/>
                        <a14:foregroundMark x1="65408" y1="53469" x2="65408" y2="53469"/>
                        <a14:foregroundMark x1="73469" y1="41633" x2="73469" y2="41633"/>
                        <a14:foregroundMark x1="21837" y1="65816" x2="21837" y2="65816"/>
                        <a14:foregroundMark x1="21327" y1="65408" x2="21327" y2="65408"/>
                      </a14:backgroundRemoval>
                    </a14:imgEffect>
                  </a14:imgLayer>
                </a14:imgProps>
              </a:ext>
            </a:extLst>
          </a:blip>
          <a:srcRect l="15982" t="32596" r="12353" b="25782"/>
          <a:stretch>
            <a:fillRect/>
          </a:stretch>
        </p:blipFill>
        <p:spPr>
          <a:xfrm>
            <a:off x="4762978" y="3115569"/>
            <a:ext cx="678483" cy="394049"/>
          </a:xfrm>
          <a:prstGeom prst="rect">
            <a:avLst/>
          </a:prstGeom>
        </p:spPr>
      </p:pic>
      <p:sp>
        <p:nvSpPr>
          <p:cNvPr id="25" name="TextBox 13">
            <a:extLst>
              <a:ext uri="{FF2B5EF4-FFF2-40B4-BE49-F238E27FC236}">
                <a16:creationId xmlns:a16="http://schemas.microsoft.com/office/drawing/2014/main" id="{BD729EED-E952-7534-3B2E-D720762C3271}"/>
              </a:ext>
            </a:extLst>
          </p:cNvPr>
          <p:cNvSpPr txBox="1"/>
          <p:nvPr/>
        </p:nvSpPr>
        <p:spPr>
          <a:xfrm>
            <a:off x="5593650" y="3460483"/>
            <a:ext cx="731290" cy="48013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840" b="0">
                <a:solidFill>
                  <a:srgbClr val="5B697A"/>
                </a:solidFill>
                <a:latin typeface="Aptos"/>
              </a:defRPr>
            </a:pPr>
            <a:r>
              <a:rPr b="1" dirty="0">
                <a:latin typeface="+mj-lt"/>
              </a:rPr>
              <a:t>GST</a:t>
            </a:r>
            <a:br>
              <a:rPr b="1" dirty="0">
                <a:latin typeface="+mj-lt"/>
              </a:rPr>
            </a:br>
            <a:r>
              <a:rPr b="1" dirty="0">
                <a:latin typeface="+mj-lt"/>
              </a:rPr>
              <a:t>Verification</a:t>
            </a:r>
            <a:r>
              <a:rPr lang="en-US" b="1" dirty="0">
                <a:latin typeface="+mj-lt"/>
              </a:rPr>
              <a:t> </a:t>
            </a:r>
          </a:p>
          <a:p>
            <a:pPr algn="ctr">
              <a:defRPr sz="840" b="0">
                <a:solidFill>
                  <a:srgbClr val="5B697A"/>
                </a:solidFill>
                <a:latin typeface="Aptos"/>
              </a:defRPr>
            </a:pPr>
            <a:r>
              <a:rPr lang="en-US" b="1" dirty="0">
                <a:latin typeface="+mj-lt"/>
              </a:rPr>
              <a:t>API</a:t>
            </a:r>
            <a:endParaRPr b="1" dirty="0">
              <a:latin typeface="+mj-lt"/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30A8FABA-6573-1CB5-9BB2-64D2FAF45DE3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BEBA8EAE-BF5A-486C-A8C5-ECC9F3942E4B}">
                <a14:imgProps xmlns:a14="http://schemas.microsoft.com/office/drawing/2010/main">
                  <a14:imgLayer r:embed="rId39">
                    <a14:imgEffect>
                      <a14:backgroundRemoval t="9901" b="89109" l="3382" r="94203">
                        <a14:foregroundMark x1="8213" y1="42574" x2="8213" y2="42574"/>
                        <a14:foregroundMark x1="6763" y1="64356" x2="6763" y2="64356"/>
                        <a14:foregroundMark x1="3865" y1="52475" x2="3865" y2="52475"/>
                        <a14:foregroundMark x1="4348" y1="53465" x2="4348" y2="53465"/>
                        <a14:foregroundMark x1="4348" y1="52475" x2="4348" y2="52475"/>
                        <a14:foregroundMark x1="4348" y1="53465" x2="4348" y2="53465"/>
                        <a14:foregroundMark x1="3382" y1="51485" x2="3382" y2="51485"/>
                        <a14:foregroundMark x1="53623" y1="52475" x2="53623" y2="52475"/>
                        <a14:foregroundMark x1="80193" y1="42574" x2="80193" y2="42574"/>
                        <a14:foregroundMark x1="94203" y1="23762" x2="94203" y2="2376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578527" y="3152007"/>
            <a:ext cx="761538" cy="328573"/>
          </a:xfrm>
          <a:prstGeom prst="rect">
            <a:avLst/>
          </a:prstGeom>
        </p:spPr>
      </p:pic>
      <p:sp>
        <p:nvSpPr>
          <p:cNvPr id="40" name="TextBox 23">
            <a:extLst>
              <a:ext uri="{FF2B5EF4-FFF2-40B4-BE49-F238E27FC236}">
                <a16:creationId xmlns:a16="http://schemas.microsoft.com/office/drawing/2014/main" id="{47282073-4BE6-5C6F-6E9E-D1256373471D}"/>
              </a:ext>
            </a:extLst>
          </p:cNvPr>
          <p:cNvSpPr txBox="1"/>
          <p:nvPr/>
        </p:nvSpPr>
        <p:spPr>
          <a:xfrm>
            <a:off x="6477783" y="3468479"/>
            <a:ext cx="864488" cy="4801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840" b="0">
                <a:solidFill>
                  <a:srgbClr val="5B697A"/>
                </a:solidFill>
                <a:latin typeface="Aptos"/>
              </a:defRPr>
            </a:pPr>
            <a:r>
              <a:rPr b="1" dirty="0">
                <a:latin typeface="+mj-lt"/>
              </a:rPr>
              <a:t>Address /</a:t>
            </a:r>
            <a:br>
              <a:rPr b="1" dirty="0">
                <a:latin typeface="+mj-lt"/>
              </a:rPr>
            </a:br>
            <a:r>
              <a:rPr b="1" dirty="0">
                <a:latin typeface="+mj-lt"/>
              </a:rPr>
              <a:t>Location</a:t>
            </a:r>
            <a:r>
              <a:rPr lang="en-US" b="1" dirty="0">
                <a:latin typeface="+mj-lt"/>
              </a:rPr>
              <a:t> </a:t>
            </a:r>
          </a:p>
          <a:p>
            <a:pPr algn="ctr">
              <a:defRPr sz="840" b="0">
                <a:solidFill>
                  <a:srgbClr val="5B697A"/>
                </a:solidFill>
                <a:latin typeface="Aptos"/>
              </a:defRPr>
            </a:pPr>
            <a:r>
              <a:rPr lang="en-US" b="1" dirty="0">
                <a:latin typeface="+mj-lt"/>
              </a:rPr>
              <a:t>API</a:t>
            </a:r>
            <a:endParaRPr b="1" dirty="0">
              <a:latin typeface="+mj-lt"/>
            </a:endParaRP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2906A42B-A346-79DB-C3FB-8AA6E7244E76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BEBA8EAE-BF5A-486C-A8C5-ECC9F3942E4B}">
                <a14:imgProps xmlns:a14="http://schemas.microsoft.com/office/drawing/2010/main">
                  <a14:imgLayer r:embed="rId41">
                    <a14:imgEffect>
                      <a14:backgroundRemoval t="5500" b="92500" l="10000" r="90000">
                        <a14:foregroundMark x1="50833" y1="8000" x2="50833" y2="8000"/>
                        <a14:foregroundMark x1="50833" y1="8000" x2="50833" y2="8000"/>
                        <a14:foregroundMark x1="48667" y1="5500" x2="48667" y2="5500"/>
                        <a14:foregroundMark x1="22667" y1="83500" x2="22667" y2="83500"/>
                        <a14:foregroundMark x1="31167" y1="87333" x2="31167" y2="87333"/>
                        <a14:foregroundMark x1="38167" y1="87833" x2="38167" y2="87833"/>
                        <a14:foregroundMark x1="45167" y1="92500" x2="45167" y2="92500"/>
                        <a14:foregroundMark x1="47833" y1="88167" x2="47833" y2="88167"/>
                        <a14:foregroundMark x1="52167" y1="89167" x2="52167" y2="89167"/>
                        <a14:foregroundMark x1="58167" y1="85833" x2="58167" y2="85833"/>
                        <a14:foregroundMark x1="70167" y1="90333" x2="70167" y2="90333"/>
                        <a14:foregroundMark x1="72500" y1="87833" x2="72500" y2="87833"/>
                        <a14:foregroundMark x1="80000" y1="87167" x2="80000" y2="87167"/>
                        <a14:backgroundMark x1="49167" y1="8167" x2="49167" y2="81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702188" y="3127944"/>
            <a:ext cx="398172" cy="398172"/>
          </a:xfrm>
          <a:prstGeom prst="rect">
            <a:avLst/>
          </a:prstGeom>
        </p:spPr>
      </p:pic>
      <p:sp>
        <p:nvSpPr>
          <p:cNvPr id="51" name="TextBox 18">
            <a:extLst>
              <a:ext uri="{FF2B5EF4-FFF2-40B4-BE49-F238E27FC236}">
                <a16:creationId xmlns:a16="http://schemas.microsoft.com/office/drawing/2014/main" id="{47279343-6218-E30C-EE39-70120AC5DBC3}"/>
              </a:ext>
            </a:extLst>
          </p:cNvPr>
          <p:cNvSpPr txBox="1"/>
          <p:nvPr/>
        </p:nvSpPr>
        <p:spPr>
          <a:xfrm>
            <a:off x="7325534" y="3538861"/>
            <a:ext cx="1013418" cy="3508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840" b="0">
                <a:solidFill>
                  <a:srgbClr val="5B697A"/>
                </a:solidFill>
                <a:latin typeface="Aptos"/>
              </a:defRPr>
            </a:pPr>
            <a:r>
              <a:rPr b="1" dirty="0">
                <a:latin typeface="+mj-lt"/>
              </a:rPr>
              <a:t>Product Reference</a:t>
            </a:r>
            <a:br>
              <a:rPr b="1" dirty="0">
                <a:latin typeface="+mj-lt"/>
              </a:rPr>
            </a:br>
            <a:r>
              <a:rPr b="1" dirty="0">
                <a:latin typeface="+mj-lt"/>
              </a:rPr>
              <a:t>Data</a:t>
            </a:r>
            <a:r>
              <a:rPr lang="en-US" b="1" dirty="0">
                <a:latin typeface="+mj-lt"/>
              </a:rPr>
              <a:t> API</a:t>
            </a:r>
            <a:endParaRPr b="1" dirty="0">
              <a:latin typeface="+mj-lt"/>
            </a:endParaRPr>
          </a:p>
        </p:txBody>
      </p:sp>
      <p:pic>
        <p:nvPicPr>
          <p:cNvPr id="56" name="Picture 55" descr="GS1 - WordLift Blog">
            <a:extLst>
              <a:ext uri="{FF2B5EF4-FFF2-40B4-BE49-F238E27FC236}">
                <a16:creationId xmlns:a16="http://schemas.microsoft.com/office/drawing/2014/main" id="{2F4D0F18-4618-0435-FBBB-52861F7F8AAC}"/>
              </a:ext>
            </a:extLst>
          </p:cNvPr>
          <p:cNvPicPr>
            <a:picLocks noChangeAspect="1"/>
          </p:cNvPicPr>
          <p:nvPr/>
        </p:nvPicPr>
        <p:blipFill>
          <a:blip r:embed="rId42">
            <a:extLst>
              <a:ext uri="{BEBA8EAE-BF5A-486C-A8C5-ECC9F3942E4B}">
                <a14:imgProps xmlns:a14="http://schemas.microsoft.com/office/drawing/2010/main">
                  <a14:imgLayer r:embed="rId43">
                    <a14:imgEffect>
                      <a14:backgroundRemoval t="10000" b="90000" l="10000" r="90000">
                        <a14:foregroundMark x1="74250" y1="46667" x2="74250" y2="46667"/>
                        <a14:foregroundMark x1="74250" y1="46667" x2="74250" y2="46667"/>
                        <a14:foregroundMark x1="47167" y1="39917" x2="47167" y2="39917"/>
                        <a14:foregroundMark x1="47417" y1="39417" x2="47417" y2="39417"/>
                        <a14:foregroundMark x1="52250" y1="38833" x2="52250" y2="38833"/>
                        <a14:backgroundMark x1="46500" y1="40167" x2="46500" y2="40167"/>
                        <a14:backgroundMark x1="46083" y1="39583" x2="46083" y2="39583"/>
                        <a14:backgroundMark x1="47917" y1="39167" x2="47917" y2="39167"/>
                        <a14:backgroundMark x1="47917" y1="39167" x2="47917" y2="39167"/>
                        <a14:backgroundMark x1="46250" y1="36250" x2="46250" y2="36250"/>
                        <a14:backgroundMark x1="46250" y1="36250" x2="46250" y2="36250"/>
                        <a14:backgroundMark x1="44417" y1="33083" x2="44417" y2="33083"/>
                        <a14:backgroundMark x1="42333" y1="30250" x2="42333" y2="3025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448180" y="2983620"/>
            <a:ext cx="724619" cy="724619"/>
          </a:xfrm>
          <a:prstGeom prst="rect">
            <a:avLst/>
          </a:prstGeom>
        </p:spPr>
      </p:pic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9BE8CCBC-AB7C-9FBE-425D-9B4549AEBA84}"/>
              </a:ext>
            </a:extLst>
          </p:cNvPr>
          <p:cNvCxnSpPr>
            <a:cxnSpLocks/>
          </p:cNvCxnSpPr>
          <p:nvPr/>
        </p:nvCxnSpPr>
        <p:spPr>
          <a:xfrm>
            <a:off x="8301805" y="2520986"/>
            <a:ext cx="211016" cy="0"/>
          </a:xfrm>
          <a:prstGeom prst="line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75" name="Picture 74" descr="GPS icon design on transparent background PNG | SimilarPNG">
            <a:extLst>
              <a:ext uri="{FF2B5EF4-FFF2-40B4-BE49-F238E27FC236}">
                <a16:creationId xmlns:a16="http://schemas.microsoft.com/office/drawing/2014/main" id="{60DEADC1-FA7A-055B-8D9C-6C4799BA6275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ackgroundRemoval t="4000" b="97290" l="9167" r="90667">
                        <a14:foregroundMark x1="30167" y1="5290" x2="30167" y2="5290"/>
                        <a14:foregroundMark x1="30167" y1="5290" x2="36500" y2="4258"/>
                        <a14:foregroundMark x1="9167" y1="30968" x2="9167" y2="30968"/>
                        <a14:foregroundMark x1="51333" y1="93935" x2="51333" y2="93935"/>
                        <a14:foregroundMark x1="49833" y1="97419" x2="49833" y2="97419"/>
                        <a14:foregroundMark x1="90667" y1="29935" x2="90667" y2="2993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669808" y="69175"/>
            <a:ext cx="163430" cy="173305"/>
          </a:xfrm>
          <a:prstGeom prst="rect">
            <a:avLst/>
          </a:prstGeom>
        </p:spPr>
      </p:pic>
      <p:sp>
        <p:nvSpPr>
          <p:cNvPr id="80" name="TextBox 79">
            <a:extLst>
              <a:ext uri="{FF2B5EF4-FFF2-40B4-BE49-F238E27FC236}">
                <a16:creationId xmlns:a16="http://schemas.microsoft.com/office/drawing/2014/main" id="{538890EC-7DD2-5ACE-9B3B-9029E7CEC4CE}"/>
              </a:ext>
            </a:extLst>
          </p:cNvPr>
          <p:cNvSpPr txBox="1"/>
          <p:nvPr/>
        </p:nvSpPr>
        <p:spPr>
          <a:xfrm>
            <a:off x="7751523" y="15428"/>
            <a:ext cx="12011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Location Data</a:t>
            </a:r>
            <a:endParaRPr lang="en-IN" sz="1400" b="1" dirty="0"/>
          </a:p>
        </p:txBody>
      </p:sp>
      <p:cxnSp>
        <p:nvCxnSpPr>
          <p:cNvPr id="90" name="Connector: Elbow 89">
            <a:extLst>
              <a:ext uri="{FF2B5EF4-FFF2-40B4-BE49-F238E27FC236}">
                <a16:creationId xmlns:a16="http://schemas.microsoft.com/office/drawing/2014/main" id="{05E53A6C-8F45-E2F3-1FB7-DD4A6CA087E8}"/>
              </a:ext>
            </a:extLst>
          </p:cNvPr>
          <p:cNvCxnSpPr>
            <a:cxnSpLocks/>
            <a:stCxn id="80" idx="3"/>
            <a:endCxn id="271" idx="3"/>
          </p:cNvCxnSpPr>
          <p:nvPr/>
        </p:nvCxnSpPr>
        <p:spPr>
          <a:xfrm flipH="1">
            <a:off x="8857894" y="169317"/>
            <a:ext cx="94804" cy="1656160"/>
          </a:xfrm>
          <a:prstGeom prst="bentConnector3">
            <a:avLst>
              <a:gd name="adj1" fmla="val -62903"/>
            </a:avLst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229198F5-2BC4-046B-AF4F-DF8DA84A5DDE}"/>
              </a:ext>
            </a:extLst>
          </p:cNvPr>
          <p:cNvSpPr txBox="1"/>
          <p:nvPr/>
        </p:nvSpPr>
        <p:spPr>
          <a:xfrm>
            <a:off x="3940997" y="1836466"/>
            <a:ext cx="136414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latin typeface="+mj-lt"/>
              </a:rPr>
              <a:t>Pass</a:t>
            </a:r>
            <a:r>
              <a:rPr lang="en-US" sz="1100" dirty="0">
                <a:latin typeface="+mj-lt"/>
              </a:rPr>
              <a:t>:certificate Generate</a:t>
            </a:r>
            <a:endParaRPr lang="en-IN" sz="1100" dirty="0">
              <a:latin typeface="+mj-lt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BCB33FE-B6F9-2286-33BB-793C700D8223}"/>
              </a:ext>
            </a:extLst>
          </p:cNvPr>
          <p:cNvSpPr txBox="1"/>
          <p:nvPr/>
        </p:nvSpPr>
        <p:spPr>
          <a:xfrm>
            <a:off x="4074180" y="2378438"/>
            <a:ext cx="1398394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solidFill>
                  <a:schemeClr val="bg1"/>
                </a:solidFill>
              </a:rPr>
              <a:t>Fail</a:t>
            </a:r>
            <a:r>
              <a:rPr lang="en-US" sz="900" dirty="0">
                <a:solidFill>
                  <a:schemeClr val="bg1"/>
                </a:solidFill>
              </a:rPr>
              <a:t>:</a:t>
            </a:r>
            <a:r>
              <a:rPr lang="en-US" sz="800" dirty="0">
                <a:solidFill>
                  <a:schemeClr val="bg1"/>
                </a:solidFill>
              </a:rPr>
              <a:t>Legal notice generated along with Chalan</a:t>
            </a:r>
            <a:endParaRPr lang="en-IN" sz="800" dirty="0">
              <a:solidFill>
                <a:schemeClr val="bg1"/>
              </a:solidFill>
            </a:endParaRPr>
          </a:p>
        </p:txBody>
      </p:sp>
      <p:sp>
        <p:nvSpPr>
          <p:cNvPr id="147" name="Rounded Rectangle 16">
            <a:extLst>
              <a:ext uri="{FF2B5EF4-FFF2-40B4-BE49-F238E27FC236}">
                <a16:creationId xmlns:a16="http://schemas.microsoft.com/office/drawing/2014/main" id="{F50D5F31-930E-2D40-BB2C-3CE083048765}"/>
              </a:ext>
            </a:extLst>
          </p:cNvPr>
          <p:cNvSpPr/>
          <p:nvPr/>
        </p:nvSpPr>
        <p:spPr>
          <a:xfrm>
            <a:off x="1548245" y="6315798"/>
            <a:ext cx="856921" cy="262551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36881D38-DC26-0214-A0EC-A000CCEC20A3}"/>
                  </a:ext>
                </a:extLst>
              </p:cNvPr>
              <p:cNvSpPr txBox="1"/>
              <p:nvPr/>
            </p:nvSpPr>
            <p:spPr>
              <a:xfrm>
                <a:off x="1485671" y="6280009"/>
                <a:ext cx="1026454" cy="3341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sz="7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700" b="1" i="1"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lang="en-IN" sz="700" b="1" i="1">
                              <a:latin typeface="Cambria Math" panose="02040503050406030204" pitchFamily="18" charset="0"/>
                            </a:rPr>
                            <m:t>𝑾</m:t>
                          </m:r>
                        </m:sub>
                      </m:sSub>
                      <m:r>
                        <a:rPr lang="en-IN" sz="700" b="1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700" b="1" i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700" b="1" i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IN" sz="7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700" b="1" i="1">
                                  <a:latin typeface="Cambria Math" panose="02040503050406030204" pitchFamily="18" charset="0"/>
                                </a:rPr>
                                <m:t>𝑰</m:t>
                              </m:r>
                            </m:e>
                            <m:sub>
                              <m:r>
                                <a:rPr lang="en-IN" sz="700" b="1" i="1">
                                  <a:latin typeface="Cambria Math" panose="02040503050406030204" pitchFamily="18" charset="0"/>
                                </a:rPr>
                                <m:t>𝒕𝒆𝒙𝒕</m:t>
                              </m:r>
                            </m:sub>
                          </m:sSub>
                          <m:r>
                            <a:rPr lang="en-IN" sz="700" b="1" i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IN" sz="7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700" b="1" i="1">
                                  <a:latin typeface="Cambria Math" panose="02040503050406030204" pitchFamily="18" charset="0"/>
                                </a:rPr>
                                <m:t>𝑰</m:t>
                              </m:r>
                            </m:e>
                            <m:sub>
                              <m:r>
                                <a:rPr lang="en-IN" sz="700" b="1" i="1">
                                  <a:latin typeface="Cambria Math" panose="02040503050406030204" pitchFamily="18" charset="0"/>
                                </a:rPr>
                                <m:t>𝒃𝒈</m:t>
                              </m:r>
                            </m:sub>
                          </m:sSub>
                          <m:r>
                            <a:rPr lang="en-US" sz="700" b="1" i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en-IN" sz="7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700" b="1" i="1">
                                  <a:latin typeface="Cambria Math" panose="02040503050406030204" pitchFamily="18" charset="0"/>
                                </a:rPr>
                                <m:t>𝑰</m:t>
                              </m:r>
                            </m:e>
                            <m:sub>
                              <m:r>
                                <a:rPr lang="en-IN" sz="700" b="1" i="1">
                                  <a:latin typeface="Cambria Math" panose="02040503050406030204" pitchFamily="18" charset="0"/>
                                </a:rPr>
                                <m:t>𝒃𝒈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IN" sz="700" b="1" dirty="0"/>
              </a:p>
            </p:txBody>
          </p:sp>
        </mc:Choice>
        <mc:Fallback xmlns=""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36881D38-DC26-0214-A0EC-A000CCEC20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5671" y="6280009"/>
                <a:ext cx="1026454" cy="334130"/>
              </a:xfrm>
              <a:prstGeom prst="rect">
                <a:avLst/>
              </a:prstGeom>
              <a:blipFill>
                <a:blip r:embed="rId4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9B5CED9C-10BC-9A22-57ED-A351F85D8E47}"/>
              </a:ext>
            </a:extLst>
          </p:cNvPr>
          <p:cNvSpPr/>
          <p:nvPr/>
        </p:nvSpPr>
        <p:spPr>
          <a:xfrm>
            <a:off x="10543113" y="3334535"/>
            <a:ext cx="801208" cy="468507"/>
          </a:xfrm>
          <a:prstGeom prst="roundRect">
            <a:avLst/>
          </a:prstGeom>
          <a:solidFill>
            <a:srgbClr val="F5F0FF"/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91A2EFE1-FCD8-1C48-6E90-E48485EB2591}"/>
              </a:ext>
            </a:extLst>
          </p:cNvPr>
          <p:cNvCxnSpPr>
            <a:cxnSpLocks/>
          </p:cNvCxnSpPr>
          <p:nvPr/>
        </p:nvCxnSpPr>
        <p:spPr>
          <a:xfrm>
            <a:off x="8782772" y="1826191"/>
            <a:ext cx="10411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1" name="TextBox 250">
            <a:extLst>
              <a:ext uri="{FF2B5EF4-FFF2-40B4-BE49-F238E27FC236}">
                <a16:creationId xmlns:a16="http://schemas.microsoft.com/office/drawing/2014/main" id="{0EDCE134-050D-107F-5296-02B2A52B3EF7}"/>
              </a:ext>
            </a:extLst>
          </p:cNvPr>
          <p:cNvSpPr txBox="1"/>
          <p:nvPr/>
        </p:nvSpPr>
        <p:spPr>
          <a:xfrm>
            <a:off x="10454912" y="3348222"/>
            <a:ext cx="97736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1000" dirty="0"/>
              <a:t>Detect marks/symbols</a:t>
            </a:r>
          </a:p>
        </p:txBody>
      </p:sp>
      <p:sp>
        <p:nvSpPr>
          <p:cNvPr id="120" name="Rectangle: Rounded Corners 119">
            <a:extLst>
              <a:ext uri="{FF2B5EF4-FFF2-40B4-BE49-F238E27FC236}">
                <a16:creationId xmlns:a16="http://schemas.microsoft.com/office/drawing/2014/main" id="{85B1ECCE-F3FE-8D9A-A9F7-2B41CF6CAC81}"/>
              </a:ext>
            </a:extLst>
          </p:cNvPr>
          <p:cNvSpPr/>
          <p:nvPr/>
        </p:nvSpPr>
        <p:spPr>
          <a:xfrm>
            <a:off x="10532859" y="3992691"/>
            <a:ext cx="842965" cy="531684"/>
          </a:xfrm>
          <a:prstGeom prst="roundRect">
            <a:avLst/>
          </a:prstGeom>
          <a:solidFill>
            <a:srgbClr val="F5F0FF"/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8" name="Rectangle: Rounded Corners 127">
            <a:extLst>
              <a:ext uri="{FF2B5EF4-FFF2-40B4-BE49-F238E27FC236}">
                <a16:creationId xmlns:a16="http://schemas.microsoft.com/office/drawing/2014/main" id="{0F84A70E-499D-0FA3-B651-9ECCDC377B99}"/>
              </a:ext>
            </a:extLst>
          </p:cNvPr>
          <p:cNvSpPr/>
          <p:nvPr/>
        </p:nvSpPr>
        <p:spPr>
          <a:xfrm>
            <a:off x="10553738" y="5543594"/>
            <a:ext cx="801208" cy="683796"/>
          </a:xfrm>
          <a:prstGeom prst="roundRect">
            <a:avLst/>
          </a:prstGeom>
          <a:solidFill>
            <a:srgbClr val="F5F0FF"/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6" name="Rectangle: Rounded Corners 135">
            <a:extLst>
              <a:ext uri="{FF2B5EF4-FFF2-40B4-BE49-F238E27FC236}">
                <a16:creationId xmlns:a16="http://schemas.microsoft.com/office/drawing/2014/main" id="{6527B720-F9AA-F635-8D93-3B0E28264A23}"/>
              </a:ext>
            </a:extLst>
          </p:cNvPr>
          <p:cNvSpPr/>
          <p:nvPr/>
        </p:nvSpPr>
        <p:spPr>
          <a:xfrm>
            <a:off x="10547311" y="2859363"/>
            <a:ext cx="801208" cy="295813"/>
          </a:xfrm>
          <a:prstGeom prst="roundRect">
            <a:avLst/>
          </a:prstGeom>
          <a:solidFill>
            <a:srgbClr val="F5F0FF"/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1E53C914-1441-79B5-44D3-FF88C6530874}"/>
              </a:ext>
            </a:extLst>
          </p:cNvPr>
          <p:cNvSpPr txBox="1"/>
          <p:nvPr/>
        </p:nvSpPr>
        <p:spPr>
          <a:xfrm>
            <a:off x="10504381" y="2885265"/>
            <a:ext cx="88706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900" b="1" dirty="0">
                <a:latin typeface="+mn-lt"/>
              </a:rPr>
              <a:t>Capture Image</a:t>
            </a:r>
            <a:endParaRPr lang="en-IN" sz="900" b="1" dirty="0">
              <a:latin typeface="+mn-lt"/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D2A72410-AE19-527E-E5B9-D15DC6BB33BB}"/>
              </a:ext>
            </a:extLst>
          </p:cNvPr>
          <p:cNvSpPr txBox="1"/>
          <p:nvPr/>
        </p:nvSpPr>
        <p:spPr>
          <a:xfrm>
            <a:off x="10413445" y="3998636"/>
            <a:ext cx="108179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900" b="1" dirty="0">
                <a:latin typeface="+mn-lt"/>
              </a:rPr>
              <a:t>Open </a:t>
            </a:r>
            <a:r>
              <a:rPr lang="en-IN" sz="900" b="1" dirty="0">
                <a:latin typeface="+mn-lt"/>
              </a:rPr>
              <a:t>Source LLM</a:t>
            </a:r>
          </a:p>
        </p:txBody>
      </p:sp>
      <p:sp>
        <p:nvSpPr>
          <p:cNvPr id="252" name="TextBox 251">
            <a:extLst>
              <a:ext uri="{FF2B5EF4-FFF2-40B4-BE49-F238E27FC236}">
                <a16:creationId xmlns:a16="http://schemas.microsoft.com/office/drawing/2014/main" id="{BF265206-A659-5953-281E-85E76F16FF0E}"/>
              </a:ext>
            </a:extLst>
          </p:cNvPr>
          <p:cNvSpPr txBox="1"/>
          <p:nvPr/>
        </p:nvSpPr>
        <p:spPr>
          <a:xfrm>
            <a:off x="10510075" y="4137256"/>
            <a:ext cx="88266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Row text convert json</a:t>
            </a:r>
            <a:endParaRPr lang="en-IN" dirty="0"/>
          </a:p>
        </p:txBody>
      </p:sp>
      <p:sp>
        <p:nvSpPr>
          <p:cNvPr id="141" name="Rectangle: Rounded Corners 140">
            <a:extLst>
              <a:ext uri="{FF2B5EF4-FFF2-40B4-BE49-F238E27FC236}">
                <a16:creationId xmlns:a16="http://schemas.microsoft.com/office/drawing/2014/main" id="{5C62D3B3-FBC8-0CF5-231F-D05C2D777EDD}"/>
              </a:ext>
            </a:extLst>
          </p:cNvPr>
          <p:cNvSpPr/>
          <p:nvPr/>
        </p:nvSpPr>
        <p:spPr>
          <a:xfrm>
            <a:off x="10552064" y="4738451"/>
            <a:ext cx="801208" cy="605709"/>
          </a:xfrm>
          <a:prstGeom prst="roundRect">
            <a:avLst/>
          </a:prstGeom>
          <a:solidFill>
            <a:srgbClr val="F5F0FF"/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099F3361-D9CD-F4DD-F8E1-497E7BCBA183}"/>
              </a:ext>
            </a:extLst>
          </p:cNvPr>
          <p:cNvSpPr txBox="1"/>
          <p:nvPr/>
        </p:nvSpPr>
        <p:spPr>
          <a:xfrm>
            <a:off x="10412813" y="4764053"/>
            <a:ext cx="1083058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1100" b="1" dirty="0">
                <a:latin typeface="+mn-lt"/>
              </a:rPr>
              <a:t>PaddleOCR</a:t>
            </a:r>
            <a:br>
              <a:rPr lang="en-US" sz="1100" b="1" dirty="0">
                <a:latin typeface="+mn-lt"/>
              </a:rPr>
            </a:br>
            <a:r>
              <a:rPr lang="en-US" sz="1000" dirty="0">
                <a:latin typeface="+mn-lt"/>
              </a:rPr>
              <a:t>OCR Text Extraction</a:t>
            </a:r>
            <a:endParaRPr lang="en-IN" sz="1100" dirty="0">
              <a:latin typeface="+mn-lt"/>
            </a:endParaRPr>
          </a:p>
        </p:txBody>
      </p:sp>
      <p:sp>
        <p:nvSpPr>
          <p:cNvPr id="277" name="TextBox 276">
            <a:extLst>
              <a:ext uri="{FF2B5EF4-FFF2-40B4-BE49-F238E27FC236}">
                <a16:creationId xmlns:a16="http://schemas.microsoft.com/office/drawing/2014/main" id="{DE9ECCCB-A80B-E21A-EF36-AC167C60A43E}"/>
              </a:ext>
            </a:extLst>
          </p:cNvPr>
          <p:cNvSpPr txBox="1"/>
          <p:nvPr/>
        </p:nvSpPr>
        <p:spPr>
          <a:xfrm>
            <a:off x="10491137" y="5772052"/>
            <a:ext cx="919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+mj-lt"/>
              </a:rPr>
              <a:t>QR code read/detect</a:t>
            </a:r>
            <a:endParaRPr lang="en-IN" sz="1200" dirty="0">
              <a:latin typeface="+mj-lt"/>
            </a:endParaRPr>
          </a:p>
        </p:txBody>
      </p:sp>
      <p:sp>
        <p:nvSpPr>
          <p:cNvPr id="274" name="TextBox 273">
            <a:extLst>
              <a:ext uri="{FF2B5EF4-FFF2-40B4-BE49-F238E27FC236}">
                <a16:creationId xmlns:a16="http://schemas.microsoft.com/office/drawing/2014/main" id="{FFA54458-90E4-F55B-76AE-FC8F32C31F6A}"/>
              </a:ext>
            </a:extLst>
          </p:cNvPr>
          <p:cNvSpPr txBox="1"/>
          <p:nvPr/>
        </p:nvSpPr>
        <p:spPr>
          <a:xfrm>
            <a:off x="10596884" y="5525569"/>
            <a:ext cx="7083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latin typeface="+mn-lt"/>
              </a:rPr>
              <a:t>Pyzbar</a:t>
            </a:r>
            <a:endParaRPr lang="en-IN" dirty="0"/>
          </a:p>
        </p:txBody>
      </p:sp>
      <p:sp>
        <p:nvSpPr>
          <p:cNvPr id="198" name="Free-form: Shape 197">
            <a:extLst>
              <a:ext uri="{FF2B5EF4-FFF2-40B4-BE49-F238E27FC236}">
                <a16:creationId xmlns:a16="http://schemas.microsoft.com/office/drawing/2014/main" id="{3B8B77B5-0242-8F8D-3A0B-1595DD2A43BC}"/>
              </a:ext>
            </a:extLst>
          </p:cNvPr>
          <p:cNvSpPr/>
          <p:nvPr/>
        </p:nvSpPr>
        <p:spPr>
          <a:xfrm>
            <a:off x="5367609" y="2118213"/>
            <a:ext cx="558594" cy="421306"/>
          </a:xfrm>
          <a:custGeom>
            <a:avLst/>
            <a:gdLst>
              <a:gd name="csX0" fmla="*/ 148014 w 183234"/>
              <a:gd name="csY0" fmla="*/ 0 h 404573"/>
              <a:gd name="csX1" fmla="*/ 165473 w 183234"/>
              <a:gd name="csY1" fmla="*/ 325632 h 404573"/>
              <a:gd name="csX2" fmla="*/ 0 w 183234"/>
              <a:gd name="csY2" fmla="*/ 404573 h 404573"/>
              <a:gd name="csX3" fmla="*/ 0 w 183234"/>
              <a:gd name="csY3" fmla="*/ 404573 h 4045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83234" h="404573">
                <a:moveTo>
                  <a:pt x="148014" y="0"/>
                </a:moveTo>
                <a:cubicBezTo>
                  <a:pt x="193240" y="129101"/>
                  <a:pt x="190142" y="258203"/>
                  <a:pt x="165473" y="325632"/>
                </a:cubicBezTo>
                <a:cubicBezTo>
                  <a:pt x="140804" y="393061"/>
                  <a:pt x="0" y="404573"/>
                  <a:pt x="0" y="404573"/>
                </a:cubicBezTo>
                <a:lnTo>
                  <a:pt x="0" y="404573"/>
                </a:lnTo>
              </a:path>
            </a:pathLst>
          </a:custGeom>
          <a:ln w="12700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9" name="Free-form: Shape 198">
            <a:extLst>
              <a:ext uri="{FF2B5EF4-FFF2-40B4-BE49-F238E27FC236}">
                <a16:creationId xmlns:a16="http://schemas.microsoft.com/office/drawing/2014/main" id="{CF4A431C-83C5-9537-3D27-54B1AC6289D7}"/>
              </a:ext>
            </a:extLst>
          </p:cNvPr>
          <p:cNvSpPr/>
          <p:nvPr/>
        </p:nvSpPr>
        <p:spPr>
          <a:xfrm>
            <a:off x="5001491" y="1792634"/>
            <a:ext cx="808182" cy="484395"/>
          </a:xfrm>
          <a:custGeom>
            <a:avLst/>
            <a:gdLst>
              <a:gd name="csX0" fmla="*/ 0 w 808182"/>
              <a:gd name="csY0" fmla="*/ 54639 h 484395"/>
              <a:gd name="csX1" fmla="*/ 189345 w 808182"/>
              <a:gd name="csY1" fmla="*/ 36166 h 484395"/>
              <a:gd name="csX2" fmla="*/ 323273 w 808182"/>
              <a:gd name="csY2" fmla="*/ 470275 h 484395"/>
              <a:gd name="csX3" fmla="*/ 808182 w 808182"/>
              <a:gd name="csY3" fmla="*/ 336348 h 48439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808182" h="484395">
                <a:moveTo>
                  <a:pt x="0" y="54639"/>
                </a:moveTo>
                <a:cubicBezTo>
                  <a:pt x="67733" y="10766"/>
                  <a:pt x="135466" y="-33107"/>
                  <a:pt x="189345" y="36166"/>
                </a:cubicBezTo>
                <a:cubicBezTo>
                  <a:pt x="243224" y="105439"/>
                  <a:pt x="220134" y="420245"/>
                  <a:pt x="323273" y="470275"/>
                </a:cubicBezTo>
                <a:cubicBezTo>
                  <a:pt x="426412" y="520305"/>
                  <a:pt x="617297" y="428326"/>
                  <a:pt x="808182" y="336348"/>
                </a:cubicBezTo>
              </a:path>
            </a:pathLst>
          </a:custGeom>
          <a:ln w="12700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8" name="Right Bracket 227">
            <a:extLst>
              <a:ext uri="{FF2B5EF4-FFF2-40B4-BE49-F238E27FC236}">
                <a16:creationId xmlns:a16="http://schemas.microsoft.com/office/drawing/2014/main" id="{C20A6537-3188-DA1A-902C-0608D283D6A2}"/>
              </a:ext>
            </a:extLst>
          </p:cNvPr>
          <p:cNvSpPr/>
          <p:nvPr/>
        </p:nvSpPr>
        <p:spPr>
          <a:xfrm>
            <a:off x="4325357" y="3794343"/>
            <a:ext cx="108558" cy="1109624"/>
          </a:xfrm>
          <a:prstGeom prst="rightBracket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6ADCF146-F827-CCBB-6E27-CC9364CB8C8D}"/>
              </a:ext>
            </a:extLst>
          </p:cNvPr>
          <p:cNvCxnSpPr/>
          <p:nvPr/>
        </p:nvCxnSpPr>
        <p:spPr>
          <a:xfrm>
            <a:off x="5512849" y="3082561"/>
            <a:ext cx="0" cy="773149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2" name="Straight Connector 231">
            <a:extLst>
              <a:ext uri="{FF2B5EF4-FFF2-40B4-BE49-F238E27FC236}">
                <a16:creationId xmlns:a16="http://schemas.microsoft.com/office/drawing/2014/main" id="{D2B398AE-DEB0-50B4-A4E9-8CE13EB32DB1}"/>
              </a:ext>
            </a:extLst>
          </p:cNvPr>
          <p:cNvCxnSpPr/>
          <p:nvPr/>
        </p:nvCxnSpPr>
        <p:spPr>
          <a:xfrm>
            <a:off x="6434167" y="3087939"/>
            <a:ext cx="0" cy="773149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3" name="Straight Connector 232">
            <a:extLst>
              <a:ext uri="{FF2B5EF4-FFF2-40B4-BE49-F238E27FC236}">
                <a16:creationId xmlns:a16="http://schemas.microsoft.com/office/drawing/2014/main" id="{A8EC4F25-90A7-396A-D074-B0825EFBE67A}"/>
              </a:ext>
            </a:extLst>
          </p:cNvPr>
          <p:cNvCxnSpPr/>
          <p:nvPr/>
        </p:nvCxnSpPr>
        <p:spPr>
          <a:xfrm>
            <a:off x="7307916" y="3087492"/>
            <a:ext cx="0" cy="773149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37" name="Rounded Rectangle 32">
            <a:extLst>
              <a:ext uri="{FF2B5EF4-FFF2-40B4-BE49-F238E27FC236}">
                <a16:creationId xmlns:a16="http://schemas.microsoft.com/office/drawing/2014/main" id="{BF1745F6-9892-76AC-2848-5933819CBDB0}"/>
              </a:ext>
            </a:extLst>
          </p:cNvPr>
          <p:cNvSpPr/>
          <p:nvPr/>
        </p:nvSpPr>
        <p:spPr>
          <a:xfrm>
            <a:off x="2937704" y="2809011"/>
            <a:ext cx="1607577" cy="244086"/>
          </a:xfrm>
          <a:prstGeom prst="roundRect">
            <a:avLst/>
          </a:prstGeom>
          <a:solidFill>
            <a:srgbClr val="81DEFF"/>
          </a:solidFill>
          <a:ln w="11430">
            <a:solidFill>
              <a:srgbClr val="5E3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42" name="Rounded Rectangle 32">
            <a:extLst>
              <a:ext uri="{FF2B5EF4-FFF2-40B4-BE49-F238E27FC236}">
                <a16:creationId xmlns:a16="http://schemas.microsoft.com/office/drawing/2014/main" id="{D703429D-E5EF-64C9-DFE6-14B8ED2267F6}"/>
              </a:ext>
            </a:extLst>
          </p:cNvPr>
          <p:cNvSpPr/>
          <p:nvPr/>
        </p:nvSpPr>
        <p:spPr>
          <a:xfrm>
            <a:off x="3243243" y="697803"/>
            <a:ext cx="1604168" cy="288710"/>
          </a:xfrm>
          <a:prstGeom prst="roundRect">
            <a:avLst/>
          </a:prstGeom>
          <a:solidFill>
            <a:srgbClr val="81DEFF"/>
          </a:solidFill>
          <a:ln w="11430">
            <a:solidFill>
              <a:srgbClr val="5E3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BF8632-0A16-2AC7-9ADE-C1E8CAE63DF8}"/>
              </a:ext>
            </a:extLst>
          </p:cNvPr>
          <p:cNvSpPr txBox="1"/>
          <p:nvPr/>
        </p:nvSpPr>
        <p:spPr>
          <a:xfrm>
            <a:off x="3292120" y="715869"/>
            <a:ext cx="15744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+mj-lt"/>
              </a:rPr>
              <a:t>INSPECTOR  LOGIN</a:t>
            </a:r>
            <a:endParaRPr lang="en-IN" sz="1400" b="1" dirty="0">
              <a:latin typeface="+mj-lt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ABCDEF2-9B5E-2A60-4BF0-922954E6DEE1}"/>
              </a:ext>
            </a:extLst>
          </p:cNvPr>
          <p:cNvSpPr txBox="1"/>
          <p:nvPr/>
        </p:nvSpPr>
        <p:spPr>
          <a:xfrm>
            <a:off x="2873916" y="2822340"/>
            <a:ext cx="17762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+mj-lt"/>
              </a:rPr>
              <a:t>ADMINISTRATION LOGIN</a:t>
            </a:r>
            <a:endParaRPr lang="en-IN" sz="12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2146693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74">
            <a:extLst>
              <a:ext uri="{FF2B5EF4-FFF2-40B4-BE49-F238E27FC236}">
                <a16:creationId xmlns:a16="http://schemas.microsoft.com/office/drawing/2014/main" id="{BF05E8C7-07A6-62EA-5AF8-2AC08CBE85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6194146"/>
            <a:ext cx="12192001" cy="693490"/>
          </a:xfrm>
          <a:prstGeom prst="rect">
            <a:avLst/>
          </a:prstGeom>
        </p:spPr>
      </p:pic>
      <p:sp>
        <p:nvSpPr>
          <p:cNvPr id="65" name="Rounded Rectangle 117">
            <a:extLst>
              <a:ext uri="{FF2B5EF4-FFF2-40B4-BE49-F238E27FC236}">
                <a16:creationId xmlns:a16="http://schemas.microsoft.com/office/drawing/2014/main" id="{EFC87D97-884A-7758-A8BF-5BEC83FD93F9}"/>
              </a:ext>
            </a:extLst>
          </p:cNvPr>
          <p:cNvSpPr/>
          <p:nvPr/>
        </p:nvSpPr>
        <p:spPr>
          <a:xfrm>
            <a:off x="495909" y="5958647"/>
            <a:ext cx="10877125" cy="587486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8890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56" name="object 159">
            <a:extLst>
              <a:ext uri="{FF2B5EF4-FFF2-40B4-BE49-F238E27FC236}">
                <a16:creationId xmlns:a16="http://schemas.microsoft.com/office/drawing/2014/main" id="{8E680D16-DB9D-7CCF-C73B-A564725FC287}"/>
              </a:ext>
            </a:extLst>
          </p:cNvPr>
          <p:cNvSpPr/>
          <p:nvPr/>
        </p:nvSpPr>
        <p:spPr>
          <a:xfrm>
            <a:off x="6211362" y="4259245"/>
            <a:ext cx="3254507" cy="1554130"/>
          </a:xfrm>
          <a:custGeom>
            <a:avLst/>
            <a:gdLst/>
            <a:ahLst/>
            <a:cxnLst/>
            <a:rect l="l" t="t" r="r" b="b"/>
            <a:pathLst>
              <a:path w="3804284" h="1358900">
                <a:moveTo>
                  <a:pt x="3661310" y="1358702"/>
                </a:moveTo>
                <a:lnTo>
                  <a:pt x="142874" y="1358702"/>
                </a:lnTo>
                <a:lnTo>
                  <a:pt x="97715" y="1351419"/>
                </a:lnTo>
                <a:lnTo>
                  <a:pt x="58495" y="1331136"/>
                </a:lnTo>
                <a:lnTo>
                  <a:pt x="27566" y="1300208"/>
                </a:lnTo>
                <a:lnTo>
                  <a:pt x="7283" y="1260987"/>
                </a:lnTo>
                <a:lnTo>
                  <a:pt x="0" y="1215827"/>
                </a:lnTo>
                <a:lnTo>
                  <a:pt x="0" y="142874"/>
                </a:lnTo>
                <a:lnTo>
                  <a:pt x="7283" y="97715"/>
                </a:lnTo>
                <a:lnTo>
                  <a:pt x="27566" y="58494"/>
                </a:lnTo>
                <a:lnTo>
                  <a:pt x="58495" y="27566"/>
                </a:lnTo>
                <a:lnTo>
                  <a:pt x="97715" y="7283"/>
                </a:lnTo>
                <a:lnTo>
                  <a:pt x="142874" y="0"/>
                </a:lnTo>
                <a:lnTo>
                  <a:pt x="3661310" y="0"/>
                </a:lnTo>
                <a:lnTo>
                  <a:pt x="3706469" y="7283"/>
                </a:lnTo>
                <a:lnTo>
                  <a:pt x="3745689" y="27566"/>
                </a:lnTo>
                <a:lnTo>
                  <a:pt x="3776617" y="58494"/>
                </a:lnTo>
                <a:lnTo>
                  <a:pt x="3796899" y="97715"/>
                </a:lnTo>
                <a:lnTo>
                  <a:pt x="3804183" y="142874"/>
                </a:lnTo>
                <a:lnTo>
                  <a:pt x="3804183" y="1215827"/>
                </a:lnTo>
                <a:lnTo>
                  <a:pt x="3796899" y="1260987"/>
                </a:lnTo>
                <a:lnTo>
                  <a:pt x="3776617" y="1300208"/>
                </a:lnTo>
                <a:lnTo>
                  <a:pt x="3745689" y="1331136"/>
                </a:lnTo>
                <a:lnTo>
                  <a:pt x="3706469" y="1351419"/>
                </a:lnTo>
                <a:lnTo>
                  <a:pt x="3661310" y="1358702"/>
                </a:lnTo>
                <a:close/>
              </a:path>
            </a:pathLst>
          </a:custGeom>
          <a:solidFill>
            <a:schemeClr val="accent6">
              <a:lumMod val="40000"/>
              <a:lumOff val="60000"/>
              <a:alpha val="50000"/>
            </a:schemeClr>
          </a:solidFill>
          <a:ln w="19050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4" name="object 159">
            <a:extLst>
              <a:ext uri="{FF2B5EF4-FFF2-40B4-BE49-F238E27FC236}">
                <a16:creationId xmlns:a16="http://schemas.microsoft.com/office/drawing/2014/main" id="{57B55C72-B019-A6B6-98ED-5B2B53C16CBE}"/>
              </a:ext>
            </a:extLst>
          </p:cNvPr>
          <p:cNvSpPr/>
          <p:nvPr/>
        </p:nvSpPr>
        <p:spPr>
          <a:xfrm>
            <a:off x="6221712" y="2646608"/>
            <a:ext cx="3254507" cy="1472638"/>
          </a:xfrm>
          <a:custGeom>
            <a:avLst/>
            <a:gdLst/>
            <a:ahLst/>
            <a:cxnLst/>
            <a:rect l="l" t="t" r="r" b="b"/>
            <a:pathLst>
              <a:path w="3804284" h="1358900">
                <a:moveTo>
                  <a:pt x="3661310" y="1358702"/>
                </a:moveTo>
                <a:lnTo>
                  <a:pt x="142874" y="1358702"/>
                </a:lnTo>
                <a:lnTo>
                  <a:pt x="97715" y="1351419"/>
                </a:lnTo>
                <a:lnTo>
                  <a:pt x="58495" y="1331136"/>
                </a:lnTo>
                <a:lnTo>
                  <a:pt x="27566" y="1300208"/>
                </a:lnTo>
                <a:lnTo>
                  <a:pt x="7283" y="1260987"/>
                </a:lnTo>
                <a:lnTo>
                  <a:pt x="0" y="1215827"/>
                </a:lnTo>
                <a:lnTo>
                  <a:pt x="0" y="142874"/>
                </a:lnTo>
                <a:lnTo>
                  <a:pt x="7283" y="97715"/>
                </a:lnTo>
                <a:lnTo>
                  <a:pt x="27566" y="58494"/>
                </a:lnTo>
                <a:lnTo>
                  <a:pt x="58495" y="27566"/>
                </a:lnTo>
                <a:lnTo>
                  <a:pt x="97715" y="7283"/>
                </a:lnTo>
                <a:lnTo>
                  <a:pt x="142874" y="0"/>
                </a:lnTo>
                <a:lnTo>
                  <a:pt x="3661310" y="0"/>
                </a:lnTo>
                <a:lnTo>
                  <a:pt x="3706469" y="7283"/>
                </a:lnTo>
                <a:lnTo>
                  <a:pt x="3745689" y="27566"/>
                </a:lnTo>
                <a:lnTo>
                  <a:pt x="3776617" y="58494"/>
                </a:lnTo>
                <a:lnTo>
                  <a:pt x="3796899" y="97715"/>
                </a:lnTo>
                <a:lnTo>
                  <a:pt x="3804183" y="142874"/>
                </a:lnTo>
                <a:lnTo>
                  <a:pt x="3804183" y="1215827"/>
                </a:lnTo>
                <a:lnTo>
                  <a:pt x="3796899" y="1260987"/>
                </a:lnTo>
                <a:lnTo>
                  <a:pt x="3776617" y="1300208"/>
                </a:lnTo>
                <a:lnTo>
                  <a:pt x="3745689" y="1331136"/>
                </a:lnTo>
                <a:lnTo>
                  <a:pt x="3706469" y="1351419"/>
                </a:lnTo>
                <a:lnTo>
                  <a:pt x="3661310" y="1358702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  <a:alpha val="50000"/>
            </a:schemeClr>
          </a:solidFill>
          <a:ln w="19050">
            <a:solidFill>
              <a:schemeClr val="accent5">
                <a:lumMod val="60000"/>
                <a:lumOff val="40000"/>
              </a:schemeClr>
            </a:solidFill>
            <a:prstDash val="sysDash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9" name="Rounded Rectangle 22">
            <a:extLst>
              <a:ext uri="{FF2B5EF4-FFF2-40B4-BE49-F238E27FC236}">
                <a16:creationId xmlns:a16="http://schemas.microsoft.com/office/drawing/2014/main" id="{2BB815F3-C08A-A582-ED6C-67C5D2646481}"/>
              </a:ext>
            </a:extLst>
          </p:cNvPr>
          <p:cNvSpPr/>
          <p:nvPr/>
        </p:nvSpPr>
        <p:spPr>
          <a:xfrm>
            <a:off x="34659" y="2907108"/>
            <a:ext cx="5993146" cy="97312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1430">
            <a:solidFill>
              <a:srgbClr val="2380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317903"/>
            <a:r>
              <a:rPr lang="en-US" sz="2000" spc="-70" dirty="0">
                <a:latin typeface="Arial Black"/>
              </a:rPr>
              <a:t>    </a:t>
            </a:r>
            <a:endParaRPr lang="en-US" sz="1133" dirty="0">
              <a:solidFill>
                <a:schemeClr val="tx1"/>
              </a:solidFill>
              <a:latin typeface="Lucida Sans Unicode"/>
              <a:ea typeface="ＭＳ Ｐゴシック" pitchFamily="1" charset="-128"/>
              <a:cs typeface="Lucida Sans Unicode"/>
            </a:endParaRPr>
          </a:p>
        </p:txBody>
      </p:sp>
      <p:sp>
        <p:nvSpPr>
          <p:cNvPr id="35" name="Rounded Rectangle 22">
            <a:extLst>
              <a:ext uri="{FF2B5EF4-FFF2-40B4-BE49-F238E27FC236}">
                <a16:creationId xmlns:a16="http://schemas.microsoft.com/office/drawing/2014/main" id="{94655926-7E77-DD97-516D-107822BFB06D}"/>
              </a:ext>
            </a:extLst>
          </p:cNvPr>
          <p:cNvSpPr/>
          <p:nvPr/>
        </p:nvSpPr>
        <p:spPr>
          <a:xfrm>
            <a:off x="17465" y="1911874"/>
            <a:ext cx="6011491" cy="869324"/>
          </a:xfrm>
          <a:prstGeom prst="roundRect">
            <a:avLst/>
          </a:prstGeom>
          <a:solidFill>
            <a:srgbClr val="EEFAF3"/>
          </a:solidFill>
          <a:ln w="11430">
            <a:solidFill>
              <a:srgbClr val="2380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317903"/>
            <a:r>
              <a:rPr lang="en-US" sz="1400" b="1" spc="-40" dirty="0">
                <a:solidFill>
                  <a:schemeClr val="tx1"/>
                </a:solidFill>
                <a:latin typeface="Arial Black"/>
                <a:ea typeface="ＭＳ Ｐゴシック" pitchFamily="1" charset="-128"/>
              </a:rPr>
              <a:t>      </a:t>
            </a:r>
            <a:endParaRPr lang="en-US" sz="1133" dirty="0">
              <a:solidFill>
                <a:schemeClr val="tx1"/>
              </a:solidFill>
              <a:latin typeface="Lucida Sans Unicode"/>
              <a:ea typeface="ＭＳ Ｐゴシック" pitchFamily="1" charset="-128"/>
              <a:cs typeface="Lucida Sans Unicode"/>
            </a:endParaRPr>
          </a:p>
        </p:txBody>
      </p:sp>
      <p:sp>
        <p:nvSpPr>
          <p:cNvPr id="31" name="Rounded Rectangle 12">
            <a:extLst>
              <a:ext uri="{FF2B5EF4-FFF2-40B4-BE49-F238E27FC236}">
                <a16:creationId xmlns:a16="http://schemas.microsoft.com/office/drawing/2014/main" id="{EF8BAEA1-C3D5-2ED9-DF37-B6EE1C8E3F38}"/>
              </a:ext>
            </a:extLst>
          </p:cNvPr>
          <p:cNvSpPr/>
          <p:nvPr/>
        </p:nvSpPr>
        <p:spPr>
          <a:xfrm>
            <a:off x="17465" y="943686"/>
            <a:ext cx="6001988" cy="862918"/>
          </a:xfrm>
          <a:prstGeom prst="roundRect">
            <a:avLst/>
          </a:prstGeom>
          <a:solidFill>
            <a:srgbClr val="EEF6FF"/>
          </a:solidFill>
          <a:ln w="11430">
            <a:solidFill>
              <a:srgbClr val="2E64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63" name="object 159">
            <a:extLst>
              <a:ext uri="{FF2B5EF4-FFF2-40B4-BE49-F238E27FC236}">
                <a16:creationId xmlns:a16="http://schemas.microsoft.com/office/drawing/2014/main" id="{3F1BC8C8-0BE9-C302-C5D3-8BF989283254}"/>
              </a:ext>
            </a:extLst>
          </p:cNvPr>
          <p:cNvSpPr/>
          <p:nvPr/>
        </p:nvSpPr>
        <p:spPr>
          <a:xfrm>
            <a:off x="6211362" y="1033971"/>
            <a:ext cx="3254507" cy="1472638"/>
          </a:xfrm>
          <a:custGeom>
            <a:avLst/>
            <a:gdLst/>
            <a:ahLst/>
            <a:cxnLst/>
            <a:rect l="l" t="t" r="r" b="b"/>
            <a:pathLst>
              <a:path w="3804284" h="1358900">
                <a:moveTo>
                  <a:pt x="3661310" y="1358702"/>
                </a:moveTo>
                <a:lnTo>
                  <a:pt x="142874" y="1358702"/>
                </a:lnTo>
                <a:lnTo>
                  <a:pt x="97715" y="1351419"/>
                </a:lnTo>
                <a:lnTo>
                  <a:pt x="58495" y="1331136"/>
                </a:lnTo>
                <a:lnTo>
                  <a:pt x="27566" y="1300208"/>
                </a:lnTo>
                <a:lnTo>
                  <a:pt x="7283" y="1260987"/>
                </a:lnTo>
                <a:lnTo>
                  <a:pt x="0" y="1215827"/>
                </a:lnTo>
                <a:lnTo>
                  <a:pt x="0" y="142874"/>
                </a:lnTo>
                <a:lnTo>
                  <a:pt x="7283" y="97715"/>
                </a:lnTo>
                <a:lnTo>
                  <a:pt x="27566" y="58494"/>
                </a:lnTo>
                <a:lnTo>
                  <a:pt x="58495" y="27566"/>
                </a:lnTo>
                <a:lnTo>
                  <a:pt x="97715" y="7283"/>
                </a:lnTo>
                <a:lnTo>
                  <a:pt x="142874" y="0"/>
                </a:lnTo>
                <a:lnTo>
                  <a:pt x="3661310" y="0"/>
                </a:lnTo>
                <a:lnTo>
                  <a:pt x="3706469" y="7283"/>
                </a:lnTo>
                <a:lnTo>
                  <a:pt x="3745689" y="27566"/>
                </a:lnTo>
                <a:lnTo>
                  <a:pt x="3776617" y="58494"/>
                </a:lnTo>
                <a:lnTo>
                  <a:pt x="3796899" y="97715"/>
                </a:lnTo>
                <a:lnTo>
                  <a:pt x="3804183" y="142874"/>
                </a:lnTo>
                <a:lnTo>
                  <a:pt x="3804183" y="1215827"/>
                </a:lnTo>
                <a:lnTo>
                  <a:pt x="3796899" y="1260987"/>
                </a:lnTo>
                <a:lnTo>
                  <a:pt x="3776617" y="1300208"/>
                </a:lnTo>
                <a:lnTo>
                  <a:pt x="3745689" y="1331136"/>
                </a:lnTo>
                <a:lnTo>
                  <a:pt x="3706469" y="1351419"/>
                </a:lnTo>
                <a:lnTo>
                  <a:pt x="3661310" y="1358702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  <a:alpha val="50000"/>
            </a:schemeClr>
          </a:solidFill>
          <a:ln w="19050">
            <a:solidFill>
              <a:schemeClr val="accent2">
                <a:lumMod val="60000"/>
                <a:lumOff val="40000"/>
              </a:schemeClr>
            </a:solidFill>
            <a:prstDash val="sysDash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060496" y="-65699"/>
            <a:ext cx="4040293" cy="470215"/>
          </a:xfrm>
          <a:prstGeom prst="rect">
            <a:avLst/>
          </a:prstGeom>
        </p:spPr>
        <p:txBody>
          <a:bodyPr vert="horz" wrap="square" lIns="0" tIns="8467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8467">
              <a:spcBef>
                <a:spcPts val="67"/>
              </a:spcBef>
            </a:pPr>
            <a:r>
              <a:rPr spc="-223" dirty="0">
                <a:latin typeface="+mj-lt"/>
              </a:rPr>
              <a:t>FEA</a:t>
            </a:r>
            <a:r>
              <a:rPr lang="en-US" spc="-223" dirty="0">
                <a:latin typeface="+mj-lt"/>
              </a:rPr>
              <a:t>S</a:t>
            </a:r>
            <a:r>
              <a:rPr spc="-223" dirty="0">
                <a:latin typeface="+mj-lt"/>
              </a:rPr>
              <a:t>IBILITY</a:t>
            </a:r>
            <a:r>
              <a:rPr spc="-180" dirty="0">
                <a:latin typeface="+mj-lt"/>
              </a:rPr>
              <a:t> </a:t>
            </a:r>
            <a:r>
              <a:rPr spc="-360" dirty="0">
                <a:latin typeface="+mj-lt"/>
              </a:rPr>
              <a:t>AND</a:t>
            </a:r>
            <a:r>
              <a:rPr spc="-177" dirty="0">
                <a:latin typeface="+mj-lt"/>
              </a:rPr>
              <a:t> </a:t>
            </a:r>
            <a:r>
              <a:rPr spc="-283" dirty="0">
                <a:latin typeface="+mj-lt"/>
              </a:rPr>
              <a:t>VIABILITY</a:t>
            </a:r>
          </a:p>
        </p:txBody>
      </p:sp>
      <p:sp>
        <p:nvSpPr>
          <p:cNvPr id="68" name="object 68"/>
          <p:cNvSpPr/>
          <p:nvPr/>
        </p:nvSpPr>
        <p:spPr>
          <a:xfrm>
            <a:off x="6137195" y="870240"/>
            <a:ext cx="5861473" cy="5049230"/>
          </a:xfrm>
          <a:custGeom>
            <a:avLst/>
            <a:gdLst/>
            <a:ahLst/>
            <a:cxnLst/>
            <a:rect l="l" t="t" r="r" b="b"/>
            <a:pathLst>
              <a:path w="8792210" h="8609330">
                <a:moveTo>
                  <a:pt x="228599" y="19068"/>
                </a:moveTo>
                <a:lnTo>
                  <a:pt x="171449" y="19068"/>
                </a:lnTo>
                <a:lnTo>
                  <a:pt x="171449" y="0"/>
                </a:lnTo>
                <a:lnTo>
                  <a:pt x="228599" y="0"/>
                </a:lnTo>
                <a:lnTo>
                  <a:pt x="228599" y="19068"/>
                </a:lnTo>
                <a:close/>
              </a:path>
              <a:path w="8792210" h="8609330">
                <a:moveTo>
                  <a:pt x="304799" y="19068"/>
                </a:moveTo>
                <a:lnTo>
                  <a:pt x="247649" y="19068"/>
                </a:lnTo>
                <a:lnTo>
                  <a:pt x="247649" y="0"/>
                </a:lnTo>
                <a:lnTo>
                  <a:pt x="304799" y="0"/>
                </a:lnTo>
                <a:lnTo>
                  <a:pt x="304799" y="19068"/>
                </a:lnTo>
                <a:close/>
              </a:path>
              <a:path w="8792210" h="8609330">
                <a:moveTo>
                  <a:pt x="380999" y="19068"/>
                </a:moveTo>
                <a:lnTo>
                  <a:pt x="323849" y="19068"/>
                </a:lnTo>
                <a:lnTo>
                  <a:pt x="323849" y="0"/>
                </a:lnTo>
                <a:lnTo>
                  <a:pt x="380999" y="0"/>
                </a:lnTo>
                <a:lnTo>
                  <a:pt x="380999" y="19068"/>
                </a:lnTo>
                <a:close/>
              </a:path>
              <a:path w="8792210" h="8609330">
                <a:moveTo>
                  <a:pt x="457199" y="19068"/>
                </a:moveTo>
                <a:lnTo>
                  <a:pt x="400049" y="19068"/>
                </a:lnTo>
                <a:lnTo>
                  <a:pt x="400049" y="0"/>
                </a:lnTo>
                <a:lnTo>
                  <a:pt x="457199" y="0"/>
                </a:lnTo>
                <a:lnTo>
                  <a:pt x="457199" y="19068"/>
                </a:lnTo>
                <a:close/>
              </a:path>
              <a:path w="8792210" h="8609330">
                <a:moveTo>
                  <a:pt x="533399" y="19068"/>
                </a:moveTo>
                <a:lnTo>
                  <a:pt x="476249" y="19068"/>
                </a:lnTo>
                <a:lnTo>
                  <a:pt x="476249" y="0"/>
                </a:lnTo>
                <a:lnTo>
                  <a:pt x="533399" y="0"/>
                </a:lnTo>
                <a:lnTo>
                  <a:pt x="533399" y="19068"/>
                </a:lnTo>
                <a:close/>
              </a:path>
              <a:path w="8792210" h="8609330">
                <a:moveTo>
                  <a:pt x="609599" y="19068"/>
                </a:moveTo>
                <a:lnTo>
                  <a:pt x="552449" y="19068"/>
                </a:lnTo>
                <a:lnTo>
                  <a:pt x="552449" y="0"/>
                </a:lnTo>
                <a:lnTo>
                  <a:pt x="609599" y="0"/>
                </a:lnTo>
                <a:lnTo>
                  <a:pt x="609599" y="19068"/>
                </a:lnTo>
                <a:close/>
              </a:path>
              <a:path w="8792210" h="8609330">
                <a:moveTo>
                  <a:pt x="685799" y="19068"/>
                </a:moveTo>
                <a:lnTo>
                  <a:pt x="628649" y="19068"/>
                </a:lnTo>
                <a:lnTo>
                  <a:pt x="628649" y="0"/>
                </a:lnTo>
                <a:lnTo>
                  <a:pt x="685799" y="0"/>
                </a:lnTo>
                <a:lnTo>
                  <a:pt x="685799" y="19068"/>
                </a:lnTo>
                <a:close/>
              </a:path>
              <a:path w="8792210" h="8609330">
                <a:moveTo>
                  <a:pt x="761999" y="19068"/>
                </a:moveTo>
                <a:lnTo>
                  <a:pt x="704849" y="19068"/>
                </a:lnTo>
                <a:lnTo>
                  <a:pt x="704849" y="0"/>
                </a:lnTo>
                <a:lnTo>
                  <a:pt x="761999" y="0"/>
                </a:lnTo>
                <a:lnTo>
                  <a:pt x="761999" y="19068"/>
                </a:lnTo>
                <a:close/>
              </a:path>
              <a:path w="8792210" h="8609330">
                <a:moveTo>
                  <a:pt x="838199" y="19068"/>
                </a:moveTo>
                <a:lnTo>
                  <a:pt x="781049" y="19068"/>
                </a:lnTo>
                <a:lnTo>
                  <a:pt x="781049" y="0"/>
                </a:lnTo>
                <a:lnTo>
                  <a:pt x="838199" y="0"/>
                </a:lnTo>
                <a:lnTo>
                  <a:pt x="838199" y="19068"/>
                </a:lnTo>
                <a:close/>
              </a:path>
              <a:path w="8792210" h="8609330">
                <a:moveTo>
                  <a:pt x="914399" y="19068"/>
                </a:moveTo>
                <a:lnTo>
                  <a:pt x="857249" y="19068"/>
                </a:lnTo>
                <a:lnTo>
                  <a:pt x="857249" y="0"/>
                </a:lnTo>
                <a:lnTo>
                  <a:pt x="914399" y="0"/>
                </a:lnTo>
                <a:lnTo>
                  <a:pt x="914399" y="19068"/>
                </a:lnTo>
                <a:close/>
              </a:path>
              <a:path w="8792210" h="8609330">
                <a:moveTo>
                  <a:pt x="990599" y="19068"/>
                </a:moveTo>
                <a:lnTo>
                  <a:pt x="933449" y="19068"/>
                </a:lnTo>
                <a:lnTo>
                  <a:pt x="933449" y="0"/>
                </a:lnTo>
                <a:lnTo>
                  <a:pt x="990599" y="0"/>
                </a:lnTo>
                <a:lnTo>
                  <a:pt x="990599" y="19068"/>
                </a:lnTo>
                <a:close/>
              </a:path>
              <a:path w="8792210" h="8609330">
                <a:moveTo>
                  <a:pt x="1066799" y="19068"/>
                </a:moveTo>
                <a:lnTo>
                  <a:pt x="1009649" y="19068"/>
                </a:lnTo>
                <a:lnTo>
                  <a:pt x="1009649" y="0"/>
                </a:lnTo>
                <a:lnTo>
                  <a:pt x="1066799" y="0"/>
                </a:lnTo>
                <a:lnTo>
                  <a:pt x="1066799" y="19068"/>
                </a:lnTo>
                <a:close/>
              </a:path>
              <a:path w="8792210" h="8609330">
                <a:moveTo>
                  <a:pt x="1142999" y="19068"/>
                </a:moveTo>
                <a:lnTo>
                  <a:pt x="1085849" y="19068"/>
                </a:lnTo>
                <a:lnTo>
                  <a:pt x="1085849" y="0"/>
                </a:lnTo>
                <a:lnTo>
                  <a:pt x="1142999" y="0"/>
                </a:lnTo>
                <a:lnTo>
                  <a:pt x="1142999" y="19068"/>
                </a:lnTo>
                <a:close/>
              </a:path>
              <a:path w="8792210" h="8609330">
                <a:moveTo>
                  <a:pt x="1219199" y="19068"/>
                </a:moveTo>
                <a:lnTo>
                  <a:pt x="1162049" y="19068"/>
                </a:lnTo>
                <a:lnTo>
                  <a:pt x="1162049" y="0"/>
                </a:lnTo>
                <a:lnTo>
                  <a:pt x="1219199" y="0"/>
                </a:lnTo>
                <a:lnTo>
                  <a:pt x="1219199" y="19068"/>
                </a:lnTo>
                <a:close/>
              </a:path>
              <a:path w="8792210" h="8609330">
                <a:moveTo>
                  <a:pt x="1295399" y="19068"/>
                </a:moveTo>
                <a:lnTo>
                  <a:pt x="1238249" y="19068"/>
                </a:lnTo>
                <a:lnTo>
                  <a:pt x="1238249" y="0"/>
                </a:lnTo>
                <a:lnTo>
                  <a:pt x="1295399" y="0"/>
                </a:lnTo>
                <a:lnTo>
                  <a:pt x="1295399" y="19068"/>
                </a:lnTo>
                <a:close/>
              </a:path>
              <a:path w="8792210" h="8609330">
                <a:moveTo>
                  <a:pt x="1371599" y="19068"/>
                </a:moveTo>
                <a:lnTo>
                  <a:pt x="1314449" y="19068"/>
                </a:lnTo>
                <a:lnTo>
                  <a:pt x="1314449" y="0"/>
                </a:lnTo>
                <a:lnTo>
                  <a:pt x="1371599" y="0"/>
                </a:lnTo>
                <a:lnTo>
                  <a:pt x="1371599" y="19068"/>
                </a:lnTo>
                <a:close/>
              </a:path>
              <a:path w="8792210" h="8609330">
                <a:moveTo>
                  <a:pt x="1447799" y="19068"/>
                </a:moveTo>
                <a:lnTo>
                  <a:pt x="1390649" y="19068"/>
                </a:lnTo>
                <a:lnTo>
                  <a:pt x="1390649" y="0"/>
                </a:lnTo>
                <a:lnTo>
                  <a:pt x="1447799" y="0"/>
                </a:lnTo>
                <a:lnTo>
                  <a:pt x="1447799" y="19068"/>
                </a:lnTo>
                <a:close/>
              </a:path>
              <a:path w="8792210" h="8609330">
                <a:moveTo>
                  <a:pt x="1523999" y="19068"/>
                </a:moveTo>
                <a:lnTo>
                  <a:pt x="1466849" y="19068"/>
                </a:lnTo>
                <a:lnTo>
                  <a:pt x="1466849" y="0"/>
                </a:lnTo>
                <a:lnTo>
                  <a:pt x="1523999" y="0"/>
                </a:lnTo>
                <a:lnTo>
                  <a:pt x="1523999" y="19068"/>
                </a:lnTo>
                <a:close/>
              </a:path>
              <a:path w="8792210" h="8609330">
                <a:moveTo>
                  <a:pt x="1600199" y="19068"/>
                </a:moveTo>
                <a:lnTo>
                  <a:pt x="1543049" y="19068"/>
                </a:lnTo>
                <a:lnTo>
                  <a:pt x="1543049" y="0"/>
                </a:lnTo>
                <a:lnTo>
                  <a:pt x="1600199" y="0"/>
                </a:lnTo>
                <a:lnTo>
                  <a:pt x="1600199" y="19068"/>
                </a:lnTo>
                <a:close/>
              </a:path>
              <a:path w="8792210" h="8609330">
                <a:moveTo>
                  <a:pt x="1676399" y="19068"/>
                </a:moveTo>
                <a:lnTo>
                  <a:pt x="1619249" y="19068"/>
                </a:lnTo>
                <a:lnTo>
                  <a:pt x="1619249" y="0"/>
                </a:lnTo>
                <a:lnTo>
                  <a:pt x="1676399" y="0"/>
                </a:lnTo>
                <a:lnTo>
                  <a:pt x="1676399" y="19068"/>
                </a:lnTo>
                <a:close/>
              </a:path>
              <a:path w="8792210" h="8609330">
                <a:moveTo>
                  <a:pt x="1752599" y="19068"/>
                </a:moveTo>
                <a:lnTo>
                  <a:pt x="1695449" y="19068"/>
                </a:lnTo>
                <a:lnTo>
                  <a:pt x="1695449" y="0"/>
                </a:lnTo>
                <a:lnTo>
                  <a:pt x="1752599" y="0"/>
                </a:lnTo>
                <a:lnTo>
                  <a:pt x="1752599" y="19068"/>
                </a:lnTo>
                <a:close/>
              </a:path>
              <a:path w="8792210" h="8609330">
                <a:moveTo>
                  <a:pt x="1828799" y="19068"/>
                </a:moveTo>
                <a:lnTo>
                  <a:pt x="1771649" y="19068"/>
                </a:lnTo>
                <a:lnTo>
                  <a:pt x="1771649" y="0"/>
                </a:lnTo>
                <a:lnTo>
                  <a:pt x="1828799" y="0"/>
                </a:lnTo>
                <a:lnTo>
                  <a:pt x="1828799" y="19068"/>
                </a:lnTo>
                <a:close/>
              </a:path>
              <a:path w="8792210" h="8609330">
                <a:moveTo>
                  <a:pt x="1904999" y="19068"/>
                </a:moveTo>
                <a:lnTo>
                  <a:pt x="1847849" y="19068"/>
                </a:lnTo>
                <a:lnTo>
                  <a:pt x="1847849" y="0"/>
                </a:lnTo>
                <a:lnTo>
                  <a:pt x="1904999" y="0"/>
                </a:lnTo>
                <a:lnTo>
                  <a:pt x="1904999" y="19068"/>
                </a:lnTo>
                <a:close/>
              </a:path>
              <a:path w="8792210" h="8609330">
                <a:moveTo>
                  <a:pt x="1981199" y="19068"/>
                </a:moveTo>
                <a:lnTo>
                  <a:pt x="1924049" y="19068"/>
                </a:lnTo>
                <a:lnTo>
                  <a:pt x="1924049" y="0"/>
                </a:lnTo>
                <a:lnTo>
                  <a:pt x="1981199" y="0"/>
                </a:lnTo>
                <a:lnTo>
                  <a:pt x="1981199" y="19068"/>
                </a:lnTo>
                <a:close/>
              </a:path>
              <a:path w="8792210" h="8609330">
                <a:moveTo>
                  <a:pt x="2057399" y="19068"/>
                </a:moveTo>
                <a:lnTo>
                  <a:pt x="2000249" y="19068"/>
                </a:lnTo>
                <a:lnTo>
                  <a:pt x="2000249" y="0"/>
                </a:lnTo>
                <a:lnTo>
                  <a:pt x="2057399" y="0"/>
                </a:lnTo>
                <a:lnTo>
                  <a:pt x="2057399" y="19068"/>
                </a:lnTo>
                <a:close/>
              </a:path>
              <a:path w="8792210" h="8609330">
                <a:moveTo>
                  <a:pt x="2133599" y="19068"/>
                </a:moveTo>
                <a:lnTo>
                  <a:pt x="2076449" y="19068"/>
                </a:lnTo>
                <a:lnTo>
                  <a:pt x="2076449" y="0"/>
                </a:lnTo>
                <a:lnTo>
                  <a:pt x="2133599" y="0"/>
                </a:lnTo>
                <a:lnTo>
                  <a:pt x="2133599" y="19068"/>
                </a:lnTo>
                <a:close/>
              </a:path>
              <a:path w="8792210" h="8609330">
                <a:moveTo>
                  <a:pt x="2209799" y="19068"/>
                </a:moveTo>
                <a:lnTo>
                  <a:pt x="2152649" y="19068"/>
                </a:lnTo>
                <a:lnTo>
                  <a:pt x="2152649" y="0"/>
                </a:lnTo>
                <a:lnTo>
                  <a:pt x="2209799" y="0"/>
                </a:lnTo>
                <a:lnTo>
                  <a:pt x="2209799" y="19068"/>
                </a:lnTo>
                <a:close/>
              </a:path>
              <a:path w="8792210" h="8609330">
                <a:moveTo>
                  <a:pt x="2285998" y="19068"/>
                </a:moveTo>
                <a:lnTo>
                  <a:pt x="2228849" y="19068"/>
                </a:lnTo>
                <a:lnTo>
                  <a:pt x="2228849" y="0"/>
                </a:lnTo>
                <a:lnTo>
                  <a:pt x="2285998" y="0"/>
                </a:lnTo>
                <a:lnTo>
                  <a:pt x="2285998" y="19068"/>
                </a:lnTo>
                <a:close/>
              </a:path>
              <a:path w="8792210" h="8609330">
                <a:moveTo>
                  <a:pt x="2362199" y="19068"/>
                </a:moveTo>
                <a:lnTo>
                  <a:pt x="2305049" y="19068"/>
                </a:lnTo>
                <a:lnTo>
                  <a:pt x="2305049" y="0"/>
                </a:lnTo>
                <a:lnTo>
                  <a:pt x="2362199" y="0"/>
                </a:lnTo>
                <a:lnTo>
                  <a:pt x="2362199" y="19068"/>
                </a:lnTo>
                <a:close/>
              </a:path>
              <a:path w="8792210" h="8609330">
                <a:moveTo>
                  <a:pt x="2438399" y="19068"/>
                </a:moveTo>
                <a:lnTo>
                  <a:pt x="2381249" y="19068"/>
                </a:lnTo>
                <a:lnTo>
                  <a:pt x="2381249" y="0"/>
                </a:lnTo>
                <a:lnTo>
                  <a:pt x="2438399" y="0"/>
                </a:lnTo>
                <a:lnTo>
                  <a:pt x="2438399" y="19068"/>
                </a:lnTo>
                <a:close/>
              </a:path>
              <a:path w="8792210" h="8609330">
                <a:moveTo>
                  <a:pt x="2514599" y="19068"/>
                </a:moveTo>
                <a:lnTo>
                  <a:pt x="2457449" y="19068"/>
                </a:lnTo>
                <a:lnTo>
                  <a:pt x="2457449" y="0"/>
                </a:lnTo>
                <a:lnTo>
                  <a:pt x="2514599" y="0"/>
                </a:lnTo>
                <a:lnTo>
                  <a:pt x="2514599" y="19068"/>
                </a:lnTo>
                <a:close/>
              </a:path>
              <a:path w="8792210" h="8609330">
                <a:moveTo>
                  <a:pt x="2590799" y="19068"/>
                </a:moveTo>
                <a:lnTo>
                  <a:pt x="2533649" y="19068"/>
                </a:lnTo>
                <a:lnTo>
                  <a:pt x="2533649" y="0"/>
                </a:lnTo>
                <a:lnTo>
                  <a:pt x="2590799" y="0"/>
                </a:lnTo>
                <a:lnTo>
                  <a:pt x="2590799" y="19068"/>
                </a:lnTo>
                <a:close/>
              </a:path>
              <a:path w="8792210" h="8609330">
                <a:moveTo>
                  <a:pt x="2666999" y="19068"/>
                </a:moveTo>
                <a:lnTo>
                  <a:pt x="2609849" y="19068"/>
                </a:lnTo>
                <a:lnTo>
                  <a:pt x="2609849" y="0"/>
                </a:lnTo>
                <a:lnTo>
                  <a:pt x="2666999" y="0"/>
                </a:lnTo>
                <a:lnTo>
                  <a:pt x="2666999" y="19068"/>
                </a:lnTo>
                <a:close/>
              </a:path>
              <a:path w="8792210" h="8609330">
                <a:moveTo>
                  <a:pt x="2743199" y="19068"/>
                </a:moveTo>
                <a:lnTo>
                  <a:pt x="2686049" y="19068"/>
                </a:lnTo>
                <a:lnTo>
                  <a:pt x="2686049" y="0"/>
                </a:lnTo>
                <a:lnTo>
                  <a:pt x="2743199" y="0"/>
                </a:lnTo>
                <a:lnTo>
                  <a:pt x="2743199" y="19068"/>
                </a:lnTo>
                <a:close/>
              </a:path>
              <a:path w="8792210" h="8609330">
                <a:moveTo>
                  <a:pt x="2819398" y="19068"/>
                </a:moveTo>
                <a:lnTo>
                  <a:pt x="2762249" y="19068"/>
                </a:lnTo>
                <a:lnTo>
                  <a:pt x="2762249" y="0"/>
                </a:lnTo>
                <a:lnTo>
                  <a:pt x="2819398" y="0"/>
                </a:lnTo>
                <a:lnTo>
                  <a:pt x="2819398" y="19068"/>
                </a:lnTo>
                <a:close/>
              </a:path>
              <a:path w="8792210" h="8609330">
                <a:moveTo>
                  <a:pt x="2895598" y="19068"/>
                </a:moveTo>
                <a:lnTo>
                  <a:pt x="2838448" y="19068"/>
                </a:lnTo>
                <a:lnTo>
                  <a:pt x="2838448" y="0"/>
                </a:lnTo>
                <a:lnTo>
                  <a:pt x="2895598" y="0"/>
                </a:lnTo>
                <a:lnTo>
                  <a:pt x="2895598" y="19068"/>
                </a:lnTo>
                <a:close/>
              </a:path>
              <a:path w="8792210" h="8609330">
                <a:moveTo>
                  <a:pt x="2971798" y="19068"/>
                </a:moveTo>
                <a:lnTo>
                  <a:pt x="2914648" y="19068"/>
                </a:lnTo>
                <a:lnTo>
                  <a:pt x="2914648" y="0"/>
                </a:lnTo>
                <a:lnTo>
                  <a:pt x="2971798" y="0"/>
                </a:lnTo>
                <a:lnTo>
                  <a:pt x="2971798" y="19068"/>
                </a:lnTo>
                <a:close/>
              </a:path>
              <a:path w="8792210" h="8609330">
                <a:moveTo>
                  <a:pt x="3047998" y="19068"/>
                </a:moveTo>
                <a:lnTo>
                  <a:pt x="2990848" y="19068"/>
                </a:lnTo>
                <a:lnTo>
                  <a:pt x="2990848" y="0"/>
                </a:lnTo>
                <a:lnTo>
                  <a:pt x="3047998" y="0"/>
                </a:lnTo>
                <a:lnTo>
                  <a:pt x="3047998" y="19068"/>
                </a:lnTo>
                <a:close/>
              </a:path>
              <a:path w="8792210" h="8609330">
                <a:moveTo>
                  <a:pt x="3124198" y="19068"/>
                </a:moveTo>
                <a:lnTo>
                  <a:pt x="3067048" y="19068"/>
                </a:lnTo>
                <a:lnTo>
                  <a:pt x="3067048" y="0"/>
                </a:lnTo>
                <a:lnTo>
                  <a:pt x="3124198" y="0"/>
                </a:lnTo>
                <a:lnTo>
                  <a:pt x="3124198" y="19068"/>
                </a:lnTo>
                <a:close/>
              </a:path>
              <a:path w="8792210" h="8609330">
                <a:moveTo>
                  <a:pt x="3200398" y="19068"/>
                </a:moveTo>
                <a:lnTo>
                  <a:pt x="3143248" y="19068"/>
                </a:lnTo>
                <a:lnTo>
                  <a:pt x="3143248" y="0"/>
                </a:lnTo>
                <a:lnTo>
                  <a:pt x="3200398" y="0"/>
                </a:lnTo>
                <a:lnTo>
                  <a:pt x="3200398" y="19068"/>
                </a:lnTo>
                <a:close/>
              </a:path>
              <a:path w="8792210" h="8609330">
                <a:moveTo>
                  <a:pt x="3276598" y="19068"/>
                </a:moveTo>
                <a:lnTo>
                  <a:pt x="3219448" y="19068"/>
                </a:lnTo>
                <a:lnTo>
                  <a:pt x="3219448" y="0"/>
                </a:lnTo>
                <a:lnTo>
                  <a:pt x="3276598" y="0"/>
                </a:lnTo>
                <a:lnTo>
                  <a:pt x="3276598" y="19068"/>
                </a:lnTo>
                <a:close/>
              </a:path>
              <a:path w="8792210" h="8609330">
                <a:moveTo>
                  <a:pt x="3352798" y="19068"/>
                </a:moveTo>
                <a:lnTo>
                  <a:pt x="3295648" y="19068"/>
                </a:lnTo>
                <a:lnTo>
                  <a:pt x="3295648" y="0"/>
                </a:lnTo>
                <a:lnTo>
                  <a:pt x="3352798" y="0"/>
                </a:lnTo>
                <a:lnTo>
                  <a:pt x="3352798" y="19068"/>
                </a:lnTo>
                <a:close/>
              </a:path>
              <a:path w="8792210" h="8609330">
                <a:moveTo>
                  <a:pt x="3428998" y="19068"/>
                </a:moveTo>
                <a:lnTo>
                  <a:pt x="3371848" y="19068"/>
                </a:lnTo>
                <a:lnTo>
                  <a:pt x="3371848" y="0"/>
                </a:lnTo>
                <a:lnTo>
                  <a:pt x="3428998" y="0"/>
                </a:lnTo>
                <a:lnTo>
                  <a:pt x="3428998" y="19068"/>
                </a:lnTo>
                <a:close/>
              </a:path>
              <a:path w="8792210" h="8609330">
                <a:moveTo>
                  <a:pt x="3505198" y="19068"/>
                </a:moveTo>
                <a:lnTo>
                  <a:pt x="3448048" y="19068"/>
                </a:lnTo>
                <a:lnTo>
                  <a:pt x="3448048" y="0"/>
                </a:lnTo>
                <a:lnTo>
                  <a:pt x="3505198" y="0"/>
                </a:lnTo>
                <a:lnTo>
                  <a:pt x="3505198" y="19068"/>
                </a:lnTo>
                <a:close/>
              </a:path>
              <a:path w="8792210" h="8609330">
                <a:moveTo>
                  <a:pt x="3581398" y="19068"/>
                </a:moveTo>
                <a:lnTo>
                  <a:pt x="3524248" y="19068"/>
                </a:lnTo>
                <a:lnTo>
                  <a:pt x="3524248" y="0"/>
                </a:lnTo>
                <a:lnTo>
                  <a:pt x="3581398" y="0"/>
                </a:lnTo>
                <a:lnTo>
                  <a:pt x="3581398" y="19068"/>
                </a:lnTo>
                <a:close/>
              </a:path>
              <a:path w="8792210" h="8609330">
                <a:moveTo>
                  <a:pt x="3657598" y="19068"/>
                </a:moveTo>
                <a:lnTo>
                  <a:pt x="3600448" y="19068"/>
                </a:lnTo>
                <a:lnTo>
                  <a:pt x="3600448" y="0"/>
                </a:lnTo>
                <a:lnTo>
                  <a:pt x="3657598" y="0"/>
                </a:lnTo>
                <a:lnTo>
                  <a:pt x="3657598" y="19068"/>
                </a:lnTo>
                <a:close/>
              </a:path>
              <a:path w="8792210" h="8609330">
                <a:moveTo>
                  <a:pt x="3733798" y="19068"/>
                </a:moveTo>
                <a:lnTo>
                  <a:pt x="3676648" y="19068"/>
                </a:lnTo>
                <a:lnTo>
                  <a:pt x="3676648" y="0"/>
                </a:lnTo>
                <a:lnTo>
                  <a:pt x="3733798" y="0"/>
                </a:lnTo>
                <a:lnTo>
                  <a:pt x="3733798" y="19068"/>
                </a:lnTo>
                <a:close/>
              </a:path>
              <a:path w="8792210" h="8609330">
                <a:moveTo>
                  <a:pt x="3809998" y="19068"/>
                </a:moveTo>
                <a:lnTo>
                  <a:pt x="3752848" y="19068"/>
                </a:lnTo>
                <a:lnTo>
                  <a:pt x="3752848" y="0"/>
                </a:lnTo>
                <a:lnTo>
                  <a:pt x="3809998" y="0"/>
                </a:lnTo>
                <a:lnTo>
                  <a:pt x="3809998" y="19068"/>
                </a:lnTo>
                <a:close/>
              </a:path>
              <a:path w="8792210" h="8609330">
                <a:moveTo>
                  <a:pt x="3886198" y="19068"/>
                </a:moveTo>
                <a:lnTo>
                  <a:pt x="3829048" y="19068"/>
                </a:lnTo>
                <a:lnTo>
                  <a:pt x="3829048" y="0"/>
                </a:lnTo>
                <a:lnTo>
                  <a:pt x="3886198" y="0"/>
                </a:lnTo>
                <a:lnTo>
                  <a:pt x="3886198" y="19068"/>
                </a:lnTo>
                <a:close/>
              </a:path>
              <a:path w="8792210" h="8609330">
                <a:moveTo>
                  <a:pt x="3962398" y="19068"/>
                </a:moveTo>
                <a:lnTo>
                  <a:pt x="3905248" y="19068"/>
                </a:lnTo>
                <a:lnTo>
                  <a:pt x="3905248" y="0"/>
                </a:lnTo>
                <a:lnTo>
                  <a:pt x="3962398" y="0"/>
                </a:lnTo>
                <a:lnTo>
                  <a:pt x="3962398" y="19068"/>
                </a:lnTo>
                <a:close/>
              </a:path>
              <a:path w="8792210" h="8609330">
                <a:moveTo>
                  <a:pt x="4038598" y="19068"/>
                </a:moveTo>
                <a:lnTo>
                  <a:pt x="3981448" y="19068"/>
                </a:lnTo>
                <a:lnTo>
                  <a:pt x="3981448" y="0"/>
                </a:lnTo>
                <a:lnTo>
                  <a:pt x="4038598" y="0"/>
                </a:lnTo>
                <a:lnTo>
                  <a:pt x="4038598" y="19068"/>
                </a:lnTo>
                <a:close/>
              </a:path>
              <a:path w="8792210" h="8609330">
                <a:moveTo>
                  <a:pt x="4114798" y="19068"/>
                </a:moveTo>
                <a:lnTo>
                  <a:pt x="4057648" y="19068"/>
                </a:lnTo>
                <a:lnTo>
                  <a:pt x="4057648" y="0"/>
                </a:lnTo>
                <a:lnTo>
                  <a:pt x="4114798" y="0"/>
                </a:lnTo>
                <a:lnTo>
                  <a:pt x="4114798" y="19068"/>
                </a:lnTo>
                <a:close/>
              </a:path>
              <a:path w="8792210" h="8609330">
                <a:moveTo>
                  <a:pt x="4190998" y="19068"/>
                </a:moveTo>
                <a:lnTo>
                  <a:pt x="4133848" y="19068"/>
                </a:lnTo>
                <a:lnTo>
                  <a:pt x="4133848" y="0"/>
                </a:lnTo>
                <a:lnTo>
                  <a:pt x="4190998" y="0"/>
                </a:lnTo>
                <a:lnTo>
                  <a:pt x="4190998" y="19068"/>
                </a:lnTo>
                <a:close/>
              </a:path>
              <a:path w="8792210" h="8609330">
                <a:moveTo>
                  <a:pt x="4267198" y="19068"/>
                </a:moveTo>
                <a:lnTo>
                  <a:pt x="4210048" y="19068"/>
                </a:lnTo>
                <a:lnTo>
                  <a:pt x="4210048" y="0"/>
                </a:lnTo>
                <a:lnTo>
                  <a:pt x="4267198" y="0"/>
                </a:lnTo>
                <a:lnTo>
                  <a:pt x="4267198" y="19068"/>
                </a:lnTo>
                <a:close/>
              </a:path>
              <a:path w="8792210" h="8609330">
                <a:moveTo>
                  <a:pt x="4343398" y="19068"/>
                </a:moveTo>
                <a:lnTo>
                  <a:pt x="4286248" y="19068"/>
                </a:lnTo>
                <a:lnTo>
                  <a:pt x="4286248" y="0"/>
                </a:lnTo>
                <a:lnTo>
                  <a:pt x="4343398" y="0"/>
                </a:lnTo>
                <a:lnTo>
                  <a:pt x="4343398" y="19068"/>
                </a:lnTo>
                <a:close/>
              </a:path>
              <a:path w="8792210" h="8609330">
                <a:moveTo>
                  <a:pt x="4419598" y="19068"/>
                </a:moveTo>
                <a:lnTo>
                  <a:pt x="4362448" y="19068"/>
                </a:lnTo>
                <a:lnTo>
                  <a:pt x="4362448" y="0"/>
                </a:lnTo>
                <a:lnTo>
                  <a:pt x="4419598" y="0"/>
                </a:lnTo>
                <a:lnTo>
                  <a:pt x="4419598" y="19068"/>
                </a:lnTo>
                <a:close/>
              </a:path>
              <a:path w="8792210" h="8609330">
                <a:moveTo>
                  <a:pt x="4495798" y="19068"/>
                </a:moveTo>
                <a:lnTo>
                  <a:pt x="4438648" y="19068"/>
                </a:lnTo>
                <a:lnTo>
                  <a:pt x="4438648" y="0"/>
                </a:lnTo>
                <a:lnTo>
                  <a:pt x="4495798" y="0"/>
                </a:lnTo>
                <a:lnTo>
                  <a:pt x="4495798" y="19068"/>
                </a:lnTo>
                <a:close/>
              </a:path>
              <a:path w="8792210" h="8609330">
                <a:moveTo>
                  <a:pt x="4571999" y="19068"/>
                </a:moveTo>
                <a:lnTo>
                  <a:pt x="4514848" y="19068"/>
                </a:lnTo>
                <a:lnTo>
                  <a:pt x="4514848" y="0"/>
                </a:lnTo>
                <a:lnTo>
                  <a:pt x="4571999" y="0"/>
                </a:lnTo>
                <a:lnTo>
                  <a:pt x="4571999" y="19068"/>
                </a:lnTo>
                <a:close/>
              </a:path>
              <a:path w="8792210" h="8609330">
                <a:moveTo>
                  <a:pt x="4648198" y="19068"/>
                </a:moveTo>
                <a:lnTo>
                  <a:pt x="4591049" y="19068"/>
                </a:lnTo>
                <a:lnTo>
                  <a:pt x="4591049" y="0"/>
                </a:lnTo>
                <a:lnTo>
                  <a:pt x="4648198" y="0"/>
                </a:lnTo>
                <a:lnTo>
                  <a:pt x="4648198" y="19068"/>
                </a:lnTo>
                <a:close/>
              </a:path>
              <a:path w="8792210" h="8609330">
                <a:moveTo>
                  <a:pt x="4724398" y="19068"/>
                </a:moveTo>
                <a:lnTo>
                  <a:pt x="4667248" y="19068"/>
                </a:lnTo>
                <a:lnTo>
                  <a:pt x="4667248" y="0"/>
                </a:lnTo>
                <a:lnTo>
                  <a:pt x="4724398" y="0"/>
                </a:lnTo>
                <a:lnTo>
                  <a:pt x="4724398" y="19068"/>
                </a:lnTo>
                <a:close/>
              </a:path>
              <a:path w="8792210" h="8609330">
                <a:moveTo>
                  <a:pt x="4800598" y="19068"/>
                </a:moveTo>
                <a:lnTo>
                  <a:pt x="4743448" y="19068"/>
                </a:lnTo>
                <a:lnTo>
                  <a:pt x="4743448" y="0"/>
                </a:lnTo>
                <a:lnTo>
                  <a:pt x="4800598" y="0"/>
                </a:lnTo>
                <a:lnTo>
                  <a:pt x="4800598" y="19068"/>
                </a:lnTo>
                <a:close/>
              </a:path>
              <a:path w="8792210" h="8609330">
                <a:moveTo>
                  <a:pt x="4876798" y="19068"/>
                </a:moveTo>
                <a:lnTo>
                  <a:pt x="4819649" y="19068"/>
                </a:lnTo>
                <a:lnTo>
                  <a:pt x="4819649" y="0"/>
                </a:lnTo>
                <a:lnTo>
                  <a:pt x="4876798" y="0"/>
                </a:lnTo>
                <a:lnTo>
                  <a:pt x="4876798" y="19068"/>
                </a:lnTo>
                <a:close/>
              </a:path>
              <a:path w="8792210" h="8609330">
                <a:moveTo>
                  <a:pt x="4952998" y="19068"/>
                </a:moveTo>
                <a:lnTo>
                  <a:pt x="4895848" y="19068"/>
                </a:lnTo>
                <a:lnTo>
                  <a:pt x="4895848" y="0"/>
                </a:lnTo>
                <a:lnTo>
                  <a:pt x="4952998" y="0"/>
                </a:lnTo>
                <a:lnTo>
                  <a:pt x="4952998" y="19068"/>
                </a:lnTo>
                <a:close/>
              </a:path>
              <a:path w="8792210" h="8609330">
                <a:moveTo>
                  <a:pt x="5029198" y="19068"/>
                </a:moveTo>
                <a:lnTo>
                  <a:pt x="4972048" y="19068"/>
                </a:lnTo>
                <a:lnTo>
                  <a:pt x="4972048" y="0"/>
                </a:lnTo>
                <a:lnTo>
                  <a:pt x="5029198" y="0"/>
                </a:lnTo>
                <a:lnTo>
                  <a:pt x="5029198" y="19068"/>
                </a:lnTo>
                <a:close/>
              </a:path>
              <a:path w="8792210" h="8609330">
                <a:moveTo>
                  <a:pt x="5105398" y="19068"/>
                </a:moveTo>
                <a:lnTo>
                  <a:pt x="5048248" y="19068"/>
                </a:lnTo>
                <a:lnTo>
                  <a:pt x="5048248" y="0"/>
                </a:lnTo>
                <a:lnTo>
                  <a:pt x="5105398" y="0"/>
                </a:lnTo>
                <a:lnTo>
                  <a:pt x="5105398" y="19068"/>
                </a:lnTo>
                <a:close/>
              </a:path>
              <a:path w="8792210" h="8609330">
                <a:moveTo>
                  <a:pt x="5181598" y="19068"/>
                </a:moveTo>
                <a:lnTo>
                  <a:pt x="5124448" y="19068"/>
                </a:lnTo>
                <a:lnTo>
                  <a:pt x="5124448" y="0"/>
                </a:lnTo>
                <a:lnTo>
                  <a:pt x="5181598" y="0"/>
                </a:lnTo>
                <a:lnTo>
                  <a:pt x="5181598" y="19068"/>
                </a:lnTo>
                <a:close/>
              </a:path>
              <a:path w="8792210" h="8609330">
                <a:moveTo>
                  <a:pt x="5257798" y="19068"/>
                </a:moveTo>
                <a:lnTo>
                  <a:pt x="5200648" y="19068"/>
                </a:lnTo>
                <a:lnTo>
                  <a:pt x="5200648" y="0"/>
                </a:lnTo>
                <a:lnTo>
                  <a:pt x="5257798" y="0"/>
                </a:lnTo>
                <a:lnTo>
                  <a:pt x="5257798" y="19068"/>
                </a:lnTo>
                <a:close/>
              </a:path>
              <a:path w="8792210" h="8609330">
                <a:moveTo>
                  <a:pt x="5333998" y="19068"/>
                </a:moveTo>
                <a:lnTo>
                  <a:pt x="5276848" y="19068"/>
                </a:lnTo>
                <a:lnTo>
                  <a:pt x="5276848" y="0"/>
                </a:lnTo>
                <a:lnTo>
                  <a:pt x="5333998" y="0"/>
                </a:lnTo>
                <a:lnTo>
                  <a:pt x="5333998" y="19068"/>
                </a:lnTo>
                <a:close/>
              </a:path>
              <a:path w="8792210" h="8609330">
                <a:moveTo>
                  <a:pt x="5410198" y="19068"/>
                </a:moveTo>
                <a:lnTo>
                  <a:pt x="5353048" y="19068"/>
                </a:lnTo>
                <a:lnTo>
                  <a:pt x="5353048" y="0"/>
                </a:lnTo>
                <a:lnTo>
                  <a:pt x="5410198" y="0"/>
                </a:lnTo>
                <a:lnTo>
                  <a:pt x="5410198" y="19068"/>
                </a:lnTo>
                <a:close/>
              </a:path>
              <a:path w="8792210" h="8609330">
                <a:moveTo>
                  <a:pt x="5486398" y="19068"/>
                </a:moveTo>
                <a:lnTo>
                  <a:pt x="5429248" y="19068"/>
                </a:lnTo>
                <a:lnTo>
                  <a:pt x="5429248" y="0"/>
                </a:lnTo>
                <a:lnTo>
                  <a:pt x="5486398" y="0"/>
                </a:lnTo>
                <a:lnTo>
                  <a:pt x="5486398" y="19068"/>
                </a:lnTo>
                <a:close/>
              </a:path>
              <a:path w="8792210" h="8609330">
                <a:moveTo>
                  <a:pt x="5562598" y="19068"/>
                </a:moveTo>
                <a:lnTo>
                  <a:pt x="5505448" y="19068"/>
                </a:lnTo>
                <a:lnTo>
                  <a:pt x="5505448" y="0"/>
                </a:lnTo>
                <a:lnTo>
                  <a:pt x="5562598" y="0"/>
                </a:lnTo>
                <a:lnTo>
                  <a:pt x="5562598" y="19068"/>
                </a:lnTo>
                <a:close/>
              </a:path>
              <a:path w="8792210" h="8609330">
                <a:moveTo>
                  <a:pt x="5638798" y="19068"/>
                </a:moveTo>
                <a:lnTo>
                  <a:pt x="5581648" y="19068"/>
                </a:lnTo>
                <a:lnTo>
                  <a:pt x="5581648" y="0"/>
                </a:lnTo>
                <a:lnTo>
                  <a:pt x="5638798" y="0"/>
                </a:lnTo>
                <a:lnTo>
                  <a:pt x="5638798" y="19068"/>
                </a:lnTo>
                <a:close/>
              </a:path>
              <a:path w="8792210" h="8609330">
                <a:moveTo>
                  <a:pt x="5714998" y="19068"/>
                </a:moveTo>
                <a:lnTo>
                  <a:pt x="5657848" y="19068"/>
                </a:lnTo>
                <a:lnTo>
                  <a:pt x="5657848" y="0"/>
                </a:lnTo>
                <a:lnTo>
                  <a:pt x="5714998" y="0"/>
                </a:lnTo>
                <a:lnTo>
                  <a:pt x="5714998" y="19068"/>
                </a:lnTo>
                <a:close/>
              </a:path>
              <a:path w="8792210" h="8609330">
                <a:moveTo>
                  <a:pt x="5791198" y="19068"/>
                </a:moveTo>
                <a:lnTo>
                  <a:pt x="5734048" y="19068"/>
                </a:lnTo>
                <a:lnTo>
                  <a:pt x="5734048" y="0"/>
                </a:lnTo>
                <a:lnTo>
                  <a:pt x="5791198" y="0"/>
                </a:lnTo>
                <a:lnTo>
                  <a:pt x="5791198" y="19068"/>
                </a:lnTo>
                <a:close/>
              </a:path>
              <a:path w="8792210" h="8609330">
                <a:moveTo>
                  <a:pt x="5867398" y="19068"/>
                </a:moveTo>
                <a:lnTo>
                  <a:pt x="5810248" y="19068"/>
                </a:lnTo>
                <a:lnTo>
                  <a:pt x="5810248" y="0"/>
                </a:lnTo>
                <a:lnTo>
                  <a:pt x="5867398" y="0"/>
                </a:lnTo>
                <a:lnTo>
                  <a:pt x="5867398" y="19068"/>
                </a:lnTo>
                <a:close/>
              </a:path>
              <a:path w="8792210" h="8609330">
                <a:moveTo>
                  <a:pt x="5943598" y="19068"/>
                </a:moveTo>
                <a:lnTo>
                  <a:pt x="5886448" y="19068"/>
                </a:lnTo>
                <a:lnTo>
                  <a:pt x="5886448" y="0"/>
                </a:lnTo>
                <a:lnTo>
                  <a:pt x="5943598" y="0"/>
                </a:lnTo>
                <a:lnTo>
                  <a:pt x="5943598" y="19068"/>
                </a:lnTo>
                <a:close/>
              </a:path>
              <a:path w="8792210" h="8609330">
                <a:moveTo>
                  <a:pt x="6019798" y="19068"/>
                </a:moveTo>
                <a:lnTo>
                  <a:pt x="5962648" y="19068"/>
                </a:lnTo>
                <a:lnTo>
                  <a:pt x="5962648" y="0"/>
                </a:lnTo>
                <a:lnTo>
                  <a:pt x="6019798" y="0"/>
                </a:lnTo>
                <a:lnTo>
                  <a:pt x="6019798" y="19068"/>
                </a:lnTo>
                <a:close/>
              </a:path>
              <a:path w="8792210" h="8609330">
                <a:moveTo>
                  <a:pt x="6095998" y="19068"/>
                </a:moveTo>
                <a:lnTo>
                  <a:pt x="6038848" y="19068"/>
                </a:lnTo>
                <a:lnTo>
                  <a:pt x="6038848" y="0"/>
                </a:lnTo>
                <a:lnTo>
                  <a:pt x="6095998" y="0"/>
                </a:lnTo>
                <a:lnTo>
                  <a:pt x="6095998" y="19068"/>
                </a:lnTo>
                <a:close/>
              </a:path>
              <a:path w="8792210" h="8609330">
                <a:moveTo>
                  <a:pt x="6172198" y="19068"/>
                </a:moveTo>
                <a:lnTo>
                  <a:pt x="6115048" y="19068"/>
                </a:lnTo>
                <a:lnTo>
                  <a:pt x="6115048" y="0"/>
                </a:lnTo>
                <a:lnTo>
                  <a:pt x="6172198" y="0"/>
                </a:lnTo>
                <a:lnTo>
                  <a:pt x="6172198" y="19068"/>
                </a:lnTo>
                <a:close/>
              </a:path>
              <a:path w="8792210" h="8609330">
                <a:moveTo>
                  <a:pt x="6248398" y="19068"/>
                </a:moveTo>
                <a:lnTo>
                  <a:pt x="6191248" y="19068"/>
                </a:lnTo>
                <a:lnTo>
                  <a:pt x="6191248" y="0"/>
                </a:lnTo>
                <a:lnTo>
                  <a:pt x="6248398" y="0"/>
                </a:lnTo>
                <a:lnTo>
                  <a:pt x="6248398" y="19068"/>
                </a:lnTo>
                <a:close/>
              </a:path>
              <a:path w="8792210" h="8609330">
                <a:moveTo>
                  <a:pt x="6324598" y="19068"/>
                </a:moveTo>
                <a:lnTo>
                  <a:pt x="6267448" y="19068"/>
                </a:lnTo>
                <a:lnTo>
                  <a:pt x="6267448" y="0"/>
                </a:lnTo>
                <a:lnTo>
                  <a:pt x="6324598" y="0"/>
                </a:lnTo>
                <a:lnTo>
                  <a:pt x="6324598" y="19068"/>
                </a:lnTo>
                <a:close/>
              </a:path>
              <a:path w="8792210" h="8609330">
                <a:moveTo>
                  <a:pt x="6400798" y="19068"/>
                </a:moveTo>
                <a:lnTo>
                  <a:pt x="6343648" y="19068"/>
                </a:lnTo>
                <a:lnTo>
                  <a:pt x="6343648" y="0"/>
                </a:lnTo>
                <a:lnTo>
                  <a:pt x="6400798" y="0"/>
                </a:lnTo>
                <a:lnTo>
                  <a:pt x="6400798" y="19068"/>
                </a:lnTo>
                <a:close/>
              </a:path>
              <a:path w="8792210" h="8609330">
                <a:moveTo>
                  <a:pt x="6476998" y="19068"/>
                </a:moveTo>
                <a:lnTo>
                  <a:pt x="6419848" y="19068"/>
                </a:lnTo>
                <a:lnTo>
                  <a:pt x="6419848" y="0"/>
                </a:lnTo>
                <a:lnTo>
                  <a:pt x="6476998" y="0"/>
                </a:lnTo>
                <a:lnTo>
                  <a:pt x="6476998" y="19068"/>
                </a:lnTo>
                <a:close/>
              </a:path>
              <a:path w="8792210" h="8609330">
                <a:moveTo>
                  <a:pt x="6553198" y="19068"/>
                </a:moveTo>
                <a:lnTo>
                  <a:pt x="6496048" y="19068"/>
                </a:lnTo>
                <a:lnTo>
                  <a:pt x="6496048" y="0"/>
                </a:lnTo>
                <a:lnTo>
                  <a:pt x="6553198" y="0"/>
                </a:lnTo>
                <a:lnTo>
                  <a:pt x="6553198" y="19068"/>
                </a:lnTo>
                <a:close/>
              </a:path>
              <a:path w="8792210" h="8609330">
                <a:moveTo>
                  <a:pt x="6629398" y="19068"/>
                </a:moveTo>
                <a:lnTo>
                  <a:pt x="6572248" y="19068"/>
                </a:lnTo>
                <a:lnTo>
                  <a:pt x="6572248" y="0"/>
                </a:lnTo>
                <a:lnTo>
                  <a:pt x="6629398" y="0"/>
                </a:lnTo>
                <a:lnTo>
                  <a:pt x="6629398" y="19068"/>
                </a:lnTo>
                <a:close/>
              </a:path>
              <a:path w="8792210" h="8609330">
                <a:moveTo>
                  <a:pt x="6705598" y="19068"/>
                </a:moveTo>
                <a:lnTo>
                  <a:pt x="6648448" y="19068"/>
                </a:lnTo>
                <a:lnTo>
                  <a:pt x="6648448" y="0"/>
                </a:lnTo>
                <a:lnTo>
                  <a:pt x="6705598" y="0"/>
                </a:lnTo>
                <a:lnTo>
                  <a:pt x="6705598" y="19068"/>
                </a:lnTo>
                <a:close/>
              </a:path>
              <a:path w="8792210" h="8609330">
                <a:moveTo>
                  <a:pt x="6781798" y="19068"/>
                </a:moveTo>
                <a:lnTo>
                  <a:pt x="6724648" y="19068"/>
                </a:lnTo>
                <a:lnTo>
                  <a:pt x="6724648" y="0"/>
                </a:lnTo>
                <a:lnTo>
                  <a:pt x="6781798" y="0"/>
                </a:lnTo>
                <a:lnTo>
                  <a:pt x="6781798" y="19068"/>
                </a:lnTo>
                <a:close/>
              </a:path>
              <a:path w="8792210" h="8609330">
                <a:moveTo>
                  <a:pt x="6857998" y="19068"/>
                </a:moveTo>
                <a:lnTo>
                  <a:pt x="6800848" y="19068"/>
                </a:lnTo>
                <a:lnTo>
                  <a:pt x="6800848" y="0"/>
                </a:lnTo>
                <a:lnTo>
                  <a:pt x="6857998" y="0"/>
                </a:lnTo>
                <a:lnTo>
                  <a:pt x="6857998" y="19068"/>
                </a:lnTo>
                <a:close/>
              </a:path>
              <a:path w="8792210" h="8609330">
                <a:moveTo>
                  <a:pt x="6934198" y="19068"/>
                </a:moveTo>
                <a:lnTo>
                  <a:pt x="6877048" y="19068"/>
                </a:lnTo>
                <a:lnTo>
                  <a:pt x="6877048" y="0"/>
                </a:lnTo>
                <a:lnTo>
                  <a:pt x="6934198" y="0"/>
                </a:lnTo>
                <a:lnTo>
                  <a:pt x="6934198" y="19068"/>
                </a:lnTo>
                <a:close/>
              </a:path>
              <a:path w="8792210" h="8609330">
                <a:moveTo>
                  <a:pt x="7010398" y="19068"/>
                </a:moveTo>
                <a:lnTo>
                  <a:pt x="6953248" y="19068"/>
                </a:lnTo>
                <a:lnTo>
                  <a:pt x="6953248" y="0"/>
                </a:lnTo>
                <a:lnTo>
                  <a:pt x="7010398" y="0"/>
                </a:lnTo>
                <a:lnTo>
                  <a:pt x="7010398" y="19068"/>
                </a:lnTo>
                <a:close/>
              </a:path>
              <a:path w="8792210" h="8609330">
                <a:moveTo>
                  <a:pt x="7086598" y="19068"/>
                </a:moveTo>
                <a:lnTo>
                  <a:pt x="7029448" y="19068"/>
                </a:lnTo>
                <a:lnTo>
                  <a:pt x="7029448" y="0"/>
                </a:lnTo>
                <a:lnTo>
                  <a:pt x="7086598" y="0"/>
                </a:lnTo>
                <a:lnTo>
                  <a:pt x="7086598" y="19068"/>
                </a:lnTo>
                <a:close/>
              </a:path>
              <a:path w="8792210" h="8609330">
                <a:moveTo>
                  <a:pt x="7162798" y="19068"/>
                </a:moveTo>
                <a:lnTo>
                  <a:pt x="7105648" y="19068"/>
                </a:lnTo>
                <a:lnTo>
                  <a:pt x="7105648" y="0"/>
                </a:lnTo>
                <a:lnTo>
                  <a:pt x="7162798" y="0"/>
                </a:lnTo>
                <a:lnTo>
                  <a:pt x="7162798" y="19068"/>
                </a:lnTo>
                <a:close/>
              </a:path>
              <a:path w="8792210" h="8609330">
                <a:moveTo>
                  <a:pt x="7238998" y="19068"/>
                </a:moveTo>
                <a:lnTo>
                  <a:pt x="7181848" y="19068"/>
                </a:lnTo>
                <a:lnTo>
                  <a:pt x="7181848" y="0"/>
                </a:lnTo>
                <a:lnTo>
                  <a:pt x="7238998" y="0"/>
                </a:lnTo>
                <a:lnTo>
                  <a:pt x="7238998" y="19068"/>
                </a:lnTo>
                <a:close/>
              </a:path>
              <a:path w="8792210" h="8609330">
                <a:moveTo>
                  <a:pt x="7315198" y="19068"/>
                </a:moveTo>
                <a:lnTo>
                  <a:pt x="7258048" y="19068"/>
                </a:lnTo>
                <a:lnTo>
                  <a:pt x="7258048" y="0"/>
                </a:lnTo>
                <a:lnTo>
                  <a:pt x="7315198" y="0"/>
                </a:lnTo>
                <a:lnTo>
                  <a:pt x="7315198" y="19068"/>
                </a:lnTo>
                <a:close/>
              </a:path>
              <a:path w="8792210" h="8609330">
                <a:moveTo>
                  <a:pt x="7391398" y="19068"/>
                </a:moveTo>
                <a:lnTo>
                  <a:pt x="7334248" y="19068"/>
                </a:lnTo>
                <a:lnTo>
                  <a:pt x="7334248" y="0"/>
                </a:lnTo>
                <a:lnTo>
                  <a:pt x="7391398" y="0"/>
                </a:lnTo>
                <a:lnTo>
                  <a:pt x="7391398" y="19068"/>
                </a:lnTo>
                <a:close/>
              </a:path>
              <a:path w="8792210" h="8609330">
                <a:moveTo>
                  <a:pt x="7467598" y="19068"/>
                </a:moveTo>
                <a:lnTo>
                  <a:pt x="7410448" y="19068"/>
                </a:lnTo>
                <a:lnTo>
                  <a:pt x="7410448" y="0"/>
                </a:lnTo>
                <a:lnTo>
                  <a:pt x="7467598" y="0"/>
                </a:lnTo>
                <a:lnTo>
                  <a:pt x="7467598" y="19068"/>
                </a:lnTo>
                <a:close/>
              </a:path>
              <a:path w="8792210" h="8609330">
                <a:moveTo>
                  <a:pt x="7543798" y="19068"/>
                </a:moveTo>
                <a:lnTo>
                  <a:pt x="7486648" y="19068"/>
                </a:lnTo>
                <a:lnTo>
                  <a:pt x="7486648" y="0"/>
                </a:lnTo>
                <a:lnTo>
                  <a:pt x="7543798" y="0"/>
                </a:lnTo>
                <a:lnTo>
                  <a:pt x="7543798" y="19068"/>
                </a:lnTo>
                <a:close/>
              </a:path>
              <a:path w="8792210" h="8609330">
                <a:moveTo>
                  <a:pt x="7619998" y="19068"/>
                </a:moveTo>
                <a:lnTo>
                  <a:pt x="7562848" y="19068"/>
                </a:lnTo>
                <a:lnTo>
                  <a:pt x="7562848" y="0"/>
                </a:lnTo>
                <a:lnTo>
                  <a:pt x="7619998" y="0"/>
                </a:lnTo>
                <a:lnTo>
                  <a:pt x="7619998" y="19068"/>
                </a:lnTo>
                <a:close/>
              </a:path>
              <a:path w="8792210" h="8609330">
                <a:moveTo>
                  <a:pt x="7696198" y="19068"/>
                </a:moveTo>
                <a:lnTo>
                  <a:pt x="7639048" y="19068"/>
                </a:lnTo>
                <a:lnTo>
                  <a:pt x="7639048" y="0"/>
                </a:lnTo>
                <a:lnTo>
                  <a:pt x="7696198" y="0"/>
                </a:lnTo>
                <a:lnTo>
                  <a:pt x="7696198" y="19068"/>
                </a:lnTo>
                <a:close/>
              </a:path>
              <a:path w="8792210" h="8609330">
                <a:moveTo>
                  <a:pt x="7772398" y="19068"/>
                </a:moveTo>
                <a:lnTo>
                  <a:pt x="7715248" y="19068"/>
                </a:lnTo>
                <a:lnTo>
                  <a:pt x="7715248" y="0"/>
                </a:lnTo>
                <a:lnTo>
                  <a:pt x="7772398" y="0"/>
                </a:lnTo>
                <a:lnTo>
                  <a:pt x="7772398" y="19068"/>
                </a:lnTo>
                <a:close/>
              </a:path>
              <a:path w="8792210" h="8609330">
                <a:moveTo>
                  <a:pt x="7848598" y="19068"/>
                </a:moveTo>
                <a:lnTo>
                  <a:pt x="7791448" y="19068"/>
                </a:lnTo>
                <a:lnTo>
                  <a:pt x="7791448" y="0"/>
                </a:lnTo>
                <a:lnTo>
                  <a:pt x="7848598" y="0"/>
                </a:lnTo>
                <a:lnTo>
                  <a:pt x="7848598" y="19068"/>
                </a:lnTo>
                <a:close/>
              </a:path>
              <a:path w="8792210" h="8609330">
                <a:moveTo>
                  <a:pt x="7924798" y="19068"/>
                </a:moveTo>
                <a:lnTo>
                  <a:pt x="7867648" y="19068"/>
                </a:lnTo>
                <a:lnTo>
                  <a:pt x="7867648" y="0"/>
                </a:lnTo>
                <a:lnTo>
                  <a:pt x="7924798" y="0"/>
                </a:lnTo>
                <a:lnTo>
                  <a:pt x="7924798" y="19068"/>
                </a:lnTo>
                <a:close/>
              </a:path>
              <a:path w="8792210" h="8609330">
                <a:moveTo>
                  <a:pt x="8000998" y="19068"/>
                </a:moveTo>
                <a:lnTo>
                  <a:pt x="7943848" y="19068"/>
                </a:lnTo>
                <a:lnTo>
                  <a:pt x="7943848" y="0"/>
                </a:lnTo>
                <a:lnTo>
                  <a:pt x="8000998" y="0"/>
                </a:lnTo>
                <a:lnTo>
                  <a:pt x="8000998" y="19068"/>
                </a:lnTo>
                <a:close/>
              </a:path>
              <a:path w="8792210" h="8609330">
                <a:moveTo>
                  <a:pt x="8077198" y="19068"/>
                </a:moveTo>
                <a:lnTo>
                  <a:pt x="8020048" y="19068"/>
                </a:lnTo>
                <a:lnTo>
                  <a:pt x="8020048" y="0"/>
                </a:lnTo>
                <a:lnTo>
                  <a:pt x="8077198" y="0"/>
                </a:lnTo>
                <a:lnTo>
                  <a:pt x="8077198" y="19068"/>
                </a:lnTo>
                <a:close/>
              </a:path>
              <a:path w="8792210" h="8609330">
                <a:moveTo>
                  <a:pt x="8153398" y="19068"/>
                </a:moveTo>
                <a:lnTo>
                  <a:pt x="8096248" y="19068"/>
                </a:lnTo>
                <a:lnTo>
                  <a:pt x="8096248" y="0"/>
                </a:lnTo>
                <a:lnTo>
                  <a:pt x="8153398" y="0"/>
                </a:lnTo>
                <a:lnTo>
                  <a:pt x="8153398" y="19068"/>
                </a:lnTo>
                <a:close/>
              </a:path>
              <a:path w="8792210" h="8609330">
                <a:moveTo>
                  <a:pt x="8229598" y="19068"/>
                </a:moveTo>
                <a:lnTo>
                  <a:pt x="8172448" y="19068"/>
                </a:lnTo>
                <a:lnTo>
                  <a:pt x="8172448" y="0"/>
                </a:lnTo>
                <a:lnTo>
                  <a:pt x="8229598" y="0"/>
                </a:lnTo>
                <a:lnTo>
                  <a:pt x="8229598" y="19068"/>
                </a:lnTo>
                <a:close/>
              </a:path>
              <a:path w="8792210" h="8609330">
                <a:moveTo>
                  <a:pt x="8305798" y="19068"/>
                </a:moveTo>
                <a:lnTo>
                  <a:pt x="8248648" y="19068"/>
                </a:lnTo>
                <a:lnTo>
                  <a:pt x="8248648" y="0"/>
                </a:lnTo>
                <a:lnTo>
                  <a:pt x="8305798" y="0"/>
                </a:lnTo>
                <a:lnTo>
                  <a:pt x="8305798" y="19068"/>
                </a:lnTo>
                <a:close/>
              </a:path>
              <a:path w="8792210" h="8609330">
                <a:moveTo>
                  <a:pt x="8381998" y="19068"/>
                </a:moveTo>
                <a:lnTo>
                  <a:pt x="8324848" y="19068"/>
                </a:lnTo>
                <a:lnTo>
                  <a:pt x="8324848" y="0"/>
                </a:lnTo>
                <a:lnTo>
                  <a:pt x="8381998" y="0"/>
                </a:lnTo>
                <a:lnTo>
                  <a:pt x="8381998" y="19068"/>
                </a:lnTo>
                <a:close/>
              </a:path>
              <a:path w="8792210" h="8609330">
                <a:moveTo>
                  <a:pt x="8458198" y="19068"/>
                </a:moveTo>
                <a:lnTo>
                  <a:pt x="8401048" y="19068"/>
                </a:lnTo>
                <a:lnTo>
                  <a:pt x="8401048" y="0"/>
                </a:lnTo>
                <a:lnTo>
                  <a:pt x="8458198" y="0"/>
                </a:lnTo>
                <a:lnTo>
                  <a:pt x="8458198" y="19068"/>
                </a:lnTo>
                <a:close/>
              </a:path>
              <a:path w="8792210" h="8609330">
                <a:moveTo>
                  <a:pt x="8534398" y="19068"/>
                </a:moveTo>
                <a:lnTo>
                  <a:pt x="8477248" y="19068"/>
                </a:lnTo>
                <a:lnTo>
                  <a:pt x="8477248" y="0"/>
                </a:lnTo>
                <a:lnTo>
                  <a:pt x="8534398" y="0"/>
                </a:lnTo>
                <a:lnTo>
                  <a:pt x="8534398" y="19068"/>
                </a:lnTo>
                <a:close/>
              </a:path>
              <a:path w="8792210" h="8609330">
                <a:moveTo>
                  <a:pt x="8610598" y="19068"/>
                </a:moveTo>
                <a:lnTo>
                  <a:pt x="8553448" y="19068"/>
                </a:lnTo>
                <a:lnTo>
                  <a:pt x="8553448" y="0"/>
                </a:lnTo>
                <a:lnTo>
                  <a:pt x="8610598" y="0"/>
                </a:lnTo>
                <a:lnTo>
                  <a:pt x="8610598" y="19068"/>
                </a:lnTo>
                <a:close/>
              </a:path>
              <a:path w="8792210" h="8609330">
                <a:moveTo>
                  <a:pt x="8686798" y="19068"/>
                </a:moveTo>
                <a:lnTo>
                  <a:pt x="8629648" y="19068"/>
                </a:lnTo>
                <a:lnTo>
                  <a:pt x="8629648" y="0"/>
                </a:lnTo>
                <a:lnTo>
                  <a:pt x="8686798" y="0"/>
                </a:lnTo>
                <a:lnTo>
                  <a:pt x="8686798" y="19068"/>
                </a:lnTo>
                <a:close/>
              </a:path>
              <a:path w="8792210" h="8609330">
                <a:moveTo>
                  <a:pt x="8745632" y="37172"/>
                </a:moveTo>
                <a:lnTo>
                  <a:pt x="8736267" y="30321"/>
                </a:lnTo>
                <a:lnTo>
                  <a:pt x="8726213" y="25086"/>
                </a:lnTo>
                <a:lnTo>
                  <a:pt x="8715472" y="21465"/>
                </a:lnTo>
                <a:lnTo>
                  <a:pt x="8704043" y="19459"/>
                </a:lnTo>
                <a:lnTo>
                  <a:pt x="8705836" y="1847"/>
                </a:lnTo>
                <a:lnTo>
                  <a:pt x="8705928" y="944"/>
                </a:lnTo>
                <a:lnTo>
                  <a:pt x="8715047" y="1847"/>
                </a:lnTo>
                <a:lnTo>
                  <a:pt x="8732829" y="7250"/>
                </a:lnTo>
                <a:lnTo>
                  <a:pt x="8749223" y="16003"/>
                </a:lnTo>
                <a:lnTo>
                  <a:pt x="8757701" y="22953"/>
                </a:lnTo>
                <a:lnTo>
                  <a:pt x="8745632" y="37172"/>
                </a:lnTo>
                <a:close/>
              </a:path>
              <a:path w="8792210" h="8609330">
                <a:moveTo>
                  <a:pt x="8772378" y="90566"/>
                </a:moveTo>
                <a:lnTo>
                  <a:pt x="8770828" y="79065"/>
                </a:lnTo>
                <a:lnTo>
                  <a:pt x="8767637" y="68188"/>
                </a:lnTo>
                <a:lnTo>
                  <a:pt x="8762804" y="57933"/>
                </a:lnTo>
                <a:lnTo>
                  <a:pt x="8756330" y="48302"/>
                </a:lnTo>
                <a:lnTo>
                  <a:pt x="8771028" y="36798"/>
                </a:lnTo>
                <a:lnTo>
                  <a:pt x="8775626" y="42405"/>
                </a:lnTo>
                <a:lnTo>
                  <a:pt x="8784378" y="58799"/>
                </a:lnTo>
                <a:lnTo>
                  <a:pt x="8789781" y="76580"/>
                </a:lnTo>
                <a:lnTo>
                  <a:pt x="8791050" y="89412"/>
                </a:lnTo>
                <a:lnTo>
                  <a:pt x="8772378" y="90566"/>
                </a:lnTo>
                <a:close/>
              </a:path>
              <a:path w="8792210" h="8609330">
                <a:moveTo>
                  <a:pt x="8791628" y="165683"/>
                </a:moveTo>
                <a:lnTo>
                  <a:pt x="8772523" y="165683"/>
                </a:lnTo>
                <a:lnTo>
                  <a:pt x="8772523" y="108533"/>
                </a:lnTo>
                <a:lnTo>
                  <a:pt x="8791628" y="108533"/>
                </a:lnTo>
                <a:lnTo>
                  <a:pt x="8791628" y="165683"/>
                </a:lnTo>
                <a:close/>
              </a:path>
              <a:path w="8792210" h="8609330">
                <a:moveTo>
                  <a:pt x="8791628" y="241883"/>
                </a:moveTo>
                <a:lnTo>
                  <a:pt x="8772523" y="241883"/>
                </a:lnTo>
                <a:lnTo>
                  <a:pt x="8772523" y="184733"/>
                </a:lnTo>
                <a:lnTo>
                  <a:pt x="8791628" y="184733"/>
                </a:lnTo>
                <a:lnTo>
                  <a:pt x="8791628" y="241883"/>
                </a:lnTo>
                <a:close/>
              </a:path>
              <a:path w="8792210" h="8609330">
                <a:moveTo>
                  <a:pt x="8791628" y="318083"/>
                </a:moveTo>
                <a:lnTo>
                  <a:pt x="8772523" y="318083"/>
                </a:lnTo>
                <a:lnTo>
                  <a:pt x="8772523" y="260933"/>
                </a:lnTo>
                <a:lnTo>
                  <a:pt x="8791628" y="260933"/>
                </a:lnTo>
                <a:lnTo>
                  <a:pt x="8791628" y="318083"/>
                </a:lnTo>
                <a:close/>
              </a:path>
              <a:path w="8792210" h="8609330">
                <a:moveTo>
                  <a:pt x="8791628" y="394283"/>
                </a:moveTo>
                <a:lnTo>
                  <a:pt x="8772523" y="394283"/>
                </a:lnTo>
                <a:lnTo>
                  <a:pt x="8772523" y="337133"/>
                </a:lnTo>
                <a:lnTo>
                  <a:pt x="8791628" y="337133"/>
                </a:lnTo>
                <a:lnTo>
                  <a:pt x="8791628" y="394283"/>
                </a:lnTo>
                <a:close/>
              </a:path>
              <a:path w="8792210" h="8609330">
                <a:moveTo>
                  <a:pt x="8791628" y="470483"/>
                </a:moveTo>
                <a:lnTo>
                  <a:pt x="8772523" y="470483"/>
                </a:lnTo>
                <a:lnTo>
                  <a:pt x="8772523" y="413333"/>
                </a:lnTo>
                <a:lnTo>
                  <a:pt x="8791628" y="413333"/>
                </a:lnTo>
                <a:lnTo>
                  <a:pt x="8791628" y="470483"/>
                </a:lnTo>
                <a:close/>
              </a:path>
              <a:path w="8792210" h="8609330">
                <a:moveTo>
                  <a:pt x="8791628" y="546683"/>
                </a:moveTo>
                <a:lnTo>
                  <a:pt x="8772523" y="546683"/>
                </a:lnTo>
                <a:lnTo>
                  <a:pt x="8772523" y="489533"/>
                </a:lnTo>
                <a:lnTo>
                  <a:pt x="8791628" y="489533"/>
                </a:lnTo>
                <a:lnTo>
                  <a:pt x="8791628" y="546683"/>
                </a:lnTo>
                <a:close/>
              </a:path>
              <a:path w="8792210" h="8609330">
                <a:moveTo>
                  <a:pt x="8791628" y="622883"/>
                </a:moveTo>
                <a:lnTo>
                  <a:pt x="8772523" y="622883"/>
                </a:lnTo>
                <a:lnTo>
                  <a:pt x="8772523" y="565733"/>
                </a:lnTo>
                <a:lnTo>
                  <a:pt x="8791628" y="565733"/>
                </a:lnTo>
                <a:lnTo>
                  <a:pt x="8791628" y="622883"/>
                </a:lnTo>
                <a:close/>
              </a:path>
              <a:path w="8792210" h="8609330">
                <a:moveTo>
                  <a:pt x="8791628" y="699083"/>
                </a:moveTo>
                <a:lnTo>
                  <a:pt x="8772523" y="699083"/>
                </a:lnTo>
                <a:lnTo>
                  <a:pt x="8772523" y="641933"/>
                </a:lnTo>
                <a:lnTo>
                  <a:pt x="8791628" y="641933"/>
                </a:lnTo>
                <a:lnTo>
                  <a:pt x="8791628" y="699083"/>
                </a:lnTo>
                <a:close/>
              </a:path>
              <a:path w="8792210" h="8609330">
                <a:moveTo>
                  <a:pt x="8791628" y="775283"/>
                </a:moveTo>
                <a:lnTo>
                  <a:pt x="8772523" y="775283"/>
                </a:lnTo>
                <a:lnTo>
                  <a:pt x="8772523" y="718133"/>
                </a:lnTo>
                <a:lnTo>
                  <a:pt x="8791628" y="718133"/>
                </a:lnTo>
                <a:lnTo>
                  <a:pt x="8791628" y="775283"/>
                </a:lnTo>
                <a:close/>
              </a:path>
              <a:path w="8792210" h="8609330">
                <a:moveTo>
                  <a:pt x="8791628" y="851483"/>
                </a:moveTo>
                <a:lnTo>
                  <a:pt x="8772523" y="851483"/>
                </a:lnTo>
                <a:lnTo>
                  <a:pt x="8772523" y="794333"/>
                </a:lnTo>
                <a:lnTo>
                  <a:pt x="8791628" y="794333"/>
                </a:lnTo>
                <a:lnTo>
                  <a:pt x="8791628" y="851483"/>
                </a:lnTo>
                <a:close/>
              </a:path>
              <a:path w="8792210" h="8609330">
                <a:moveTo>
                  <a:pt x="8791628" y="927683"/>
                </a:moveTo>
                <a:lnTo>
                  <a:pt x="8772523" y="927683"/>
                </a:lnTo>
                <a:lnTo>
                  <a:pt x="8772523" y="870533"/>
                </a:lnTo>
                <a:lnTo>
                  <a:pt x="8791628" y="870533"/>
                </a:lnTo>
                <a:lnTo>
                  <a:pt x="8791628" y="927683"/>
                </a:lnTo>
                <a:close/>
              </a:path>
              <a:path w="8792210" h="8609330">
                <a:moveTo>
                  <a:pt x="8791628" y="1003883"/>
                </a:moveTo>
                <a:lnTo>
                  <a:pt x="8772523" y="1003883"/>
                </a:lnTo>
                <a:lnTo>
                  <a:pt x="8772523" y="946733"/>
                </a:lnTo>
                <a:lnTo>
                  <a:pt x="8791628" y="946733"/>
                </a:lnTo>
                <a:lnTo>
                  <a:pt x="8791628" y="1003883"/>
                </a:lnTo>
                <a:close/>
              </a:path>
              <a:path w="8792210" h="8609330">
                <a:moveTo>
                  <a:pt x="8791628" y="1080083"/>
                </a:moveTo>
                <a:lnTo>
                  <a:pt x="8772523" y="1080083"/>
                </a:lnTo>
                <a:lnTo>
                  <a:pt x="8772523" y="1022933"/>
                </a:lnTo>
                <a:lnTo>
                  <a:pt x="8791628" y="1022933"/>
                </a:lnTo>
                <a:lnTo>
                  <a:pt x="8791628" y="1080083"/>
                </a:lnTo>
                <a:close/>
              </a:path>
              <a:path w="8792210" h="8609330">
                <a:moveTo>
                  <a:pt x="8791628" y="1156283"/>
                </a:moveTo>
                <a:lnTo>
                  <a:pt x="8772523" y="1156283"/>
                </a:lnTo>
                <a:lnTo>
                  <a:pt x="8772523" y="1099133"/>
                </a:lnTo>
                <a:lnTo>
                  <a:pt x="8791628" y="1099133"/>
                </a:lnTo>
                <a:lnTo>
                  <a:pt x="8791628" y="1156283"/>
                </a:lnTo>
                <a:close/>
              </a:path>
              <a:path w="8792210" h="8609330">
                <a:moveTo>
                  <a:pt x="8791628" y="1232483"/>
                </a:moveTo>
                <a:lnTo>
                  <a:pt x="8772523" y="1232483"/>
                </a:lnTo>
                <a:lnTo>
                  <a:pt x="8772523" y="1175333"/>
                </a:lnTo>
                <a:lnTo>
                  <a:pt x="8791628" y="1175333"/>
                </a:lnTo>
                <a:lnTo>
                  <a:pt x="8791628" y="1232483"/>
                </a:lnTo>
                <a:close/>
              </a:path>
              <a:path w="8792210" h="8609330">
                <a:moveTo>
                  <a:pt x="8791628" y="1308683"/>
                </a:moveTo>
                <a:lnTo>
                  <a:pt x="8772523" y="1308683"/>
                </a:lnTo>
                <a:lnTo>
                  <a:pt x="8772523" y="1251533"/>
                </a:lnTo>
                <a:lnTo>
                  <a:pt x="8791628" y="1251533"/>
                </a:lnTo>
                <a:lnTo>
                  <a:pt x="8791628" y="1308683"/>
                </a:lnTo>
                <a:close/>
              </a:path>
              <a:path w="8792210" h="8609330">
                <a:moveTo>
                  <a:pt x="8791628" y="1384883"/>
                </a:moveTo>
                <a:lnTo>
                  <a:pt x="8772523" y="1384883"/>
                </a:lnTo>
                <a:lnTo>
                  <a:pt x="8772523" y="1327733"/>
                </a:lnTo>
                <a:lnTo>
                  <a:pt x="8791628" y="1327733"/>
                </a:lnTo>
                <a:lnTo>
                  <a:pt x="8791628" y="1384883"/>
                </a:lnTo>
                <a:close/>
              </a:path>
              <a:path w="8792210" h="8609330">
                <a:moveTo>
                  <a:pt x="8791628" y="1461083"/>
                </a:moveTo>
                <a:lnTo>
                  <a:pt x="8772523" y="1461083"/>
                </a:lnTo>
                <a:lnTo>
                  <a:pt x="8772523" y="1403933"/>
                </a:lnTo>
                <a:lnTo>
                  <a:pt x="8791628" y="1403933"/>
                </a:lnTo>
                <a:lnTo>
                  <a:pt x="8791628" y="1461083"/>
                </a:lnTo>
                <a:close/>
              </a:path>
              <a:path w="8792210" h="8609330">
                <a:moveTo>
                  <a:pt x="8791628" y="1537283"/>
                </a:moveTo>
                <a:lnTo>
                  <a:pt x="8772523" y="1537283"/>
                </a:lnTo>
                <a:lnTo>
                  <a:pt x="8772523" y="1480133"/>
                </a:lnTo>
                <a:lnTo>
                  <a:pt x="8791628" y="1480133"/>
                </a:lnTo>
                <a:lnTo>
                  <a:pt x="8791628" y="1537283"/>
                </a:lnTo>
                <a:close/>
              </a:path>
              <a:path w="8792210" h="8609330">
                <a:moveTo>
                  <a:pt x="8791628" y="1613483"/>
                </a:moveTo>
                <a:lnTo>
                  <a:pt x="8772523" y="1613483"/>
                </a:lnTo>
                <a:lnTo>
                  <a:pt x="8772523" y="1556333"/>
                </a:lnTo>
                <a:lnTo>
                  <a:pt x="8791628" y="1556333"/>
                </a:lnTo>
                <a:lnTo>
                  <a:pt x="8791628" y="1613483"/>
                </a:lnTo>
                <a:close/>
              </a:path>
              <a:path w="8792210" h="8609330">
                <a:moveTo>
                  <a:pt x="8791628" y="1689683"/>
                </a:moveTo>
                <a:lnTo>
                  <a:pt x="8772523" y="1689683"/>
                </a:lnTo>
                <a:lnTo>
                  <a:pt x="8772523" y="1632533"/>
                </a:lnTo>
                <a:lnTo>
                  <a:pt x="8791628" y="1632533"/>
                </a:lnTo>
                <a:lnTo>
                  <a:pt x="8791628" y="1689683"/>
                </a:lnTo>
                <a:close/>
              </a:path>
              <a:path w="8792210" h="8609330">
                <a:moveTo>
                  <a:pt x="8791628" y="1765883"/>
                </a:moveTo>
                <a:lnTo>
                  <a:pt x="8772523" y="1765883"/>
                </a:lnTo>
                <a:lnTo>
                  <a:pt x="8772523" y="1708733"/>
                </a:lnTo>
                <a:lnTo>
                  <a:pt x="8791628" y="1708733"/>
                </a:lnTo>
                <a:lnTo>
                  <a:pt x="8791628" y="1765883"/>
                </a:lnTo>
                <a:close/>
              </a:path>
              <a:path w="8792210" h="8609330">
                <a:moveTo>
                  <a:pt x="8791628" y="1842083"/>
                </a:moveTo>
                <a:lnTo>
                  <a:pt x="8772523" y="1842083"/>
                </a:lnTo>
                <a:lnTo>
                  <a:pt x="8772523" y="1784933"/>
                </a:lnTo>
                <a:lnTo>
                  <a:pt x="8791628" y="1784933"/>
                </a:lnTo>
                <a:lnTo>
                  <a:pt x="8791628" y="1842083"/>
                </a:lnTo>
                <a:close/>
              </a:path>
              <a:path w="8792210" h="8609330">
                <a:moveTo>
                  <a:pt x="8791628" y="1918283"/>
                </a:moveTo>
                <a:lnTo>
                  <a:pt x="8772523" y="1918283"/>
                </a:lnTo>
                <a:lnTo>
                  <a:pt x="8772523" y="1861133"/>
                </a:lnTo>
                <a:lnTo>
                  <a:pt x="8791628" y="1861133"/>
                </a:lnTo>
                <a:lnTo>
                  <a:pt x="8791628" y="1918283"/>
                </a:lnTo>
                <a:close/>
              </a:path>
              <a:path w="8792210" h="8609330">
                <a:moveTo>
                  <a:pt x="8791628" y="1994483"/>
                </a:moveTo>
                <a:lnTo>
                  <a:pt x="8772523" y="1994483"/>
                </a:lnTo>
                <a:lnTo>
                  <a:pt x="8772523" y="1937333"/>
                </a:lnTo>
                <a:lnTo>
                  <a:pt x="8791628" y="1937333"/>
                </a:lnTo>
                <a:lnTo>
                  <a:pt x="8791628" y="1994483"/>
                </a:lnTo>
                <a:close/>
              </a:path>
              <a:path w="8792210" h="8609330">
                <a:moveTo>
                  <a:pt x="8791628" y="2070683"/>
                </a:moveTo>
                <a:lnTo>
                  <a:pt x="8772523" y="2070683"/>
                </a:lnTo>
                <a:lnTo>
                  <a:pt x="8772523" y="2013533"/>
                </a:lnTo>
                <a:lnTo>
                  <a:pt x="8791628" y="2013533"/>
                </a:lnTo>
                <a:lnTo>
                  <a:pt x="8791628" y="2070683"/>
                </a:lnTo>
                <a:close/>
              </a:path>
              <a:path w="8792210" h="8609330">
                <a:moveTo>
                  <a:pt x="8791628" y="2146883"/>
                </a:moveTo>
                <a:lnTo>
                  <a:pt x="8772523" y="2146883"/>
                </a:lnTo>
                <a:lnTo>
                  <a:pt x="8772523" y="2089733"/>
                </a:lnTo>
                <a:lnTo>
                  <a:pt x="8791628" y="2089733"/>
                </a:lnTo>
                <a:lnTo>
                  <a:pt x="8791628" y="2146883"/>
                </a:lnTo>
                <a:close/>
              </a:path>
              <a:path w="8792210" h="8609330">
                <a:moveTo>
                  <a:pt x="8791628" y="2223083"/>
                </a:moveTo>
                <a:lnTo>
                  <a:pt x="8772523" y="2223083"/>
                </a:lnTo>
                <a:lnTo>
                  <a:pt x="8772523" y="2165933"/>
                </a:lnTo>
                <a:lnTo>
                  <a:pt x="8791628" y="2165933"/>
                </a:lnTo>
                <a:lnTo>
                  <a:pt x="8791628" y="2223083"/>
                </a:lnTo>
                <a:close/>
              </a:path>
              <a:path w="8792210" h="8609330">
                <a:moveTo>
                  <a:pt x="8791628" y="2299283"/>
                </a:moveTo>
                <a:lnTo>
                  <a:pt x="8772523" y="2299283"/>
                </a:lnTo>
                <a:lnTo>
                  <a:pt x="8772523" y="2242133"/>
                </a:lnTo>
                <a:lnTo>
                  <a:pt x="8791628" y="2242133"/>
                </a:lnTo>
                <a:lnTo>
                  <a:pt x="8791628" y="2299283"/>
                </a:lnTo>
                <a:close/>
              </a:path>
              <a:path w="8792210" h="8609330">
                <a:moveTo>
                  <a:pt x="8791628" y="2375483"/>
                </a:moveTo>
                <a:lnTo>
                  <a:pt x="8772523" y="2375483"/>
                </a:lnTo>
                <a:lnTo>
                  <a:pt x="8772523" y="2318333"/>
                </a:lnTo>
                <a:lnTo>
                  <a:pt x="8791628" y="2318333"/>
                </a:lnTo>
                <a:lnTo>
                  <a:pt x="8791628" y="2375483"/>
                </a:lnTo>
                <a:close/>
              </a:path>
              <a:path w="8792210" h="8609330">
                <a:moveTo>
                  <a:pt x="8791628" y="2451683"/>
                </a:moveTo>
                <a:lnTo>
                  <a:pt x="8772523" y="2451683"/>
                </a:lnTo>
                <a:lnTo>
                  <a:pt x="8772523" y="2394533"/>
                </a:lnTo>
                <a:lnTo>
                  <a:pt x="8791628" y="2394533"/>
                </a:lnTo>
                <a:lnTo>
                  <a:pt x="8791628" y="2451683"/>
                </a:lnTo>
                <a:close/>
              </a:path>
              <a:path w="8792210" h="8609330">
                <a:moveTo>
                  <a:pt x="8791628" y="2527883"/>
                </a:moveTo>
                <a:lnTo>
                  <a:pt x="8772523" y="2527883"/>
                </a:lnTo>
                <a:lnTo>
                  <a:pt x="8772523" y="2470733"/>
                </a:lnTo>
                <a:lnTo>
                  <a:pt x="8791628" y="2470733"/>
                </a:lnTo>
                <a:lnTo>
                  <a:pt x="8791628" y="2527883"/>
                </a:lnTo>
                <a:close/>
              </a:path>
              <a:path w="8792210" h="8609330">
                <a:moveTo>
                  <a:pt x="8791628" y="2604083"/>
                </a:moveTo>
                <a:lnTo>
                  <a:pt x="8772523" y="2604083"/>
                </a:lnTo>
                <a:lnTo>
                  <a:pt x="8772523" y="2546933"/>
                </a:lnTo>
                <a:lnTo>
                  <a:pt x="8791628" y="2546933"/>
                </a:lnTo>
                <a:lnTo>
                  <a:pt x="8791628" y="2604083"/>
                </a:lnTo>
                <a:close/>
              </a:path>
              <a:path w="8792210" h="8609330">
                <a:moveTo>
                  <a:pt x="8791628" y="2680283"/>
                </a:moveTo>
                <a:lnTo>
                  <a:pt x="8772523" y="2680283"/>
                </a:lnTo>
                <a:lnTo>
                  <a:pt x="8772523" y="2623133"/>
                </a:lnTo>
                <a:lnTo>
                  <a:pt x="8791628" y="2623133"/>
                </a:lnTo>
                <a:lnTo>
                  <a:pt x="8791628" y="2680283"/>
                </a:lnTo>
                <a:close/>
              </a:path>
              <a:path w="8792210" h="8609330">
                <a:moveTo>
                  <a:pt x="8791628" y="2756483"/>
                </a:moveTo>
                <a:lnTo>
                  <a:pt x="8772523" y="2756483"/>
                </a:lnTo>
                <a:lnTo>
                  <a:pt x="8772523" y="2699333"/>
                </a:lnTo>
                <a:lnTo>
                  <a:pt x="8791628" y="2699333"/>
                </a:lnTo>
                <a:lnTo>
                  <a:pt x="8791628" y="2756483"/>
                </a:lnTo>
                <a:close/>
              </a:path>
              <a:path w="8792210" h="8609330">
                <a:moveTo>
                  <a:pt x="8791628" y="2832683"/>
                </a:moveTo>
                <a:lnTo>
                  <a:pt x="8772523" y="2832683"/>
                </a:lnTo>
                <a:lnTo>
                  <a:pt x="8772523" y="2775533"/>
                </a:lnTo>
                <a:lnTo>
                  <a:pt x="8791628" y="2775533"/>
                </a:lnTo>
                <a:lnTo>
                  <a:pt x="8791628" y="2832683"/>
                </a:lnTo>
                <a:close/>
              </a:path>
              <a:path w="8792210" h="8609330">
                <a:moveTo>
                  <a:pt x="8791628" y="2908883"/>
                </a:moveTo>
                <a:lnTo>
                  <a:pt x="8772523" y="2908883"/>
                </a:lnTo>
                <a:lnTo>
                  <a:pt x="8772523" y="2851733"/>
                </a:lnTo>
                <a:lnTo>
                  <a:pt x="8791628" y="2851733"/>
                </a:lnTo>
                <a:lnTo>
                  <a:pt x="8791628" y="2908883"/>
                </a:lnTo>
                <a:close/>
              </a:path>
              <a:path w="8792210" h="8609330">
                <a:moveTo>
                  <a:pt x="8791628" y="2985083"/>
                </a:moveTo>
                <a:lnTo>
                  <a:pt x="8772523" y="2985083"/>
                </a:lnTo>
                <a:lnTo>
                  <a:pt x="8772523" y="2927933"/>
                </a:lnTo>
                <a:lnTo>
                  <a:pt x="8791628" y="2927933"/>
                </a:lnTo>
                <a:lnTo>
                  <a:pt x="8791628" y="2985083"/>
                </a:lnTo>
                <a:close/>
              </a:path>
              <a:path w="8792210" h="8609330">
                <a:moveTo>
                  <a:pt x="8791628" y="3061283"/>
                </a:moveTo>
                <a:lnTo>
                  <a:pt x="8772523" y="3061283"/>
                </a:lnTo>
                <a:lnTo>
                  <a:pt x="8772523" y="3004133"/>
                </a:lnTo>
                <a:lnTo>
                  <a:pt x="8791628" y="3004133"/>
                </a:lnTo>
                <a:lnTo>
                  <a:pt x="8791628" y="3061283"/>
                </a:lnTo>
                <a:close/>
              </a:path>
              <a:path w="8792210" h="8609330">
                <a:moveTo>
                  <a:pt x="8791628" y="3137483"/>
                </a:moveTo>
                <a:lnTo>
                  <a:pt x="8772523" y="3137483"/>
                </a:lnTo>
                <a:lnTo>
                  <a:pt x="8772523" y="3080333"/>
                </a:lnTo>
                <a:lnTo>
                  <a:pt x="8791628" y="3080333"/>
                </a:lnTo>
                <a:lnTo>
                  <a:pt x="8791628" y="3137483"/>
                </a:lnTo>
                <a:close/>
              </a:path>
              <a:path w="8792210" h="8609330">
                <a:moveTo>
                  <a:pt x="8791628" y="3213683"/>
                </a:moveTo>
                <a:lnTo>
                  <a:pt x="8772523" y="3213683"/>
                </a:lnTo>
                <a:lnTo>
                  <a:pt x="8772523" y="3156533"/>
                </a:lnTo>
                <a:lnTo>
                  <a:pt x="8791628" y="3156533"/>
                </a:lnTo>
                <a:lnTo>
                  <a:pt x="8791628" y="3213683"/>
                </a:lnTo>
                <a:close/>
              </a:path>
              <a:path w="8792210" h="8609330">
                <a:moveTo>
                  <a:pt x="8791628" y="3289883"/>
                </a:moveTo>
                <a:lnTo>
                  <a:pt x="8772523" y="3289883"/>
                </a:lnTo>
                <a:lnTo>
                  <a:pt x="8772523" y="3232733"/>
                </a:lnTo>
                <a:lnTo>
                  <a:pt x="8791628" y="3232733"/>
                </a:lnTo>
                <a:lnTo>
                  <a:pt x="8791628" y="3289883"/>
                </a:lnTo>
                <a:close/>
              </a:path>
              <a:path w="8792210" h="8609330">
                <a:moveTo>
                  <a:pt x="8791628" y="3366083"/>
                </a:moveTo>
                <a:lnTo>
                  <a:pt x="8772523" y="3366083"/>
                </a:lnTo>
                <a:lnTo>
                  <a:pt x="8772523" y="3308933"/>
                </a:lnTo>
                <a:lnTo>
                  <a:pt x="8791628" y="3308933"/>
                </a:lnTo>
                <a:lnTo>
                  <a:pt x="8791628" y="3366083"/>
                </a:lnTo>
                <a:close/>
              </a:path>
              <a:path w="8792210" h="8609330">
                <a:moveTo>
                  <a:pt x="8791628" y="3442283"/>
                </a:moveTo>
                <a:lnTo>
                  <a:pt x="8772523" y="3442283"/>
                </a:lnTo>
                <a:lnTo>
                  <a:pt x="8772523" y="3385133"/>
                </a:lnTo>
                <a:lnTo>
                  <a:pt x="8791628" y="3385133"/>
                </a:lnTo>
                <a:lnTo>
                  <a:pt x="8791628" y="3442283"/>
                </a:lnTo>
                <a:close/>
              </a:path>
              <a:path w="8792210" h="8609330">
                <a:moveTo>
                  <a:pt x="8791628" y="3518483"/>
                </a:moveTo>
                <a:lnTo>
                  <a:pt x="8772523" y="3518483"/>
                </a:lnTo>
                <a:lnTo>
                  <a:pt x="8772523" y="3461333"/>
                </a:lnTo>
                <a:lnTo>
                  <a:pt x="8791628" y="3461333"/>
                </a:lnTo>
                <a:lnTo>
                  <a:pt x="8791628" y="3518483"/>
                </a:lnTo>
                <a:close/>
              </a:path>
              <a:path w="8792210" h="8609330">
                <a:moveTo>
                  <a:pt x="8791628" y="3594683"/>
                </a:moveTo>
                <a:lnTo>
                  <a:pt x="8772523" y="3594683"/>
                </a:lnTo>
                <a:lnTo>
                  <a:pt x="8772523" y="3537533"/>
                </a:lnTo>
                <a:lnTo>
                  <a:pt x="8791628" y="3537533"/>
                </a:lnTo>
                <a:lnTo>
                  <a:pt x="8791628" y="3594683"/>
                </a:lnTo>
                <a:close/>
              </a:path>
              <a:path w="8792210" h="8609330">
                <a:moveTo>
                  <a:pt x="8791628" y="3670883"/>
                </a:moveTo>
                <a:lnTo>
                  <a:pt x="8772523" y="3670883"/>
                </a:lnTo>
                <a:lnTo>
                  <a:pt x="8772523" y="3613733"/>
                </a:lnTo>
                <a:lnTo>
                  <a:pt x="8791628" y="3613733"/>
                </a:lnTo>
                <a:lnTo>
                  <a:pt x="8791628" y="3670883"/>
                </a:lnTo>
                <a:close/>
              </a:path>
              <a:path w="8792210" h="8609330">
                <a:moveTo>
                  <a:pt x="8791628" y="3747083"/>
                </a:moveTo>
                <a:lnTo>
                  <a:pt x="8772523" y="3747083"/>
                </a:lnTo>
                <a:lnTo>
                  <a:pt x="8772523" y="3689933"/>
                </a:lnTo>
                <a:lnTo>
                  <a:pt x="8791628" y="3689933"/>
                </a:lnTo>
                <a:lnTo>
                  <a:pt x="8791628" y="3747083"/>
                </a:lnTo>
                <a:close/>
              </a:path>
              <a:path w="8792210" h="8609330">
                <a:moveTo>
                  <a:pt x="8791628" y="3823283"/>
                </a:moveTo>
                <a:lnTo>
                  <a:pt x="8772523" y="3823283"/>
                </a:lnTo>
                <a:lnTo>
                  <a:pt x="8772523" y="3766133"/>
                </a:lnTo>
                <a:lnTo>
                  <a:pt x="8791628" y="3766133"/>
                </a:lnTo>
                <a:lnTo>
                  <a:pt x="8791628" y="3823283"/>
                </a:lnTo>
                <a:close/>
              </a:path>
              <a:path w="8792210" h="8609330">
                <a:moveTo>
                  <a:pt x="8791628" y="3899483"/>
                </a:moveTo>
                <a:lnTo>
                  <a:pt x="8772523" y="3899483"/>
                </a:lnTo>
                <a:lnTo>
                  <a:pt x="8772523" y="3842333"/>
                </a:lnTo>
                <a:lnTo>
                  <a:pt x="8791628" y="3842333"/>
                </a:lnTo>
                <a:lnTo>
                  <a:pt x="8791628" y="3899483"/>
                </a:lnTo>
                <a:close/>
              </a:path>
              <a:path w="8792210" h="8609330">
                <a:moveTo>
                  <a:pt x="8791628" y="3975683"/>
                </a:moveTo>
                <a:lnTo>
                  <a:pt x="8772523" y="3975683"/>
                </a:lnTo>
                <a:lnTo>
                  <a:pt x="8772523" y="3918533"/>
                </a:lnTo>
                <a:lnTo>
                  <a:pt x="8791628" y="3918533"/>
                </a:lnTo>
                <a:lnTo>
                  <a:pt x="8791628" y="3975683"/>
                </a:lnTo>
                <a:close/>
              </a:path>
              <a:path w="8792210" h="8609330">
                <a:moveTo>
                  <a:pt x="8791628" y="4051883"/>
                </a:moveTo>
                <a:lnTo>
                  <a:pt x="8772523" y="4051883"/>
                </a:lnTo>
                <a:lnTo>
                  <a:pt x="8772523" y="3994733"/>
                </a:lnTo>
                <a:lnTo>
                  <a:pt x="8791628" y="3994733"/>
                </a:lnTo>
                <a:lnTo>
                  <a:pt x="8791628" y="4051883"/>
                </a:lnTo>
                <a:close/>
              </a:path>
              <a:path w="8792210" h="8609330">
                <a:moveTo>
                  <a:pt x="8791628" y="4128083"/>
                </a:moveTo>
                <a:lnTo>
                  <a:pt x="8772523" y="4128083"/>
                </a:lnTo>
                <a:lnTo>
                  <a:pt x="8772523" y="4070933"/>
                </a:lnTo>
                <a:lnTo>
                  <a:pt x="8791628" y="4070933"/>
                </a:lnTo>
                <a:lnTo>
                  <a:pt x="8791628" y="4128083"/>
                </a:lnTo>
                <a:close/>
              </a:path>
              <a:path w="8792210" h="8609330">
                <a:moveTo>
                  <a:pt x="8791628" y="4204283"/>
                </a:moveTo>
                <a:lnTo>
                  <a:pt x="8772523" y="4204283"/>
                </a:lnTo>
                <a:lnTo>
                  <a:pt x="8772523" y="4147133"/>
                </a:lnTo>
                <a:lnTo>
                  <a:pt x="8791628" y="4147133"/>
                </a:lnTo>
                <a:lnTo>
                  <a:pt x="8791628" y="4204283"/>
                </a:lnTo>
                <a:close/>
              </a:path>
              <a:path w="8792210" h="8609330">
                <a:moveTo>
                  <a:pt x="8791628" y="4280483"/>
                </a:moveTo>
                <a:lnTo>
                  <a:pt x="8772523" y="4280483"/>
                </a:lnTo>
                <a:lnTo>
                  <a:pt x="8772523" y="4223333"/>
                </a:lnTo>
                <a:lnTo>
                  <a:pt x="8791628" y="4223333"/>
                </a:lnTo>
                <a:lnTo>
                  <a:pt x="8791628" y="4280483"/>
                </a:lnTo>
                <a:close/>
              </a:path>
              <a:path w="8792210" h="8609330">
                <a:moveTo>
                  <a:pt x="8791628" y="4356683"/>
                </a:moveTo>
                <a:lnTo>
                  <a:pt x="8772523" y="4356683"/>
                </a:lnTo>
                <a:lnTo>
                  <a:pt x="8772523" y="4299533"/>
                </a:lnTo>
                <a:lnTo>
                  <a:pt x="8791628" y="4299533"/>
                </a:lnTo>
                <a:lnTo>
                  <a:pt x="8791628" y="4356683"/>
                </a:lnTo>
                <a:close/>
              </a:path>
              <a:path w="8792210" h="8609330">
                <a:moveTo>
                  <a:pt x="8791628" y="4432883"/>
                </a:moveTo>
                <a:lnTo>
                  <a:pt x="8772523" y="4432883"/>
                </a:lnTo>
                <a:lnTo>
                  <a:pt x="8772523" y="4375733"/>
                </a:lnTo>
                <a:lnTo>
                  <a:pt x="8791628" y="4375733"/>
                </a:lnTo>
                <a:lnTo>
                  <a:pt x="8791628" y="4432883"/>
                </a:lnTo>
                <a:close/>
              </a:path>
              <a:path w="8792210" h="8609330">
                <a:moveTo>
                  <a:pt x="8791628" y="4509083"/>
                </a:moveTo>
                <a:lnTo>
                  <a:pt x="8772523" y="4509083"/>
                </a:lnTo>
                <a:lnTo>
                  <a:pt x="8772523" y="4451933"/>
                </a:lnTo>
                <a:lnTo>
                  <a:pt x="8791628" y="4451933"/>
                </a:lnTo>
                <a:lnTo>
                  <a:pt x="8791628" y="4509083"/>
                </a:lnTo>
                <a:close/>
              </a:path>
              <a:path w="8792210" h="8609330">
                <a:moveTo>
                  <a:pt x="8791628" y="4585282"/>
                </a:moveTo>
                <a:lnTo>
                  <a:pt x="8772523" y="4585282"/>
                </a:lnTo>
                <a:lnTo>
                  <a:pt x="8772523" y="4528133"/>
                </a:lnTo>
                <a:lnTo>
                  <a:pt x="8791628" y="4528133"/>
                </a:lnTo>
                <a:lnTo>
                  <a:pt x="8791628" y="4585282"/>
                </a:lnTo>
                <a:close/>
              </a:path>
              <a:path w="8792210" h="8609330">
                <a:moveTo>
                  <a:pt x="8791628" y="4661483"/>
                </a:moveTo>
                <a:lnTo>
                  <a:pt x="8772523" y="4661483"/>
                </a:lnTo>
                <a:lnTo>
                  <a:pt x="8772523" y="4604332"/>
                </a:lnTo>
                <a:lnTo>
                  <a:pt x="8791628" y="4604332"/>
                </a:lnTo>
                <a:lnTo>
                  <a:pt x="8791628" y="4661483"/>
                </a:lnTo>
                <a:close/>
              </a:path>
              <a:path w="8792210" h="8609330">
                <a:moveTo>
                  <a:pt x="8791628" y="4737683"/>
                </a:moveTo>
                <a:lnTo>
                  <a:pt x="8772523" y="4737683"/>
                </a:lnTo>
                <a:lnTo>
                  <a:pt x="8772523" y="4680533"/>
                </a:lnTo>
                <a:lnTo>
                  <a:pt x="8791628" y="4680533"/>
                </a:lnTo>
                <a:lnTo>
                  <a:pt x="8791628" y="4737683"/>
                </a:lnTo>
                <a:close/>
              </a:path>
              <a:path w="8792210" h="8609330">
                <a:moveTo>
                  <a:pt x="8791628" y="4813883"/>
                </a:moveTo>
                <a:lnTo>
                  <a:pt x="8772523" y="4813883"/>
                </a:lnTo>
                <a:lnTo>
                  <a:pt x="8772523" y="4756733"/>
                </a:lnTo>
                <a:lnTo>
                  <a:pt x="8791628" y="4756733"/>
                </a:lnTo>
                <a:lnTo>
                  <a:pt x="8791628" y="4813883"/>
                </a:lnTo>
                <a:close/>
              </a:path>
              <a:path w="8792210" h="8609330">
                <a:moveTo>
                  <a:pt x="8791628" y="4890083"/>
                </a:moveTo>
                <a:lnTo>
                  <a:pt x="8772523" y="4890083"/>
                </a:lnTo>
                <a:lnTo>
                  <a:pt x="8772523" y="4832933"/>
                </a:lnTo>
                <a:lnTo>
                  <a:pt x="8791628" y="4832933"/>
                </a:lnTo>
                <a:lnTo>
                  <a:pt x="8791628" y="4890083"/>
                </a:lnTo>
                <a:close/>
              </a:path>
              <a:path w="8792210" h="8609330">
                <a:moveTo>
                  <a:pt x="8791628" y="4966283"/>
                </a:moveTo>
                <a:lnTo>
                  <a:pt x="8772523" y="4966283"/>
                </a:lnTo>
                <a:lnTo>
                  <a:pt x="8772523" y="4909133"/>
                </a:lnTo>
                <a:lnTo>
                  <a:pt x="8791628" y="4909133"/>
                </a:lnTo>
                <a:lnTo>
                  <a:pt x="8791628" y="4966283"/>
                </a:lnTo>
                <a:close/>
              </a:path>
              <a:path w="8792210" h="8609330">
                <a:moveTo>
                  <a:pt x="8791628" y="5042483"/>
                </a:moveTo>
                <a:lnTo>
                  <a:pt x="8772523" y="5042483"/>
                </a:lnTo>
                <a:lnTo>
                  <a:pt x="8772523" y="4985333"/>
                </a:lnTo>
                <a:lnTo>
                  <a:pt x="8791628" y="4985333"/>
                </a:lnTo>
                <a:lnTo>
                  <a:pt x="8791628" y="5042483"/>
                </a:lnTo>
                <a:close/>
              </a:path>
              <a:path w="8792210" h="8609330">
                <a:moveTo>
                  <a:pt x="8791628" y="5118683"/>
                </a:moveTo>
                <a:lnTo>
                  <a:pt x="8772523" y="5118683"/>
                </a:lnTo>
                <a:lnTo>
                  <a:pt x="8772523" y="5061533"/>
                </a:lnTo>
                <a:lnTo>
                  <a:pt x="8791628" y="5061533"/>
                </a:lnTo>
                <a:lnTo>
                  <a:pt x="8791628" y="5118683"/>
                </a:lnTo>
                <a:close/>
              </a:path>
              <a:path w="8792210" h="8609330">
                <a:moveTo>
                  <a:pt x="8791628" y="5194883"/>
                </a:moveTo>
                <a:lnTo>
                  <a:pt x="8772523" y="5194883"/>
                </a:lnTo>
                <a:lnTo>
                  <a:pt x="8772523" y="5137733"/>
                </a:lnTo>
                <a:lnTo>
                  <a:pt x="8791628" y="5137733"/>
                </a:lnTo>
                <a:lnTo>
                  <a:pt x="8791628" y="5194883"/>
                </a:lnTo>
                <a:close/>
              </a:path>
              <a:path w="8792210" h="8609330">
                <a:moveTo>
                  <a:pt x="8791628" y="5271083"/>
                </a:moveTo>
                <a:lnTo>
                  <a:pt x="8772523" y="5271083"/>
                </a:lnTo>
                <a:lnTo>
                  <a:pt x="8772523" y="5213933"/>
                </a:lnTo>
                <a:lnTo>
                  <a:pt x="8791628" y="5213933"/>
                </a:lnTo>
                <a:lnTo>
                  <a:pt x="8791628" y="5271083"/>
                </a:lnTo>
                <a:close/>
              </a:path>
              <a:path w="8792210" h="8609330">
                <a:moveTo>
                  <a:pt x="8791628" y="5347283"/>
                </a:moveTo>
                <a:lnTo>
                  <a:pt x="8772523" y="5347283"/>
                </a:lnTo>
                <a:lnTo>
                  <a:pt x="8772523" y="5290133"/>
                </a:lnTo>
                <a:lnTo>
                  <a:pt x="8791628" y="5290133"/>
                </a:lnTo>
                <a:lnTo>
                  <a:pt x="8791628" y="5347283"/>
                </a:lnTo>
                <a:close/>
              </a:path>
              <a:path w="8792210" h="8609330">
                <a:moveTo>
                  <a:pt x="8791628" y="5423483"/>
                </a:moveTo>
                <a:lnTo>
                  <a:pt x="8772523" y="5423483"/>
                </a:lnTo>
                <a:lnTo>
                  <a:pt x="8772523" y="5366333"/>
                </a:lnTo>
                <a:lnTo>
                  <a:pt x="8791628" y="5366333"/>
                </a:lnTo>
                <a:lnTo>
                  <a:pt x="8791628" y="5423483"/>
                </a:lnTo>
                <a:close/>
              </a:path>
              <a:path w="8792210" h="8609330">
                <a:moveTo>
                  <a:pt x="8791628" y="5499683"/>
                </a:moveTo>
                <a:lnTo>
                  <a:pt x="8772523" y="5499683"/>
                </a:lnTo>
                <a:lnTo>
                  <a:pt x="8772523" y="5442533"/>
                </a:lnTo>
                <a:lnTo>
                  <a:pt x="8791628" y="5442533"/>
                </a:lnTo>
                <a:lnTo>
                  <a:pt x="8791628" y="5499683"/>
                </a:lnTo>
                <a:close/>
              </a:path>
              <a:path w="8792210" h="8609330">
                <a:moveTo>
                  <a:pt x="8791628" y="5575883"/>
                </a:moveTo>
                <a:lnTo>
                  <a:pt x="8772523" y="5575883"/>
                </a:lnTo>
                <a:lnTo>
                  <a:pt x="8772523" y="5518733"/>
                </a:lnTo>
                <a:lnTo>
                  <a:pt x="8791628" y="5518733"/>
                </a:lnTo>
                <a:lnTo>
                  <a:pt x="8791628" y="5575883"/>
                </a:lnTo>
                <a:close/>
              </a:path>
              <a:path w="8792210" h="8609330">
                <a:moveTo>
                  <a:pt x="8791628" y="5652083"/>
                </a:moveTo>
                <a:lnTo>
                  <a:pt x="8772523" y="5652083"/>
                </a:lnTo>
                <a:lnTo>
                  <a:pt x="8772523" y="5594933"/>
                </a:lnTo>
                <a:lnTo>
                  <a:pt x="8791628" y="5594933"/>
                </a:lnTo>
                <a:lnTo>
                  <a:pt x="8791628" y="5652083"/>
                </a:lnTo>
                <a:close/>
              </a:path>
              <a:path w="8792210" h="8609330">
                <a:moveTo>
                  <a:pt x="8791628" y="5728283"/>
                </a:moveTo>
                <a:lnTo>
                  <a:pt x="8772523" y="5728283"/>
                </a:lnTo>
                <a:lnTo>
                  <a:pt x="8772523" y="5671133"/>
                </a:lnTo>
                <a:lnTo>
                  <a:pt x="8791628" y="5671133"/>
                </a:lnTo>
                <a:lnTo>
                  <a:pt x="8791628" y="5728283"/>
                </a:lnTo>
                <a:close/>
              </a:path>
              <a:path w="8792210" h="8609330">
                <a:moveTo>
                  <a:pt x="8791628" y="5804483"/>
                </a:moveTo>
                <a:lnTo>
                  <a:pt x="8772523" y="5804483"/>
                </a:lnTo>
                <a:lnTo>
                  <a:pt x="8772523" y="5747333"/>
                </a:lnTo>
                <a:lnTo>
                  <a:pt x="8791628" y="5747333"/>
                </a:lnTo>
                <a:lnTo>
                  <a:pt x="8791628" y="5804483"/>
                </a:lnTo>
                <a:close/>
              </a:path>
              <a:path w="8792210" h="8609330">
                <a:moveTo>
                  <a:pt x="8791628" y="5880683"/>
                </a:moveTo>
                <a:lnTo>
                  <a:pt x="8772523" y="5880683"/>
                </a:lnTo>
                <a:lnTo>
                  <a:pt x="8772523" y="5823533"/>
                </a:lnTo>
                <a:lnTo>
                  <a:pt x="8791628" y="5823533"/>
                </a:lnTo>
                <a:lnTo>
                  <a:pt x="8791628" y="5880683"/>
                </a:lnTo>
                <a:close/>
              </a:path>
              <a:path w="8792210" h="8609330">
                <a:moveTo>
                  <a:pt x="8791628" y="5956883"/>
                </a:moveTo>
                <a:lnTo>
                  <a:pt x="8772523" y="5956883"/>
                </a:lnTo>
                <a:lnTo>
                  <a:pt x="8772523" y="5899733"/>
                </a:lnTo>
                <a:lnTo>
                  <a:pt x="8791628" y="5899733"/>
                </a:lnTo>
                <a:lnTo>
                  <a:pt x="8791628" y="5956883"/>
                </a:lnTo>
                <a:close/>
              </a:path>
              <a:path w="8792210" h="8609330">
                <a:moveTo>
                  <a:pt x="8791628" y="6033083"/>
                </a:moveTo>
                <a:lnTo>
                  <a:pt x="8772523" y="6033083"/>
                </a:lnTo>
                <a:lnTo>
                  <a:pt x="8772523" y="5975933"/>
                </a:lnTo>
                <a:lnTo>
                  <a:pt x="8791628" y="5975933"/>
                </a:lnTo>
                <a:lnTo>
                  <a:pt x="8791628" y="6033083"/>
                </a:lnTo>
                <a:close/>
              </a:path>
              <a:path w="8792210" h="8609330">
                <a:moveTo>
                  <a:pt x="8791628" y="6109283"/>
                </a:moveTo>
                <a:lnTo>
                  <a:pt x="8772523" y="6109283"/>
                </a:lnTo>
                <a:lnTo>
                  <a:pt x="8772523" y="6052133"/>
                </a:lnTo>
                <a:lnTo>
                  <a:pt x="8791628" y="6052133"/>
                </a:lnTo>
                <a:lnTo>
                  <a:pt x="8791628" y="6109283"/>
                </a:lnTo>
                <a:close/>
              </a:path>
              <a:path w="8792210" h="8609330">
                <a:moveTo>
                  <a:pt x="8791628" y="6185483"/>
                </a:moveTo>
                <a:lnTo>
                  <a:pt x="8772523" y="6185483"/>
                </a:lnTo>
                <a:lnTo>
                  <a:pt x="8772523" y="6128333"/>
                </a:lnTo>
                <a:lnTo>
                  <a:pt x="8791628" y="6128333"/>
                </a:lnTo>
                <a:lnTo>
                  <a:pt x="8791628" y="6185483"/>
                </a:lnTo>
                <a:close/>
              </a:path>
              <a:path w="8792210" h="8609330">
                <a:moveTo>
                  <a:pt x="8791628" y="6261683"/>
                </a:moveTo>
                <a:lnTo>
                  <a:pt x="8772523" y="6261683"/>
                </a:lnTo>
                <a:lnTo>
                  <a:pt x="8772523" y="6204533"/>
                </a:lnTo>
                <a:lnTo>
                  <a:pt x="8791628" y="6204533"/>
                </a:lnTo>
                <a:lnTo>
                  <a:pt x="8791628" y="6261683"/>
                </a:lnTo>
                <a:close/>
              </a:path>
              <a:path w="8792210" h="8609330">
                <a:moveTo>
                  <a:pt x="8791628" y="6337883"/>
                </a:moveTo>
                <a:lnTo>
                  <a:pt x="8772523" y="6337883"/>
                </a:lnTo>
                <a:lnTo>
                  <a:pt x="8772523" y="6280733"/>
                </a:lnTo>
                <a:lnTo>
                  <a:pt x="8791628" y="6280733"/>
                </a:lnTo>
                <a:lnTo>
                  <a:pt x="8791628" y="6337883"/>
                </a:lnTo>
                <a:close/>
              </a:path>
              <a:path w="8792210" h="8609330">
                <a:moveTo>
                  <a:pt x="8791628" y="6414083"/>
                </a:moveTo>
                <a:lnTo>
                  <a:pt x="8772523" y="6414083"/>
                </a:lnTo>
                <a:lnTo>
                  <a:pt x="8772523" y="6356933"/>
                </a:lnTo>
                <a:lnTo>
                  <a:pt x="8791628" y="6356933"/>
                </a:lnTo>
                <a:lnTo>
                  <a:pt x="8791628" y="6414083"/>
                </a:lnTo>
                <a:close/>
              </a:path>
              <a:path w="8792210" h="8609330">
                <a:moveTo>
                  <a:pt x="8791628" y="6490282"/>
                </a:moveTo>
                <a:lnTo>
                  <a:pt x="8772523" y="6490282"/>
                </a:lnTo>
                <a:lnTo>
                  <a:pt x="8772523" y="6433133"/>
                </a:lnTo>
                <a:lnTo>
                  <a:pt x="8791628" y="6433133"/>
                </a:lnTo>
                <a:lnTo>
                  <a:pt x="8791628" y="6490282"/>
                </a:lnTo>
                <a:close/>
              </a:path>
              <a:path w="8792210" h="8609330">
                <a:moveTo>
                  <a:pt x="8791628" y="6566482"/>
                </a:moveTo>
                <a:lnTo>
                  <a:pt x="8772523" y="6566482"/>
                </a:lnTo>
                <a:lnTo>
                  <a:pt x="8772523" y="6509332"/>
                </a:lnTo>
                <a:lnTo>
                  <a:pt x="8791628" y="6509332"/>
                </a:lnTo>
                <a:lnTo>
                  <a:pt x="8791628" y="6566482"/>
                </a:lnTo>
                <a:close/>
              </a:path>
              <a:path w="8792210" h="8609330">
                <a:moveTo>
                  <a:pt x="8791628" y="6642682"/>
                </a:moveTo>
                <a:lnTo>
                  <a:pt x="8772523" y="6642682"/>
                </a:lnTo>
                <a:lnTo>
                  <a:pt x="8772523" y="6585532"/>
                </a:lnTo>
                <a:lnTo>
                  <a:pt x="8791628" y="6585532"/>
                </a:lnTo>
                <a:lnTo>
                  <a:pt x="8791628" y="6642682"/>
                </a:lnTo>
                <a:close/>
              </a:path>
              <a:path w="8792210" h="8609330">
                <a:moveTo>
                  <a:pt x="8791628" y="6718882"/>
                </a:moveTo>
                <a:lnTo>
                  <a:pt x="8772523" y="6718882"/>
                </a:lnTo>
                <a:lnTo>
                  <a:pt x="8772523" y="6661732"/>
                </a:lnTo>
                <a:lnTo>
                  <a:pt x="8791628" y="6661732"/>
                </a:lnTo>
                <a:lnTo>
                  <a:pt x="8791628" y="6718882"/>
                </a:lnTo>
                <a:close/>
              </a:path>
              <a:path w="8792210" h="8609330">
                <a:moveTo>
                  <a:pt x="8791628" y="6795082"/>
                </a:moveTo>
                <a:lnTo>
                  <a:pt x="8772523" y="6795082"/>
                </a:lnTo>
                <a:lnTo>
                  <a:pt x="8772523" y="6737932"/>
                </a:lnTo>
                <a:lnTo>
                  <a:pt x="8791628" y="6737932"/>
                </a:lnTo>
                <a:lnTo>
                  <a:pt x="8791628" y="6795082"/>
                </a:lnTo>
                <a:close/>
              </a:path>
              <a:path w="8792210" h="8609330">
                <a:moveTo>
                  <a:pt x="8791628" y="6871282"/>
                </a:moveTo>
                <a:lnTo>
                  <a:pt x="8772523" y="6871282"/>
                </a:lnTo>
                <a:lnTo>
                  <a:pt x="8772523" y="6814132"/>
                </a:lnTo>
                <a:lnTo>
                  <a:pt x="8791628" y="6814132"/>
                </a:lnTo>
                <a:lnTo>
                  <a:pt x="8791628" y="6871282"/>
                </a:lnTo>
                <a:close/>
              </a:path>
              <a:path w="8792210" h="8609330">
                <a:moveTo>
                  <a:pt x="8791628" y="6947482"/>
                </a:moveTo>
                <a:lnTo>
                  <a:pt x="8772523" y="6947482"/>
                </a:lnTo>
                <a:lnTo>
                  <a:pt x="8772523" y="6890332"/>
                </a:lnTo>
                <a:lnTo>
                  <a:pt x="8791628" y="6890332"/>
                </a:lnTo>
                <a:lnTo>
                  <a:pt x="8791628" y="6947482"/>
                </a:lnTo>
                <a:close/>
              </a:path>
              <a:path w="8792210" h="8609330">
                <a:moveTo>
                  <a:pt x="8791628" y="7023682"/>
                </a:moveTo>
                <a:lnTo>
                  <a:pt x="8772523" y="7023682"/>
                </a:lnTo>
                <a:lnTo>
                  <a:pt x="8772523" y="6966532"/>
                </a:lnTo>
                <a:lnTo>
                  <a:pt x="8791628" y="6966532"/>
                </a:lnTo>
                <a:lnTo>
                  <a:pt x="8791628" y="7023682"/>
                </a:lnTo>
                <a:close/>
              </a:path>
              <a:path w="8792210" h="8609330">
                <a:moveTo>
                  <a:pt x="8791628" y="7099882"/>
                </a:moveTo>
                <a:lnTo>
                  <a:pt x="8772523" y="7099882"/>
                </a:lnTo>
                <a:lnTo>
                  <a:pt x="8772523" y="7042732"/>
                </a:lnTo>
                <a:lnTo>
                  <a:pt x="8791628" y="7042732"/>
                </a:lnTo>
                <a:lnTo>
                  <a:pt x="8791628" y="7099882"/>
                </a:lnTo>
                <a:close/>
              </a:path>
              <a:path w="8792210" h="8609330">
                <a:moveTo>
                  <a:pt x="8791628" y="7176082"/>
                </a:moveTo>
                <a:lnTo>
                  <a:pt x="8772523" y="7176082"/>
                </a:lnTo>
                <a:lnTo>
                  <a:pt x="8772523" y="7118932"/>
                </a:lnTo>
                <a:lnTo>
                  <a:pt x="8791628" y="7118932"/>
                </a:lnTo>
                <a:lnTo>
                  <a:pt x="8791628" y="7176082"/>
                </a:lnTo>
                <a:close/>
              </a:path>
              <a:path w="8792210" h="8609330">
                <a:moveTo>
                  <a:pt x="8791628" y="7252282"/>
                </a:moveTo>
                <a:lnTo>
                  <a:pt x="8772523" y="7252282"/>
                </a:lnTo>
                <a:lnTo>
                  <a:pt x="8772523" y="7195132"/>
                </a:lnTo>
                <a:lnTo>
                  <a:pt x="8791628" y="7195132"/>
                </a:lnTo>
                <a:lnTo>
                  <a:pt x="8791628" y="7252282"/>
                </a:lnTo>
                <a:close/>
              </a:path>
              <a:path w="8792210" h="8609330">
                <a:moveTo>
                  <a:pt x="8791628" y="7328482"/>
                </a:moveTo>
                <a:lnTo>
                  <a:pt x="8772523" y="7328482"/>
                </a:lnTo>
                <a:lnTo>
                  <a:pt x="8772523" y="7271332"/>
                </a:lnTo>
                <a:lnTo>
                  <a:pt x="8791628" y="7271332"/>
                </a:lnTo>
                <a:lnTo>
                  <a:pt x="8791628" y="7328482"/>
                </a:lnTo>
                <a:close/>
              </a:path>
              <a:path w="8792210" h="8609330">
                <a:moveTo>
                  <a:pt x="8791628" y="7404682"/>
                </a:moveTo>
                <a:lnTo>
                  <a:pt x="8772523" y="7404682"/>
                </a:lnTo>
                <a:lnTo>
                  <a:pt x="8772523" y="7347532"/>
                </a:lnTo>
                <a:lnTo>
                  <a:pt x="8791628" y="7347532"/>
                </a:lnTo>
                <a:lnTo>
                  <a:pt x="8791628" y="7404682"/>
                </a:lnTo>
                <a:close/>
              </a:path>
              <a:path w="8792210" h="8609330">
                <a:moveTo>
                  <a:pt x="8791628" y="7480882"/>
                </a:moveTo>
                <a:lnTo>
                  <a:pt x="8772523" y="7480882"/>
                </a:lnTo>
                <a:lnTo>
                  <a:pt x="8772523" y="7423732"/>
                </a:lnTo>
                <a:lnTo>
                  <a:pt x="8791628" y="7423732"/>
                </a:lnTo>
                <a:lnTo>
                  <a:pt x="8791628" y="7480882"/>
                </a:lnTo>
                <a:close/>
              </a:path>
              <a:path w="8792210" h="8609330">
                <a:moveTo>
                  <a:pt x="8791628" y="7557082"/>
                </a:moveTo>
                <a:lnTo>
                  <a:pt x="8772523" y="7557082"/>
                </a:lnTo>
                <a:lnTo>
                  <a:pt x="8772523" y="7499932"/>
                </a:lnTo>
                <a:lnTo>
                  <a:pt x="8791628" y="7499932"/>
                </a:lnTo>
                <a:lnTo>
                  <a:pt x="8791628" y="7557082"/>
                </a:lnTo>
                <a:close/>
              </a:path>
              <a:path w="8792210" h="8609330">
                <a:moveTo>
                  <a:pt x="8791628" y="7633282"/>
                </a:moveTo>
                <a:lnTo>
                  <a:pt x="8772523" y="7633282"/>
                </a:lnTo>
                <a:lnTo>
                  <a:pt x="8772523" y="7576132"/>
                </a:lnTo>
                <a:lnTo>
                  <a:pt x="8791628" y="7576132"/>
                </a:lnTo>
                <a:lnTo>
                  <a:pt x="8791628" y="7633282"/>
                </a:lnTo>
                <a:close/>
              </a:path>
              <a:path w="8792210" h="8609330">
                <a:moveTo>
                  <a:pt x="8791628" y="7709482"/>
                </a:moveTo>
                <a:lnTo>
                  <a:pt x="8772523" y="7709482"/>
                </a:lnTo>
                <a:lnTo>
                  <a:pt x="8772523" y="7652332"/>
                </a:lnTo>
                <a:lnTo>
                  <a:pt x="8791628" y="7652332"/>
                </a:lnTo>
                <a:lnTo>
                  <a:pt x="8791628" y="7709482"/>
                </a:lnTo>
                <a:close/>
              </a:path>
              <a:path w="8792210" h="8609330">
                <a:moveTo>
                  <a:pt x="8791628" y="7785682"/>
                </a:moveTo>
                <a:lnTo>
                  <a:pt x="8772523" y="7785682"/>
                </a:lnTo>
                <a:lnTo>
                  <a:pt x="8772523" y="7728532"/>
                </a:lnTo>
                <a:lnTo>
                  <a:pt x="8791628" y="7728532"/>
                </a:lnTo>
                <a:lnTo>
                  <a:pt x="8791628" y="7785682"/>
                </a:lnTo>
                <a:close/>
              </a:path>
              <a:path w="8792210" h="8609330">
                <a:moveTo>
                  <a:pt x="8791628" y="7861882"/>
                </a:moveTo>
                <a:lnTo>
                  <a:pt x="8772523" y="7861882"/>
                </a:lnTo>
                <a:lnTo>
                  <a:pt x="8772523" y="7804732"/>
                </a:lnTo>
                <a:lnTo>
                  <a:pt x="8791628" y="7804732"/>
                </a:lnTo>
                <a:lnTo>
                  <a:pt x="8791628" y="7861882"/>
                </a:lnTo>
                <a:close/>
              </a:path>
              <a:path w="8792210" h="8609330">
                <a:moveTo>
                  <a:pt x="8791628" y="7938082"/>
                </a:moveTo>
                <a:lnTo>
                  <a:pt x="8772523" y="7938082"/>
                </a:lnTo>
                <a:lnTo>
                  <a:pt x="8772523" y="7880932"/>
                </a:lnTo>
                <a:lnTo>
                  <a:pt x="8791628" y="7880932"/>
                </a:lnTo>
                <a:lnTo>
                  <a:pt x="8791628" y="7938082"/>
                </a:lnTo>
                <a:close/>
              </a:path>
              <a:path w="8792210" h="8609330">
                <a:moveTo>
                  <a:pt x="8791628" y="8014282"/>
                </a:moveTo>
                <a:lnTo>
                  <a:pt x="8772523" y="8014282"/>
                </a:lnTo>
                <a:lnTo>
                  <a:pt x="8772523" y="7957132"/>
                </a:lnTo>
                <a:lnTo>
                  <a:pt x="8791628" y="7957132"/>
                </a:lnTo>
                <a:lnTo>
                  <a:pt x="8791628" y="8014282"/>
                </a:lnTo>
                <a:close/>
              </a:path>
              <a:path w="8792210" h="8609330">
                <a:moveTo>
                  <a:pt x="8791628" y="8090482"/>
                </a:moveTo>
                <a:lnTo>
                  <a:pt x="8772523" y="8090482"/>
                </a:lnTo>
                <a:lnTo>
                  <a:pt x="8772523" y="8033332"/>
                </a:lnTo>
                <a:lnTo>
                  <a:pt x="8791628" y="8033332"/>
                </a:lnTo>
                <a:lnTo>
                  <a:pt x="8791628" y="8090482"/>
                </a:lnTo>
                <a:close/>
              </a:path>
              <a:path w="8792210" h="8609330">
                <a:moveTo>
                  <a:pt x="8791628" y="8166682"/>
                </a:moveTo>
                <a:lnTo>
                  <a:pt x="8772523" y="8166682"/>
                </a:lnTo>
                <a:lnTo>
                  <a:pt x="8772523" y="8109532"/>
                </a:lnTo>
                <a:lnTo>
                  <a:pt x="8791628" y="8109532"/>
                </a:lnTo>
                <a:lnTo>
                  <a:pt x="8791628" y="8166682"/>
                </a:lnTo>
                <a:close/>
              </a:path>
              <a:path w="8792210" h="8609330">
                <a:moveTo>
                  <a:pt x="8791628" y="8242882"/>
                </a:moveTo>
                <a:lnTo>
                  <a:pt x="8772523" y="8242882"/>
                </a:lnTo>
                <a:lnTo>
                  <a:pt x="8772523" y="8185732"/>
                </a:lnTo>
                <a:lnTo>
                  <a:pt x="8791628" y="8185732"/>
                </a:lnTo>
                <a:lnTo>
                  <a:pt x="8791628" y="8242882"/>
                </a:lnTo>
                <a:close/>
              </a:path>
              <a:path w="8792210" h="8609330">
                <a:moveTo>
                  <a:pt x="8791628" y="8319082"/>
                </a:moveTo>
                <a:lnTo>
                  <a:pt x="8772523" y="8319082"/>
                </a:lnTo>
                <a:lnTo>
                  <a:pt x="8772523" y="8261932"/>
                </a:lnTo>
                <a:lnTo>
                  <a:pt x="8791628" y="8261932"/>
                </a:lnTo>
                <a:lnTo>
                  <a:pt x="8791628" y="8319082"/>
                </a:lnTo>
                <a:close/>
              </a:path>
              <a:path w="8792210" h="8609330">
                <a:moveTo>
                  <a:pt x="8791628" y="8395282"/>
                </a:moveTo>
                <a:lnTo>
                  <a:pt x="8772523" y="8395282"/>
                </a:lnTo>
                <a:lnTo>
                  <a:pt x="8772523" y="8338132"/>
                </a:lnTo>
                <a:lnTo>
                  <a:pt x="8791628" y="8338132"/>
                </a:lnTo>
                <a:lnTo>
                  <a:pt x="8791628" y="8395282"/>
                </a:lnTo>
                <a:close/>
              </a:path>
              <a:path w="8792210" h="8609330">
                <a:moveTo>
                  <a:pt x="8791628" y="8471482"/>
                </a:moveTo>
                <a:lnTo>
                  <a:pt x="8772523" y="8471482"/>
                </a:lnTo>
                <a:lnTo>
                  <a:pt x="8772523" y="8414332"/>
                </a:lnTo>
                <a:lnTo>
                  <a:pt x="8791628" y="8414332"/>
                </a:lnTo>
                <a:lnTo>
                  <a:pt x="8791628" y="8471482"/>
                </a:lnTo>
                <a:close/>
              </a:path>
              <a:path w="8792210" h="8609330">
                <a:moveTo>
                  <a:pt x="8785307" y="8547121"/>
                </a:moveTo>
                <a:lnTo>
                  <a:pt x="8767656" y="8540491"/>
                </a:lnTo>
                <a:lnTo>
                  <a:pt x="8769786" y="8533958"/>
                </a:lnTo>
                <a:lnTo>
                  <a:pt x="8771306" y="8527314"/>
                </a:lnTo>
                <a:lnTo>
                  <a:pt x="8772219" y="8520559"/>
                </a:lnTo>
                <a:lnTo>
                  <a:pt x="8772523" y="8513694"/>
                </a:lnTo>
                <a:lnTo>
                  <a:pt x="8772523" y="8490532"/>
                </a:lnTo>
                <a:lnTo>
                  <a:pt x="8791628" y="8490532"/>
                </a:lnTo>
                <a:lnTo>
                  <a:pt x="8791628" y="8513694"/>
                </a:lnTo>
                <a:lnTo>
                  <a:pt x="8789781" y="8532398"/>
                </a:lnTo>
                <a:lnTo>
                  <a:pt x="8785307" y="8547121"/>
                </a:lnTo>
                <a:close/>
              </a:path>
              <a:path w="8792210" h="8609330">
                <a:moveTo>
                  <a:pt x="8733952" y="8601129"/>
                </a:moveTo>
                <a:lnTo>
                  <a:pt x="8726446" y="8583687"/>
                </a:lnTo>
                <a:lnTo>
                  <a:pt x="8732965" y="8580513"/>
                </a:lnTo>
                <a:lnTo>
                  <a:pt x="8739098" y="8576770"/>
                </a:lnTo>
                <a:lnTo>
                  <a:pt x="8760902" y="8554142"/>
                </a:lnTo>
                <a:lnTo>
                  <a:pt x="8776910" y="8564169"/>
                </a:lnTo>
                <a:lnTo>
                  <a:pt x="8775626" y="8566574"/>
                </a:lnTo>
                <a:lnTo>
                  <a:pt x="8763731" y="8581081"/>
                </a:lnTo>
                <a:lnTo>
                  <a:pt x="8749223" y="8592976"/>
                </a:lnTo>
                <a:lnTo>
                  <a:pt x="8733952" y="8601129"/>
                </a:lnTo>
                <a:close/>
              </a:path>
              <a:path w="8792210" h="8609330">
                <a:moveTo>
                  <a:pt x="8696378" y="8608979"/>
                </a:moveTo>
                <a:lnTo>
                  <a:pt x="8658593" y="8608979"/>
                </a:lnTo>
                <a:lnTo>
                  <a:pt x="8658593" y="8589893"/>
                </a:lnTo>
                <a:lnTo>
                  <a:pt x="8701580" y="8589893"/>
                </a:lnTo>
                <a:lnTo>
                  <a:pt x="8706778" y="8589356"/>
                </a:lnTo>
                <a:lnTo>
                  <a:pt x="8711918" y="8588281"/>
                </a:lnTo>
                <a:lnTo>
                  <a:pt x="8715811" y="8606900"/>
                </a:lnTo>
                <a:lnTo>
                  <a:pt x="8715047" y="8607132"/>
                </a:lnTo>
                <a:lnTo>
                  <a:pt x="8696378" y="8608979"/>
                </a:lnTo>
                <a:close/>
              </a:path>
              <a:path w="8792210" h="8609330">
                <a:moveTo>
                  <a:pt x="8639543" y="8608979"/>
                </a:moveTo>
                <a:lnTo>
                  <a:pt x="8582393" y="8608979"/>
                </a:lnTo>
                <a:lnTo>
                  <a:pt x="8582393" y="8589893"/>
                </a:lnTo>
                <a:lnTo>
                  <a:pt x="8639543" y="8589893"/>
                </a:lnTo>
                <a:lnTo>
                  <a:pt x="8639543" y="8608979"/>
                </a:lnTo>
                <a:close/>
              </a:path>
              <a:path w="8792210" h="8609330">
                <a:moveTo>
                  <a:pt x="8563343" y="8608979"/>
                </a:moveTo>
                <a:lnTo>
                  <a:pt x="8506193" y="8608979"/>
                </a:lnTo>
                <a:lnTo>
                  <a:pt x="8506193" y="8589893"/>
                </a:lnTo>
                <a:lnTo>
                  <a:pt x="8563343" y="8589893"/>
                </a:lnTo>
                <a:lnTo>
                  <a:pt x="8563343" y="8608979"/>
                </a:lnTo>
                <a:close/>
              </a:path>
              <a:path w="8792210" h="8609330">
                <a:moveTo>
                  <a:pt x="8487143" y="8608979"/>
                </a:moveTo>
                <a:lnTo>
                  <a:pt x="8429993" y="8608979"/>
                </a:lnTo>
                <a:lnTo>
                  <a:pt x="8429993" y="8589893"/>
                </a:lnTo>
                <a:lnTo>
                  <a:pt x="8487143" y="8589893"/>
                </a:lnTo>
                <a:lnTo>
                  <a:pt x="8487143" y="8608979"/>
                </a:lnTo>
                <a:close/>
              </a:path>
              <a:path w="8792210" h="8609330">
                <a:moveTo>
                  <a:pt x="8410943" y="8608979"/>
                </a:moveTo>
                <a:lnTo>
                  <a:pt x="8353793" y="8608979"/>
                </a:lnTo>
                <a:lnTo>
                  <a:pt x="8353793" y="8589893"/>
                </a:lnTo>
                <a:lnTo>
                  <a:pt x="8410943" y="8589893"/>
                </a:lnTo>
                <a:lnTo>
                  <a:pt x="8410943" y="8608979"/>
                </a:lnTo>
                <a:close/>
              </a:path>
              <a:path w="8792210" h="8609330">
                <a:moveTo>
                  <a:pt x="8334743" y="8608979"/>
                </a:moveTo>
                <a:lnTo>
                  <a:pt x="8277593" y="8608979"/>
                </a:lnTo>
                <a:lnTo>
                  <a:pt x="8277593" y="8589893"/>
                </a:lnTo>
                <a:lnTo>
                  <a:pt x="8334743" y="8589893"/>
                </a:lnTo>
                <a:lnTo>
                  <a:pt x="8334743" y="8608979"/>
                </a:lnTo>
                <a:close/>
              </a:path>
              <a:path w="8792210" h="8609330">
                <a:moveTo>
                  <a:pt x="8258543" y="8608979"/>
                </a:moveTo>
                <a:lnTo>
                  <a:pt x="8201393" y="8608979"/>
                </a:lnTo>
                <a:lnTo>
                  <a:pt x="8201393" y="8589893"/>
                </a:lnTo>
                <a:lnTo>
                  <a:pt x="8258543" y="8589893"/>
                </a:lnTo>
                <a:lnTo>
                  <a:pt x="8258543" y="8608979"/>
                </a:lnTo>
                <a:close/>
              </a:path>
              <a:path w="8792210" h="8609330">
                <a:moveTo>
                  <a:pt x="8182343" y="8608979"/>
                </a:moveTo>
                <a:lnTo>
                  <a:pt x="8125193" y="8608979"/>
                </a:lnTo>
                <a:lnTo>
                  <a:pt x="8125193" y="8589893"/>
                </a:lnTo>
                <a:lnTo>
                  <a:pt x="8182343" y="8589893"/>
                </a:lnTo>
                <a:lnTo>
                  <a:pt x="8182343" y="8608979"/>
                </a:lnTo>
                <a:close/>
              </a:path>
              <a:path w="8792210" h="8609330">
                <a:moveTo>
                  <a:pt x="8106143" y="8608979"/>
                </a:moveTo>
                <a:lnTo>
                  <a:pt x="8048993" y="8608979"/>
                </a:lnTo>
                <a:lnTo>
                  <a:pt x="8048993" y="8589893"/>
                </a:lnTo>
                <a:lnTo>
                  <a:pt x="8106143" y="8589893"/>
                </a:lnTo>
                <a:lnTo>
                  <a:pt x="8106143" y="8608979"/>
                </a:lnTo>
                <a:close/>
              </a:path>
              <a:path w="8792210" h="8609330">
                <a:moveTo>
                  <a:pt x="8029943" y="8608979"/>
                </a:moveTo>
                <a:lnTo>
                  <a:pt x="7972793" y="8608979"/>
                </a:lnTo>
                <a:lnTo>
                  <a:pt x="7972793" y="8589893"/>
                </a:lnTo>
                <a:lnTo>
                  <a:pt x="8029943" y="8589893"/>
                </a:lnTo>
                <a:lnTo>
                  <a:pt x="8029943" y="8608979"/>
                </a:lnTo>
                <a:close/>
              </a:path>
              <a:path w="8792210" h="8609330">
                <a:moveTo>
                  <a:pt x="7953743" y="8608979"/>
                </a:moveTo>
                <a:lnTo>
                  <a:pt x="7896593" y="8608979"/>
                </a:lnTo>
                <a:lnTo>
                  <a:pt x="7896593" y="8589893"/>
                </a:lnTo>
                <a:lnTo>
                  <a:pt x="7953743" y="8589893"/>
                </a:lnTo>
                <a:lnTo>
                  <a:pt x="7953743" y="8608979"/>
                </a:lnTo>
                <a:close/>
              </a:path>
              <a:path w="8792210" h="8609330">
                <a:moveTo>
                  <a:pt x="7877543" y="8608979"/>
                </a:moveTo>
                <a:lnTo>
                  <a:pt x="7820393" y="8608979"/>
                </a:lnTo>
                <a:lnTo>
                  <a:pt x="7820393" y="8589893"/>
                </a:lnTo>
                <a:lnTo>
                  <a:pt x="7877543" y="8589893"/>
                </a:lnTo>
                <a:lnTo>
                  <a:pt x="7877543" y="8608979"/>
                </a:lnTo>
                <a:close/>
              </a:path>
              <a:path w="8792210" h="8609330">
                <a:moveTo>
                  <a:pt x="7801343" y="8608979"/>
                </a:moveTo>
                <a:lnTo>
                  <a:pt x="7744193" y="8608979"/>
                </a:lnTo>
                <a:lnTo>
                  <a:pt x="7744193" y="8589893"/>
                </a:lnTo>
                <a:lnTo>
                  <a:pt x="7801343" y="8589893"/>
                </a:lnTo>
                <a:lnTo>
                  <a:pt x="7801343" y="8608979"/>
                </a:lnTo>
                <a:close/>
              </a:path>
              <a:path w="8792210" h="8609330">
                <a:moveTo>
                  <a:pt x="7725143" y="8608979"/>
                </a:moveTo>
                <a:lnTo>
                  <a:pt x="7667993" y="8608979"/>
                </a:lnTo>
                <a:lnTo>
                  <a:pt x="7667993" y="8589893"/>
                </a:lnTo>
                <a:lnTo>
                  <a:pt x="7725143" y="8589893"/>
                </a:lnTo>
                <a:lnTo>
                  <a:pt x="7725143" y="8608979"/>
                </a:lnTo>
                <a:close/>
              </a:path>
              <a:path w="8792210" h="8609330">
                <a:moveTo>
                  <a:pt x="7648943" y="8608979"/>
                </a:moveTo>
                <a:lnTo>
                  <a:pt x="7591793" y="8608979"/>
                </a:lnTo>
                <a:lnTo>
                  <a:pt x="7591793" y="8589893"/>
                </a:lnTo>
                <a:lnTo>
                  <a:pt x="7648943" y="8589893"/>
                </a:lnTo>
                <a:lnTo>
                  <a:pt x="7648943" y="8608979"/>
                </a:lnTo>
                <a:close/>
              </a:path>
              <a:path w="8792210" h="8609330">
                <a:moveTo>
                  <a:pt x="7572743" y="8608979"/>
                </a:moveTo>
                <a:lnTo>
                  <a:pt x="7515593" y="8608979"/>
                </a:lnTo>
                <a:lnTo>
                  <a:pt x="7515593" y="8589893"/>
                </a:lnTo>
                <a:lnTo>
                  <a:pt x="7572743" y="8589893"/>
                </a:lnTo>
                <a:lnTo>
                  <a:pt x="7572743" y="8608979"/>
                </a:lnTo>
                <a:close/>
              </a:path>
              <a:path w="8792210" h="8609330">
                <a:moveTo>
                  <a:pt x="7496543" y="8608979"/>
                </a:moveTo>
                <a:lnTo>
                  <a:pt x="7439393" y="8608979"/>
                </a:lnTo>
                <a:lnTo>
                  <a:pt x="7439393" y="8589893"/>
                </a:lnTo>
                <a:lnTo>
                  <a:pt x="7496543" y="8589893"/>
                </a:lnTo>
                <a:lnTo>
                  <a:pt x="7496543" y="8608979"/>
                </a:lnTo>
                <a:close/>
              </a:path>
              <a:path w="8792210" h="8609330">
                <a:moveTo>
                  <a:pt x="7420343" y="8608979"/>
                </a:moveTo>
                <a:lnTo>
                  <a:pt x="7363193" y="8608979"/>
                </a:lnTo>
                <a:lnTo>
                  <a:pt x="7363193" y="8589893"/>
                </a:lnTo>
                <a:lnTo>
                  <a:pt x="7420343" y="8589893"/>
                </a:lnTo>
                <a:lnTo>
                  <a:pt x="7420343" y="8608979"/>
                </a:lnTo>
                <a:close/>
              </a:path>
              <a:path w="8792210" h="8609330">
                <a:moveTo>
                  <a:pt x="7344143" y="8608979"/>
                </a:moveTo>
                <a:lnTo>
                  <a:pt x="7286993" y="8608979"/>
                </a:lnTo>
                <a:lnTo>
                  <a:pt x="7286993" y="8589893"/>
                </a:lnTo>
                <a:lnTo>
                  <a:pt x="7344143" y="8589893"/>
                </a:lnTo>
                <a:lnTo>
                  <a:pt x="7344143" y="8608979"/>
                </a:lnTo>
                <a:close/>
              </a:path>
              <a:path w="8792210" h="8609330">
                <a:moveTo>
                  <a:pt x="7267943" y="8608979"/>
                </a:moveTo>
                <a:lnTo>
                  <a:pt x="7210793" y="8608979"/>
                </a:lnTo>
                <a:lnTo>
                  <a:pt x="7210793" y="8589893"/>
                </a:lnTo>
                <a:lnTo>
                  <a:pt x="7267943" y="8589893"/>
                </a:lnTo>
                <a:lnTo>
                  <a:pt x="7267943" y="8608979"/>
                </a:lnTo>
                <a:close/>
              </a:path>
              <a:path w="8792210" h="8609330">
                <a:moveTo>
                  <a:pt x="7191743" y="8608979"/>
                </a:moveTo>
                <a:lnTo>
                  <a:pt x="7134593" y="8608979"/>
                </a:lnTo>
                <a:lnTo>
                  <a:pt x="7134593" y="8589893"/>
                </a:lnTo>
                <a:lnTo>
                  <a:pt x="7191743" y="8589893"/>
                </a:lnTo>
                <a:lnTo>
                  <a:pt x="7191743" y="8608979"/>
                </a:lnTo>
                <a:close/>
              </a:path>
              <a:path w="8792210" h="8609330">
                <a:moveTo>
                  <a:pt x="7115543" y="8608979"/>
                </a:moveTo>
                <a:lnTo>
                  <a:pt x="7058393" y="8608979"/>
                </a:lnTo>
                <a:lnTo>
                  <a:pt x="7058393" y="8589893"/>
                </a:lnTo>
                <a:lnTo>
                  <a:pt x="7115543" y="8589893"/>
                </a:lnTo>
                <a:lnTo>
                  <a:pt x="7115543" y="8608979"/>
                </a:lnTo>
                <a:close/>
              </a:path>
              <a:path w="8792210" h="8609330">
                <a:moveTo>
                  <a:pt x="7039343" y="8608979"/>
                </a:moveTo>
                <a:lnTo>
                  <a:pt x="6982193" y="8608979"/>
                </a:lnTo>
                <a:lnTo>
                  <a:pt x="6982193" y="8589893"/>
                </a:lnTo>
                <a:lnTo>
                  <a:pt x="7039343" y="8589893"/>
                </a:lnTo>
                <a:lnTo>
                  <a:pt x="7039343" y="8608979"/>
                </a:lnTo>
                <a:close/>
              </a:path>
              <a:path w="8792210" h="8609330">
                <a:moveTo>
                  <a:pt x="6963143" y="8608979"/>
                </a:moveTo>
                <a:lnTo>
                  <a:pt x="6905993" y="8608979"/>
                </a:lnTo>
                <a:lnTo>
                  <a:pt x="6905993" y="8589893"/>
                </a:lnTo>
                <a:lnTo>
                  <a:pt x="6963143" y="8589893"/>
                </a:lnTo>
                <a:lnTo>
                  <a:pt x="6963143" y="8608979"/>
                </a:lnTo>
                <a:close/>
              </a:path>
              <a:path w="8792210" h="8609330">
                <a:moveTo>
                  <a:pt x="6886943" y="8608979"/>
                </a:moveTo>
                <a:lnTo>
                  <a:pt x="6829793" y="8608979"/>
                </a:lnTo>
                <a:lnTo>
                  <a:pt x="6829793" y="8589893"/>
                </a:lnTo>
                <a:lnTo>
                  <a:pt x="6886943" y="8589893"/>
                </a:lnTo>
                <a:lnTo>
                  <a:pt x="6886943" y="8608979"/>
                </a:lnTo>
                <a:close/>
              </a:path>
              <a:path w="8792210" h="8609330">
                <a:moveTo>
                  <a:pt x="6810743" y="8608979"/>
                </a:moveTo>
                <a:lnTo>
                  <a:pt x="6753593" y="8608979"/>
                </a:lnTo>
                <a:lnTo>
                  <a:pt x="6753593" y="8589893"/>
                </a:lnTo>
                <a:lnTo>
                  <a:pt x="6810743" y="8589893"/>
                </a:lnTo>
                <a:lnTo>
                  <a:pt x="6810743" y="8608979"/>
                </a:lnTo>
                <a:close/>
              </a:path>
              <a:path w="8792210" h="8609330">
                <a:moveTo>
                  <a:pt x="6734543" y="8608979"/>
                </a:moveTo>
                <a:lnTo>
                  <a:pt x="6677393" y="8608979"/>
                </a:lnTo>
                <a:lnTo>
                  <a:pt x="6677393" y="8589893"/>
                </a:lnTo>
                <a:lnTo>
                  <a:pt x="6734543" y="8589893"/>
                </a:lnTo>
                <a:lnTo>
                  <a:pt x="6734543" y="8608979"/>
                </a:lnTo>
                <a:close/>
              </a:path>
              <a:path w="8792210" h="8609330">
                <a:moveTo>
                  <a:pt x="6658343" y="8608979"/>
                </a:moveTo>
                <a:lnTo>
                  <a:pt x="6601193" y="8608979"/>
                </a:lnTo>
                <a:lnTo>
                  <a:pt x="6601193" y="8589893"/>
                </a:lnTo>
                <a:lnTo>
                  <a:pt x="6658343" y="8589893"/>
                </a:lnTo>
                <a:lnTo>
                  <a:pt x="6658343" y="8608979"/>
                </a:lnTo>
                <a:close/>
              </a:path>
              <a:path w="8792210" h="8609330">
                <a:moveTo>
                  <a:pt x="6582143" y="8608979"/>
                </a:moveTo>
                <a:lnTo>
                  <a:pt x="6524993" y="8608979"/>
                </a:lnTo>
                <a:lnTo>
                  <a:pt x="6524993" y="8589893"/>
                </a:lnTo>
                <a:lnTo>
                  <a:pt x="6582143" y="8589893"/>
                </a:lnTo>
                <a:lnTo>
                  <a:pt x="6582143" y="8608979"/>
                </a:lnTo>
                <a:close/>
              </a:path>
              <a:path w="8792210" h="8609330">
                <a:moveTo>
                  <a:pt x="6505944" y="8608979"/>
                </a:moveTo>
                <a:lnTo>
                  <a:pt x="6448794" y="8608979"/>
                </a:lnTo>
                <a:lnTo>
                  <a:pt x="6448794" y="8589893"/>
                </a:lnTo>
                <a:lnTo>
                  <a:pt x="6505944" y="8589893"/>
                </a:lnTo>
                <a:lnTo>
                  <a:pt x="6505944" y="8608979"/>
                </a:lnTo>
                <a:close/>
              </a:path>
              <a:path w="8792210" h="8609330">
                <a:moveTo>
                  <a:pt x="6429744" y="8608979"/>
                </a:moveTo>
                <a:lnTo>
                  <a:pt x="6372594" y="8608979"/>
                </a:lnTo>
                <a:lnTo>
                  <a:pt x="6372594" y="8589893"/>
                </a:lnTo>
                <a:lnTo>
                  <a:pt x="6429744" y="8589893"/>
                </a:lnTo>
                <a:lnTo>
                  <a:pt x="6429744" y="8608979"/>
                </a:lnTo>
                <a:close/>
              </a:path>
              <a:path w="8792210" h="8609330">
                <a:moveTo>
                  <a:pt x="6353544" y="8608979"/>
                </a:moveTo>
                <a:lnTo>
                  <a:pt x="6296394" y="8608979"/>
                </a:lnTo>
                <a:lnTo>
                  <a:pt x="6296394" y="8589893"/>
                </a:lnTo>
                <a:lnTo>
                  <a:pt x="6353544" y="8589893"/>
                </a:lnTo>
                <a:lnTo>
                  <a:pt x="6353544" y="8608979"/>
                </a:lnTo>
                <a:close/>
              </a:path>
              <a:path w="8792210" h="8609330">
                <a:moveTo>
                  <a:pt x="6277344" y="8608979"/>
                </a:moveTo>
                <a:lnTo>
                  <a:pt x="6220194" y="8608979"/>
                </a:lnTo>
                <a:lnTo>
                  <a:pt x="6220194" y="8589893"/>
                </a:lnTo>
                <a:lnTo>
                  <a:pt x="6277344" y="8589893"/>
                </a:lnTo>
                <a:lnTo>
                  <a:pt x="6277344" y="8608979"/>
                </a:lnTo>
                <a:close/>
              </a:path>
              <a:path w="8792210" h="8609330">
                <a:moveTo>
                  <a:pt x="6201144" y="8608979"/>
                </a:moveTo>
                <a:lnTo>
                  <a:pt x="6143994" y="8608979"/>
                </a:lnTo>
                <a:lnTo>
                  <a:pt x="6143994" y="8589893"/>
                </a:lnTo>
                <a:lnTo>
                  <a:pt x="6201144" y="8589893"/>
                </a:lnTo>
                <a:lnTo>
                  <a:pt x="6201144" y="8608979"/>
                </a:lnTo>
                <a:close/>
              </a:path>
              <a:path w="8792210" h="8609330">
                <a:moveTo>
                  <a:pt x="6124944" y="8608979"/>
                </a:moveTo>
                <a:lnTo>
                  <a:pt x="6067794" y="8608979"/>
                </a:lnTo>
                <a:lnTo>
                  <a:pt x="6067794" y="8589893"/>
                </a:lnTo>
                <a:lnTo>
                  <a:pt x="6124944" y="8589893"/>
                </a:lnTo>
                <a:lnTo>
                  <a:pt x="6124944" y="8608979"/>
                </a:lnTo>
                <a:close/>
              </a:path>
              <a:path w="8792210" h="8609330">
                <a:moveTo>
                  <a:pt x="6048744" y="8608979"/>
                </a:moveTo>
                <a:lnTo>
                  <a:pt x="5991594" y="8608979"/>
                </a:lnTo>
                <a:lnTo>
                  <a:pt x="5991594" y="8589893"/>
                </a:lnTo>
                <a:lnTo>
                  <a:pt x="6048744" y="8589893"/>
                </a:lnTo>
                <a:lnTo>
                  <a:pt x="6048744" y="8608979"/>
                </a:lnTo>
                <a:close/>
              </a:path>
              <a:path w="8792210" h="8609330">
                <a:moveTo>
                  <a:pt x="5972544" y="8608979"/>
                </a:moveTo>
                <a:lnTo>
                  <a:pt x="5915394" y="8608979"/>
                </a:lnTo>
                <a:lnTo>
                  <a:pt x="5915394" y="8589893"/>
                </a:lnTo>
                <a:lnTo>
                  <a:pt x="5972544" y="8589893"/>
                </a:lnTo>
                <a:lnTo>
                  <a:pt x="5972544" y="8608979"/>
                </a:lnTo>
                <a:close/>
              </a:path>
              <a:path w="8792210" h="8609330">
                <a:moveTo>
                  <a:pt x="5896344" y="8608979"/>
                </a:moveTo>
                <a:lnTo>
                  <a:pt x="5839194" y="8608979"/>
                </a:lnTo>
                <a:lnTo>
                  <a:pt x="5839194" y="8589893"/>
                </a:lnTo>
                <a:lnTo>
                  <a:pt x="5896344" y="8589893"/>
                </a:lnTo>
                <a:lnTo>
                  <a:pt x="5896344" y="8608979"/>
                </a:lnTo>
                <a:close/>
              </a:path>
              <a:path w="8792210" h="8609330">
                <a:moveTo>
                  <a:pt x="5820144" y="8608979"/>
                </a:moveTo>
                <a:lnTo>
                  <a:pt x="5762994" y="8608979"/>
                </a:lnTo>
                <a:lnTo>
                  <a:pt x="5762994" y="8589893"/>
                </a:lnTo>
                <a:lnTo>
                  <a:pt x="5820144" y="8589893"/>
                </a:lnTo>
                <a:lnTo>
                  <a:pt x="5820144" y="8608979"/>
                </a:lnTo>
                <a:close/>
              </a:path>
              <a:path w="8792210" h="8609330">
                <a:moveTo>
                  <a:pt x="5743944" y="8608979"/>
                </a:moveTo>
                <a:lnTo>
                  <a:pt x="5686794" y="8608979"/>
                </a:lnTo>
                <a:lnTo>
                  <a:pt x="5686794" y="8589893"/>
                </a:lnTo>
                <a:lnTo>
                  <a:pt x="5743944" y="8589893"/>
                </a:lnTo>
                <a:lnTo>
                  <a:pt x="5743944" y="8608979"/>
                </a:lnTo>
                <a:close/>
              </a:path>
              <a:path w="8792210" h="8609330">
                <a:moveTo>
                  <a:pt x="5667744" y="8608979"/>
                </a:moveTo>
                <a:lnTo>
                  <a:pt x="5610594" y="8608979"/>
                </a:lnTo>
                <a:lnTo>
                  <a:pt x="5610594" y="8589893"/>
                </a:lnTo>
                <a:lnTo>
                  <a:pt x="5667744" y="8589893"/>
                </a:lnTo>
                <a:lnTo>
                  <a:pt x="5667744" y="8608979"/>
                </a:lnTo>
                <a:close/>
              </a:path>
              <a:path w="8792210" h="8609330">
                <a:moveTo>
                  <a:pt x="5591544" y="8608979"/>
                </a:moveTo>
                <a:lnTo>
                  <a:pt x="5534394" y="8608979"/>
                </a:lnTo>
                <a:lnTo>
                  <a:pt x="5534394" y="8589893"/>
                </a:lnTo>
                <a:lnTo>
                  <a:pt x="5591544" y="8589893"/>
                </a:lnTo>
                <a:lnTo>
                  <a:pt x="5591544" y="8608979"/>
                </a:lnTo>
                <a:close/>
              </a:path>
              <a:path w="8792210" h="8609330">
                <a:moveTo>
                  <a:pt x="5515344" y="8608979"/>
                </a:moveTo>
                <a:lnTo>
                  <a:pt x="5458194" y="8608979"/>
                </a:lnTo>
                <a:lnTo>
                  <a:pt x="5458194" y="8589893"/>
                </a:lnTo>
                <a:lnTo>
                  <a:pt x="5515344" y="8589893"/>
                </a:lnTo>
                <a:lnTo>
                  <a:pt x="5515344" y="8608979"/>
                </a:lnTo>
                <a:close/>
              </a:path>
              <a:path w="8792210" h="8609330">
                <a:moveTo>
                  <a:pt x="5439144" y="8608979"/>
                </a:moveTo>
                <a:lnTo>
                  <a:pt x="5381994" y="8608979"/>
                </a:lnTo>
                <a:lnTo>
                  <a:pt x="5381994" y="8589893"/>
                </a:lnTo>
                <a:lnTo>
                  <a:pt x="5439144" y="8589893"/>
                </a:lnTo>
                <a:lnTo>
                  <a:pt x="5439144" y="8608979"/>
                </a:lnTo>
                <a:close/>
              </a:path>
              <a:path w="8792210" h="8609330">
                <a:moveTo>
                  <a:pt x="5362944" y="8608979"/>
                </a:moveTo>
                <a:lnTo>
                  <a:pt x="5305794" y="8608979"/>
                </a:lnTo>
                <a:lnTo>
                  <a:pt x="5305794" y="8589893"/>
                </a:lnTo>
                <a:lnTo>
                  <a:pt x="5362944" y="8589893"/>
                </a:lnTo>
                <a:lnTo>
                  <a:pt x="5362944" y="8608979"/>
                </a:lnTo>
                <a:close/>
              </a:path>
              <a:path w="8792210" h="8609330">
                <a:moveTo>
                  <a:pt x="5286744" y="8608979"/>
                </a:moveTo>
                <a:lnTo>
                  <a:pt x="5229594" y="8608979"/>
                </a:lnTo>
                <a:lnTo>
                  <a:pt x="5229594" y="8589893"/>
                </a:lnTo>
                <a:lnTo>
                  <a:pt x="5286744" y="8589893"/>
                </a:lnTo>
                <a:lnTo>
                  <a:pt x="5286744" y="8608979"/>
                </a:lnTo>
                <a:close/>
              </a:path>
              <a:path w="8792210" h="8609330">
                <a:moveTo>
                  <a:pt x="5210544" y="8608979"/>
                </a:moveTo>
                <a:lnTo>
                  <a:pt x="5153394" y="8608979"/>
                </a:lnTo>
                <a:lnTo>
                  <a:pt x="5153394" y="8589893"/>
                </a:lnTo>
                <a:lnTo>
                  <a:pt x="5210544" y="8589893"/>
                </a:lnTo>
                <a:lnTo>
                  <a:pt x="5210544" y="8608979"/>
                </a:lnTo>
                <a:close/>
              </a:path>
              <a:path w="8792210" h="8609330">
                <a:moveTo>
                  <a:pt x="5134344" y="8608979"/>
                </a:moveTo>
                <a:lnTo>
                  <a:pt x="5077194" y="8608979"/>
                </a:lnTo>
                <a:lnTo>
                  <a:pt x="5077194" y="8589893"/>
                </a:lnTo>
                <a:lnTo>
                  <a:pt x="5134344" y="8589893"/>
                </a:lnTo>
                <a:lnTo>
                  <a:pt x="5134344" y="8608979"/>
                </a:lnTo>
                <a:close/>
              </a:path>
              <a:path w="8792210" h="8609330">
                <a:moveTo>
                  <a:pt x="5058144" y="8608979"/>
                </a:moveTo>
                <a:lnTo>
                  <a:pt x="5000994" y="8608979"/>
                </a:lnTo>
                <a:lnTo>
                  <a:pt x="5000994" y="8589893"/>
                </a:lnTo>
                <a:lnTo>
                  <a:pt x="5058144" y="8589893"/>
                </a:lnTo>
                <a:lnTo>
                  <a:pt x="5058144" y="8608979"/>
                </a:lnTo>
                <a:close/>
              </a:path>
              <a:path w="8792210" h="8609330">
                <a:moveTo>
                  <a:pt x="4981944" y="8608979"/>
                </a:moveTo>
                <a:lnTo>
                  <a:pt x="4924794" y="8608979"/>
                </a:lnTo>
                <a:lnTo>
                  <a:pt x="4924794" y="8589893"/>
                </a:lnTo>
                <a:lnTo>
                  <a:pt x="4981944" y="8589893"/>
                </a:lnTo>
                <a:lnTo>
                  <a:pt x="4981944" y="8608979"/>
                </a:lnTo>
                <a:close/>
              </a:path>
              <a:path w="8792210" h="8609330">
                <a:moveTo>
                  <a:pt x="4905744" y="8608979"/>
                </a:moveTo>
                <a:lnTo>
                  <a:pt x="4848593" y="8608979"/>
                </a:lnTo>
                <a:lnTo>
                  <a:pt x="4848593" y="8589893"/>
                </a:lnTo>
                <a:lnTo>
                  <a:pt x="4905744" y="8589893"/>
                </a:lnTo>
                <a:lnTo>
                  <a:pt x="4905744" y="8608979"/>
                </a:lnTo>
                <a:close/>
              </a:path>
              <a:path w="8792210" h="8609330">
                <a:moveTo>
                  <a:pt x="4829543" y="8608979"/>
                </a:moveTo>
                <a:lnTo>
                  <a:pt x="4772393" y="8608979"/>
                </a:lnTo>
                <a:lnTo>
                  <a:pt x="4772393" y="8589893"/>
                </a:lnTo>
                <a:lnTo>
                  <a:pt x="4829543" y="8589893"/>
                </a:lnTo>
                <a:lnTo>
                  <a:pt x="4829543" y="8608979"/>
                </a:lnTo>
                <a:close/>
              </a:path>
              <a:path w="8792210" h="8609330">
                <a:moveTo>
                  <a:pt x="4753343" y="8608979"/>
                </a:moveTo>
                <a:lnTo>
                  <a:pt x="4696193" y="8608979"/>
                </a:lnTo>
                <a:lnTo>
                  <a:pt x="4696193" y="8589893"/>
                </a:lnTo>
                <a:lnTo>
                  <a:pt x="4753343" y="8589893"/>
                </a:lnTo>
                <a:lnTo>
                  <a:pt x="4753343" y="8608979"/>
                </a:lnTo>
                <a:close/>
              </a:path>
              <a:path w="8792210" h="8609330">
                <a:moveTo>
                  <a:pt x="4677143" y="8608979"/>
                </a:moveTo>
                <a:lnTo>
                  <a:pt x="4619993" y="8608979"/>
                </a:lnTo>
                <a:lnTo>
                  <a:pt x="4619993" y="8589893"/>
                </a:lnTo>
                <a:lnTo>
                  <a:pt x="4677143" y="8589893"/>
                </a:lnTo>
                <a:lnTo>
                  <a:pt x="4677143" y="8608979"/>
                </a:lnTo>
                <a:close/>
              </a:path>
              <a:path w="8792210" h="8609330">
                <a:moveTo>
                  <a:pt x="4600943" y="8608979"/>
                </a:moveTo>
                <a:lnTo>
                  <a:pt x="4543793" y="8608979"/>
                </a:lnTo>
                <a:lnTo>
                  <a:pt x="4543793" y="8589893"/>
                </a:lnTo>
                <a:lnTo>
                  <a:pt x="4600943" y="8589893"/>
                </a:lnTo>
                <a:lnTo>
                  <a:pt x="4600943" y="8608979"/>
                </a:lnTo>
                <a:close/>
              </a:path>
              <a:path w="8792210" h="8609330">
                <a:moveTo>
                  <a:pt x="4524743" y="8608979"/>
                </a:moveTo>
                <a:lnTo>
                  <a:pt x="4467593" y="8608979"/>
                </a:lnTo>
                <a:lnTo>
                  <a:pt x="4467593" y="8589893"/>
                </a:lnTo>
                <a:lnTo>
                  <a:pt x="4524743" y="8589893"/>
                </a:lnTo>
                <a:lnTo>
                  <a:pt x="4524743" y="8608979"/>
                </a:lnTo>
                <a:close/>
              </a:path>
              <a:path w="8792210" h="8609330">
                <a:moveTo>
                  <a:pt x="4448543" y="8608979"/>
                </a:moveTo>
                <a:lnTo>
                  <a:pt x="4391394" y="8608979"/>
                </a:lnTo>
                <a:lnTo>
                  <a:pt x="4391394" y="8589893"/>
                </a:lnTo>
                <a:lnTo>
                  <a:pt x="4448543" y="8589893"/>
                </a:lnTo>
                <a:lnTo>
                  <a:pt x="4448543" y="8608979"/>
                </a:lnTo>
                <a:close/>
              </a:path>
              <a:path w="8792210" h="8609330">
                <a:moveTo>
                  <a:pt x="4372344" y="8608979"/>
                </a:moveTo>
                <a:lnTo>
                  <a:pt x="4315193" y="8608979"/>
                </a:lnTo>
                <a:lnTo>
                  <a:pt x="4315193" y="8589893"/>
                </a:lnTo>
                <a:lnTo>
                  <a:pt x="4372344" y="8589893"/>
                </a:lnTo>
                <a:lnTo>
                  <a:pt x="4372344" y="8608979"/>
                </a:lnTo>
                <a:close/>
              </a:path>
              <a:path w="8792210" h="8609330">
                <a:moveTo>
                  <a:pt x="4296143" y="8608979"/>
                </a:moveTo>
                <a:lnTo>
                  <a:pt x="4238993" y="8608979"/>
                </a:lnTo>
                <a:lnTo>
                  <a:pt x="4238993" y="8589893"/>
                </a:lnTo>
                <a:lnTo>
                  <a:pt x="4296143" y="8589893"/>
                </a:lnTo>
                <a:lnTo>
                  <a:pt x="4296143" y="8608979"/>
                </a:lnTo>
                <a:close/>
              </a:path>
              <a:path w="8792210" h="8609330">
                <a:moveTo>
                  <a:pt x="4219943" y="8608979"/>
                </a:moveTo>
                <a:lnTo>
                  <a:pt x="4162793" y="8608979"/>
                </a:lnTo>
                <a:lnTo>
                  <a:pt x="4162793" y="8589893"/>
                </a:lnTo>
                <a:lnTo>
                  <a:pt x="4219943" y="8589893"/>
                </a:lnTo>
                <a:lnTo>
                  <a:pt x="4219943" y="8608979"/>
                </a:lnTo>
                <a:close/>
              </a:path>
              <a:path w="8792210" h="8609330">
                <a:moveTo>
                  <a:pt x="4143744" y="8608979"/>
                </a:moveTo>
                <a:lnTo>
                  <a:pt x="4086593" y="8608979"/>
                </a:lnTo>
                <a:lnTo>
                  <a:pt x="4086593" y="8589893"/>
                </a:lnTo>
                <a:lnTo>
                  <a:pt x="4143744" y="8589893"/>
                </a:lnTo>
                <a:lnTo>
                  <a:pt x="4143744" y="8608979"/>
                </a:lnTo>
                <a:close/>
              </a:path>
              <a:path w="8792210" h="8609330">
                <a:moveTo>
                  <a:pt x="4067543" y="8608979"/>
                </a:moveTo>
                <a:lnTo>
                  <a:pt x="4010393" y="8608979"/>
                </a:lnTo>
                <a:lnTo>
                  <a:pt x="4010393" y="8589893"/>
                </a:lnTo>
                <a:lnTo>
                  <a:pt x="4067543" y="8589893"/>
                </a:lnTo>
                <a:lnTo>
                  <a:pt x="4067543" y="8608979"/>
                </a:lnTo>
                <a:close/>
              </a:path>
              <a:path w="8792210" h="8609330">
                <a:moveTo>
                  <a:pt x="3991343" y="8608979"/>
                </a:moveTo>
                <a:lnTo>
                  <a:pt x="3934193" y="8608979"/>
                </a:lnTo>
                <a:lnTo>
                  <a:pt x="3934193" y="8589893"/>
                </a:lnTo>
                <a:lnTo>
                  <a:pt x="3991343" y="8589893"/>
                </a:lnTo>
                <a:lnTo>
                  <a:pt x="3991343" y="8608979"/>
                </a:lnTo>
                <a:close/>
              </a:path>
              <a:path w="8792210" h="8609330">
                <a:moveTo>
                  <a:pt x="3915144" y="8608979"/>
                </a:moveTo>
                <a:lnTo>
                  <a:pt x="3857993" y="8608979"/>
                </a:lnTo>
                <a:lnTo>
                  <a:pt x="3857993" y="8589893"/>
                </a:lnTo>
                <a:lnTo>
                  <a:pt x="3915144" y="8589893"/>
                </a:lnTo>
                <a:lnTo>
                  <a:pt x="3915144" y="8608979"/>
                </a:lnTo>
                <a:close/>
              </a:path>
              <a:path w="8792210" h="8609330">
                <a:moveTo>
                  <a:pt x="3838943" y="8608979"/>
                </a:moveTo>
                <a:lnTo>
                  <a:pt x="3781794" y="8608979"/>
                </a:lnTo>
                <a:lnTo>
                  <a:pt x="3781794" y="8589893"/>
                </a:lnTo>
                <a:lnTo>
                  <a:pt x="3838943" y="8589893"/>
                </a:lnTo>
                <a:lnTo>
                  <a:pt x="3838943" y="8608979"/>
                </a:lnTo>
                <a:close/>
              </a:path>
              <a:path w="8792210" h="8609330">
                <a:moveTo>
                  <a:pt x="3762744" y="8608979"/>
                </a:moveTo>
                <a:lnTo>
                  <a:pt x="3705593" y="8608979"/>
                </a:lnTo>
                <a:lnTo>
                  <a:pt x="3705593" y="8589893"/>
                </a:lnTo>
                <a:lnTo>
                  <a:pt x="3762744" y="8589893"/>
                </a:lnTo>
                <a:lnTo>
                  <a:pt x="3762744" y="8608979"/>
                </a:lnTo>
                <a:close/>
              </a:path>
              <a:path w="8792210" h="8609330">
                <a:moveTo>
                  <a:pt x="3686543" y="8608979"/>
                </a:moveTo>
                <a:lnTo>
                  <a:pt x="3629393" y="8608979"/>
                </a:lnTo>
                <a:lnTo>
                  <a:pt x="3629393" y="8589893"/>
                </a:lnTo>
                <a:lnTo>
                  <a:pt x="3686543" y="8589893"/>
                </a:lnTo>
                <a:lnTo>
                  <a:pt x="3686543" y="8608979"/>
                </a:lnTo>
                <a:close/>
              </a:path>
              <a:path w="8792210" h="8609330">
                <a:moveTo>
                  <a:pt x="3610343" y="8608979"/>
                </a:moveTo>
                <a:lnTo>
                  <a:pt x="3553194" y="8608979"/>
                </a:lnTo>
                <a:lnTo>
                  <a:pt x="3553194" y="8589893"/>
                </a:lnTo>
                <a:lnTo>
                  <a:pt x="3610343" y="8589893"/>
                </a:lnTo>
                <a:lnTo>
                  <a:pt x="3610343" y="8608979"/>
                </a:lnTo>
                <a:close/>
              </a:path>
              <a:path w="8792210" h="8609330">
                <a:moveTo>
                  <a:pt x="3534144" y="8608979"/>
                </a:moveTo>
                <a:lnTo>
                  <a:pt x="3476993" y="8608979"/>
                </a:lnTo>
                <a:lnTo>
                  <a:pt x="3476993" y="8589893"/>
                </a:lnTo>
                <a:lnTo>
                  <a:pt x="3534144" y="8589893"/>
                </a:lnTo>
                <a:lnTo>
                  <a:pt x="3534144" y="8608979"/>
                </a:lnTo>
                <a:close/>
              </a:path>
              <a:path w="8792210" h="8609330">
                <a:moveTo>
                  <a:pt x="3457943" y="8608979"/>
                </a:moveTo>
                <a:lnTo>
                  <a:pt x="3400794" y="8608979"/>
                </a:lnTo>
                <a:lnTo>
                  <a:pt x="3400794" y="8589893"/>
                </a:lnTo>
                <a:lnTo>
                  <a:pt x="3457943" y="8589893"/>
                </a:lnTo>
                <a:lnTo>
                  <a:pt x="3457943" y="8608979"/>
                </a:lnTo>
                <a:close/>
              </a:path>
              <a:path w="8792210" h="8609330">
                <a:moveTo>
                  <a:pt x="3381743" y="8608979"/>
                </a:moveTo>
                <a:lnTo>
                  <a:pt x="3324594" y="8608979"/>
                </a:lnTo>
                <a:lnTo>
                  <a:pt x="3324594" y="8589893"/>
                </a:lnTo>
                <a:lnTo>
                  <a:pt x="3381743" y="8589893"/>
                </a:lnTo>
                <a:lnTo>
                  <a:pt x="3381743" y="8608979"/>
                </a:lnTo>
                <a:close/>
              </a:path>
              <a:path w="8792210" h="8609330">
                <a:moveTo>
                  <a:pt x="3305544" y="8608979"/>
                </a:moveTo>
                <a:lnTo>
                  <a:pt x="3248393" y="8608979"/>
                </a:lnTo>
                <a:lnTo>
                  <a:pt x="3248393" y="8589893"/>
                </a:lnTo>
                <a:lnTo>
                  <a:pt x="3305544" y="8589893"/>
                </a:lnTo>
                <a:lnTo>
                  <a:pt x="3305544" y="8608979"/>
                </a:lnTo>
                <a:close/>
              </a:path>
              <a:path w="8792210" h="8609330">
                <a:moveTo>
                  <a:pt x="3229343" y="8608979"/>
                </a:moveTo>
                <a:lnTo>
                  <a:pt x="3172194" y="8608979"/>
                </a:lnTo>
                <a:lnTo>
                  <a:pt x="3172194" y="8589893"/>
                </a:lnTo>
                <a:lnTo>
                  <a:pt x="3229343" y="8589893"/>
                </a:lnTo>
                <a:lnTo>
                  <a:pt x="3229343" y="8608979"/>
                </a:lnTo>
                <a:close/>
              </a:path>
              <a:path w="8792210" h="8609330">
                <a:moveTo>
                  <a:pt x="3153143" y="8608979"/>
                </a:moveTo>
                <a:lnTo>
                  <a:pt x="3095993" y="8608979"/>
                </a:lnTo>
                <a:lnTo>
                  <a:pt x="3095993" y="8589893"/>
                </a:lnTo>
                <a:lnTo>
                  <a:pt x="3153143" y="8589893"/>
                </a:lnTo>
                <a:lnTo>
                  <a:pt x="3153143" y="8608979"/>
                </a:lnTo>
                <a:close/>
              </a:path>
              <a:path w="8792210" h="8609330">
                <a:moveTo>
                  <a:pt x="3076944" y="8608979"/>
                </a:moveTo>
                <a:lnTo>
                  <a:pt x="3019793" y="8608979"/>
                </a:lnTo>
                <a:lnTo>
                  <a:pt x="3019793" y="8589893"/>
                </a:lnTo>
                <a:lnTo>
                  <a:pt x="3076944" y="8589893"/>
                </a:lnTo>
                <a:lnTo>
                  <a:pt x="3076944" y="8608979"/>
                </a:lnTo>
                <a:close/>
              </a:path>
              <a:path w="8792210" h="8609330">
                <a:moveTo>
                  <a:pt x="3000743" y="8608979"/>
                </a:moveTo>
                <a:lnTo>
                  <a:pt x="2943594" y="8608979"/>
                </a:lnTo>
                <a:lnTo>
                  <a:pt x="2943594" y="8589893"/>
                </a:lnTo>
                <a:lnTo>
                  <a:pt x="3000743" y="8589893"/>
                </a:lnTo>
                <a:lnTo>
                  <a:pt x="3000743" y="8608979"/>
                </a:lnTo>
                <a:close/>
              </a:path>
              <a:path w="8792210" h="8609330">
                <a:moveTo>
                  <a:pt x="2924543" y="8608979"/>
                </a:moveTo>
                <a:lnTo>
                  <a:pt x="2867393" y="8608979"/>
                </a:lnTo>
                <a:lnTo>
                  <a:pt x="2867393" y="8589893"/>
                </a:lnTo>
                <a:lnTo>
                  <a:pt x="2924543" y="8589893"/>
                </a:lnTo>
                <a:lnTo>
                  <a:pt x="2924543" y="8608979"/>
                </a:lnTo>
                <a:close/>
              </a:path>
              <a:path w="8792210" h="8609330">
                <a:moveTo>
                  <a:pt x="2848344" y="8608979"/>
                </a:moveTo>
                <a:lnTo>
                  <a:pt x="2791193" y="8608979"/>
                </a:lnTo>
                <a:lnTo>
                  <a:pt x="2791193" y="8589893"/>
                </a:lnTo>
                <a:lnTo>
                  <a:pt x="2848344" y="8589893"/>
                </a:lnTo>
                <a:lnTo>
                  <a:pt x="2848344" y="8608979"/>
                </a:lnTo>
                <a:close/>
              </a:path>
              <a:path w="8792210" h="8609330">
                <a:moveTo>
                  <a:pt x="2772143" y="8608979"/>
                </a:moveTo>
                <a:lnTo>
                  <a:pt x="2714994" y="8608979"/>
                </a:lnTo>
                <a:lnTo>
                  <a:pt x="2714994" y="8589893"/>
                </a:lnTo>
                <a:lnTo>
                  <a:pt x="2772143" y="8589893"/>
                </a:lnTo>
                <a:lnTo>
                  <a:pt x="2772143" y="8608979"/>
                </a:lnTo>
                <a:close/>
              </a:path>
              <a:path w="8792210" h="8609330">
                <a:moveTo>
                  <a:pt x="2695943" y="8608979"/>
                </a:moveTo>
                <a:lnTo>
                  <a:pt x="2638793" y="8608979"/>
                </a:lnTo>
                <a:lnTo>
                  <a:pt x="2638793" y="8589893"/>
                </a:lnTo>
                <a:lnTo>
                  <a:pt x="2695943" y="8589893"/>
                </a:lnTo>
                <a:lnTo>
                  <a:pt x="2695943" y="8608979"/>
                </a:lnTo>
                <a:close/>
              </a:path>
              <a:path w="8792210" h="8609330">
                <a:moveTo>
                  <a:pt x="2619743" y="8608979"/>
                </a:moveTo>
                <a:lnTo>
                  <a:pt x="2562593" y="8608979"/>
                </a:lnTo>
                <a:lnTo>
                  <a:pt x="2562593" y="8589893"/>
                </a:lnTo>
                <a:lnTo>
                  <a:pt x="2619743" y="8589893"/>
                </a:lnTo>
                <a:lnTo>
                  <a:pt x="2619743" y="8608979"/>
                </a:lnTo>
                <a:close/>
              </a:path>
              <a:path w="8792210" h="8609330">
                <a:moveTo>
                  <a:pt x="2543543" y="8608979"/>
                </a:moveTo>
                <a:lnTo>
                  <a:pt x="2486394" y="8608979"/>
                </a:lnTo>
                <a:lnTo>
                  <a:pt x="2486394" y="8589893"/>
                </a:lnTo>
                <a:lnTo>
                  <a:pt x="2543543" y="8589893"/>
                </a:lnTo>
                <a:lnTo>
                  <a:pt x="2543543" y="8608979"/>
                </a:lnTo>
                <a:close/>
              </a:path>
              <a:path w="8792210" h="8609330">
                <a:moveTo>
                  <a:pt x="2467344" y="8608979"/>
                </a:moveTo>
                <a:lnTo>
                  <a:pt x="2410193" y="8608979"/>
                </a:lnTo>
                <a:lnTo>
                  <a:pt x="2410193" y="8589893"/>
                </a:lnTo>
                <a:lnTo>
                  <a:pt x="2467344" y="8589893"/>
                </a:lnTo>
                <a:lnTo>
                  <a:pt x="2467344" y="8608979"/>
                </a:lnTo>
                <a:close/>
              </a:path>
              <a:path w="8792210" h="8609330">
                <a:moveTo>
                  <a:pt x="2391143" y="8608979"/>
                </a:moveTo>
                <a:lnTo>
                  <a:pt x="2333993" y="8608979"/>
                </a:lnTo>
                <a:lnTo>
                  <a:pt x="2333993" y="8589893"/>
                </a:lnTo>
                <a:lnTo>
                  <a:pt x="2391143" y="8589893"/>
                </a:lnTo>
                <a:lnTo>
                  <a:pt x="2391143" y="8608979"/>
                </a:lnTo>
                <a:close/>
              </a:path>
              <a:path w="8792210" h="8609330">
                <a:moveTo>
                  <a:pt x="2314943" y="8608979"/>
                </a:moveTo>
                <a:lnTo>
                  <a:pt x="2257793" y="8608979"/>
                </a:lnTo>
                <a:lnTo>
                  <a:pt x="2257793" y="8589893"/>
                </a:lnTo>
                <a:lnTo>
                  <a:pt x="2314943" y="8589893"/>
                </a:lnTo>
                <a:lnTo>
                  <a:pt x="2314943" y="8608979"/>
                </a:lnTo>
                <a:close/>
              </a:path>
              <a:path w="8792210" h="8609330">
                <a:moveTo>
                  <a:pt x="2238744" y="8608979"/>
                </a:moveTo>
                <a:lnTo>
                  <a:pt x="2181593" y="8608979"/>
                </a:lnTo>
                <a:lnTo>
                  <a:pt x="2181593" y="8589893"/>
                </a:lnTo>
                <a:lnTo>
                  <a:pt x="2238744" y="8589893"/>
                </a:lnTo>
                <a:lnTo>
                  <a:pt x="2238744" y="8608979"/>
                </a:lnTo>
                <a:close/>
              </a:path>
              <a:path w="8792210" h="8609330">
                <a:moveTo>
                  <a:pt x="2162543" y="8608979"/>
                </a:moveTo>
                <a:lnTo>
                  <a:pt x="2105393" y="8608979"/>
                </a:lnTo>
                <a:lnTo>
                  <a:pt x="2105393" y="8589893"/>
                </a:lnTo>
                <a:lnTo>
                  <a:pt x="2162543" y="8589893"/>
                </a:lnTo>
                <a:lnTo>
                  <a:pt x="2162543" y="8608979"/>
                </a:lnTo>
                <a:close/>
              </a:path>
              <a:path w="8792210" h="8609330">
                <a:moveTo>
                  <a:pt x="2086343" y="8608979"/>
                </a:moveTo>
                <a:lnTo>
                  <a:pt x="2029193" y="8608979"/>
                </a:lnTo>
                <a:lnTo>
                  <a:pt x="2029193" y="8589893"/>
                </a:lnTo>
                <a:lnTo>
                  <a:pt x="2086343" y="8589893"/>
                </a:lnTo>
                <a:lnTo>
                  <a:pt x="2086343" y="8608979"/>
                </a:lnTo>
                <a:close/>
              </a:path>
              <a:path w="8792210" h="8609330">
                <a:moveTo>
                  <a:pt x="2010144" y="8608979"/>
                </a:moveTo>
                <a:lnTo>
                  <a:pt x="1952993" y="8608979"/>
                </a:lnTo>
                <a:lnTo>
                  <a:pt x="1952993" y="8589893"/>
                </a:lnTo>
                <a:lnTo>
                  <a:pt x="2010144" y="8589893"/>
                </a:lnTo>
                <a:lnTo>
                  <a:pt x="2010144" y="8608979"/>
                </a:lnTo>
                <a:close/>
              </a:path>
              <a:path w="8792210" h="8609330">
                <a:moveTo>
                  <a:pt x="1933943" y="8608979"/>
                </a:moveTo>
                <a:lnTo>
                  <a:pt x="1876793" y="8608979"/>
                </a:lnTo>
                <a:lnTo>
                  <a:pt x="1876793" y="8589893"/>
                </a:lnTo>
                <a:lnTo>
                  <a:pt x="1933943" y="8589893"/>
                </a:lnTo>
                <a:lnTo>
                  <a:pt x="1933943" y="8608979"/>
                </a:lnTo>
                <a:close/>
              </a:path>
              <a:path w="8792210" h="8609330">
                <a:moveTo>
                  <a:pt x="1857743" y="8608979"/>
                </a:moveTo>
                <a:lnTo>
                  <a:pt x="1800593" y="8608979"/>
                </a:lnTo>
                <a:lnTo>
                  <a:pt x="1800593" y="8589893"/>
                </a:lnTo>
                <a:lnTo>
                  <a:pt x="1857743" y="8589893"/>
                </a:lnTo>
                <a:lnTo>
                  <a:pt x="1857743" y="8608979"/>
                </a:lnTo>
                <a:close/>
              </a:path>
              <a:path w="8792210" h="8609330">
                <a:moveTo>
                  <a:pt x="1781544" y="8608979"/>
                </a:moveTo>
                <a:lnTo>
                  <a:pt x="1724393" y="8608979"/>
                </a:lnTo>
                <a:lnTo>
                  <a:pt x="1724393" y="8589893"/>
                </a:lnTo>
                <a:lnTo>
                  <a:pt x="1781544" y="8589893"/>
                </a:lnTo>
                <a:lnTo>
                  <a:pt x="1781544" y="8608979"/>
                </a:lnTo>
                <a:close/>
              </a:path>
              <a:path w="8792210" h="8609330">
                <a:moveTo>
                  <a:pt x="1705343" y="8608979"/>
                </a:moveTo>
                <a:lnTo>
                  <a:pt x="1648194" y="8608979"/>
                </a:lnTo>
                <a:lnTo>
                  <a:pt x="1648194" y="8589893"/>
                </a:lnTo>
                <a:lnTo>
                  <a:pt x="1705343" y="8589893"/>
                </a:lnTo>
                <a:lnTo>
                  <a:pt x="1705343" y="8608979"/>
                </a:lnTo>
                <a:close/>
              </a:path>
              <a:path w="8792210" h="8609330">
                <a:moveTo>
                  <a:pt x="1629143" y="8608979"/>
                </a:moveTo>
                <a:lnTo>
                  <a:pt x="1571993" y="8608979"/>
                </a:lnTo>
                <a:lnTo>
                  <a:pt x="1571993" y="8589893"/>
                </a:lnTo>
                <a:lnTo>
                  <a:pt x="1629143" y="8589893"/>
                </a:lnTo>
                <a:lnTo>
                  <a:pt x="1629143" y="8608979"/>
                </a:lnTo>
                <a:close/>
              </a:path>
              <a:path w="8792210" h="8609330">
                <a:moveTo>
                  <a:pt x="1552943" y="8608979"/>
                </a:moveTo>
                <a:lnTo>
                  <a:pt x="1495793" y="8608979"/>
                </a:lnTo>
                <a:lnTo>
                  <a:pt x="1495793" y="8589893"/>
                </a:lnTo>
                <a:lnTo>
                  <a:pt x="1552943" y="8589893"/>
                </a:lnTo>
                <a:lnTo>
                  <a:pt x="1552943" y="8608979"/>
                </a:lnTo>
                <a:close/>
              </a:path>
              <a:path w="8792210" h="8609330">
                <a:moveTo>
                  <a:pt x="1476743" y="8608979"/>
                </a:moveTo>
                <a:lnTo>
                  <a:pt x="1419594" y="8608979"/>
                </a:lnTo>
                <a:lnTo>
                  <a:pt x="1419594" y="8589893"/>
                </a:lnTo>
                <a:lnTo>
                  <a:pt x="1476743" y="8589893"/>
                </a:lnTo>
                <a:lnTo>
                  <a:pt x="1476743" y="8608979"/>
                </a:lnTo>
                <a:close/>
              </a:path>
              <a:path w="8792210" h="8609330">
                <a:moveTo>
                  <a:pt x="1400543" y="8608979"/>
                </a:moveTo>
                <a:lnTo>
                  <a:pt x="1343393" y="8608979"/>
                </a:lnTo>
                <a:lnTo>
                  <a:pt x="1343393" y="8589893"/>
                </a:lnTo>
                <a:lnTo>
                  <a:pt x="1400543" y="8589893"/>
                </a:lnTo>
                <a:lnTo>
                  <a:pt x="1400543" y="8608979"/>
                </a:lnTo>
                <a:close/>
              </a:path>
              <a:path w="8792210" h="8609330">
                <a:moveTo>
                  <a:pt x="1324343" y="8608979"/>
                </a:moveTo>
                <a:lnTo>
                  <a:pt x="1267193" y="8608979"/>
                </a:lnTo>
                <a:lnTo>
                  <a:pt x="1267193" y="8589893"/>
                </a:lnTo>
                <a:lnTo>
                  <a:pt x="1324343" y="8589893"/>
                </a:lnTo>
                <a:lnTo>
                  <a:pt x="1324343" y="8608979"/>
                </a:lnTo>
                <a:close/>
              </a:path>
              <a:path w="8792210" h="8609330">
                <a:moveTo>
                  <a:pt x="1248143" y="8608979"/>
                </a:moveTo>
                <a:lnTo>
                  <a:pt x="1190993" y="8608979"/>
                </a:lnTo>
                <a:lnTo>
                  <a:pt x="1190993" y="8589893"/>
                </a:lnTo>
                <a:lnTo>
                  <a:pt x="1248143" y="8589893"/>
                </a:lnTo>
                <a:lnTo>
                  <a:pt x="1248143" y="8608979"/>
                </a:lnTo>
                <a:close/>
              </a:path>
              <a:path w="8792210" h="8609330">
                <a:moveTo>
                  <a:pt x="1171943" y="8608979"/>
                </a:moveTo>
                <a:lnTo>
                  <a:pt x="1114793" y="8608979"/>
                </a:lnTo>
                <a:lnTo>
                  <a:pt x="1114793" y="8589893"/>
                </a:lnTo>
                <a:lnTo>
                  <a:pt x="1171943" y="8589893"/>
                </a:lnTo>
                <a:lnTo>
                  <a:pt x="1171943" y="8608979"/>
                </a:lnTo>
                <a:close/>
              </a:path>
              <a:path w="8792210" h="8609330">
                <a:moveTo>
                  <a:pt x="1095743" y="8608979"/>
                </a:moveTo>
                <a:lnTo>
                  <a:pt x="1038593" y="8608979"/>
                </a:lnTo>
                <a:lnTo>
                  <a:pt x="1038593" y="8589893"/>
                </a:lnTo>
                <a:lnTo>
                  <a:pt x="1095743" y="8589893"/>
                </a:lnTo>
                <a:lnTo>
                  <a:pt x="1095743" y="8608979"/>
                </a:lnTo>
                <a:close/>
              </a:path>
              <a:path w="8792210" h="8609330">
                <a:moveTo>
                  <a:pt x="1019543" y="8608979"/>
                </a:moveTo>
                <a:lnTo>
                  <a:pt x="962393" y="8608979"/>
                </a:lnTo>
                <a:lnTo>
                  <a:pt x="962393" y="8589893"/>
                </a:lnTo>
                <a:lnTo>
                  <a:pt x="1019543" y="8589893"/>
                </a:lnTo>
                <a:lnTo>
                  <a:pt x="1019543" y="8608979"/>
                </a:lnTo>
                <a:close/>
              </a:path>
              <a:path w="8792210" h="8609330">
                <a:moveTo>
                  <a:pt x="943343" y="8608979"/>
                </a:moveTo>
                <a:lnTo>
                  <a:pt x="886193" y="8608979"/>
                </a:lnTo>
                <a:lnTo>
                  <a:pt x="886193" y="8589893"/>
                </a:lnTo>
                <a:lnTo>
                  <a:pt x="943343" y="8589893"/>
                </a:lnTo>
                <a:lnTo>
                  <a:pt x="943343" y="8608979"/>
                </a:lnTo>
                <a:close/>
              </a:path>
              <a:path w="8792210" h="8609330">
                <a:moveTo>
                  <a:pt x="867143" y="8608979"/>
                </a:moveTo>
                <a:lnTo>
                  <a:pt x="809993" y="8608979"/>
                </a:lnTo>
                <a:lnTo>
                  <a:pt x="809993" y="8589893"/>
                </a:lnTo>
                <a:lnTo>
                  <a:pt x="867143" y="8589893"/>
                </a:lnTo>
                <a:lnTo>
                  <a:pt x="867143" y="8608979"/>
                </a:lnTo>
                <a:close/>
              </a:path>
              <a:path w="8792210" h="8609330">
                <a:moveTo>
                  <a:pt x="790943" y="8608979"/>
                </a:moveTo>
                <a:lnTo>
                  <a:pt x="733793" y="8608979"/>
                </a:lnTo>
                <a:lnTo>
                  <a:pt x="733793" y="8589893"/>
                </a:lnTo>
                <a:lnTo>
                  <a:pt x="790943" y="8589893"/>
                </a:lnTo>
                <a:lnTo>
                  <a:pt x="790943" y="8608979"/>
                </a:lnTo>
                <a:close/>
              </a:path>
              <a:path w="8792210" h="8609330">
                <a:moveTo>
                  <a:pt x="714744" y="8608979"/>
                </a:moveTo>
                <a:lnTo>
                  <a:pt x="657593" y="8608979"/>
                </a:lnTo>
                <a:lnTo>
                  <a:pt x="657593" y="8589893"/>
                </a:lnTo>
                <a:lnTo>
                  <a:pt x="714744" y="8589893"/>
                </a:lnTo>
                <a:lnTo>
                  <a:pt x="714744" y="8608979"/>
                </a:lnTo>
                <a:close/>
              </a:path>
              <a:path w="8792210" h="8609330">
                <a:moveTo>
                  <a:pt x="638543" y="8608979"/>
                </a:moveTo>
                <a:lnTo>
                  <a:pt x="581393" y="8608979"/>
                </a:lnTo>
                <a:lnTo>
                  <a:pt x="581393" y="8589893"/>
                </a:lnTo>
                <a:lnTo>
                  <a:pt x="638543" y="8589893"/>
                </a:lnTo>
                <a:lnTo>
                  <a:pt x="638543" y="8608979"/>
                </a:lnTo>
                <a:close/>
              </a:path>
              <a:path w="8792210" h="8609330">
                <a:moveTo>
                  <a:pt x="562343" y="8608979"/>
                </a:moveTo>
                <a:lnTo>
                  <a:pt x="505193" y="8608979"/>
                </a:lnTo>
                <a:lnTo>
                  <a:pt x="505193" y="8589893"/>
                </a:lnTo>
                <a:lnTo>
                  <a:pt x="562343" y="8589893"/>
                </a:lnTo>
                <a:lnTo>
                  <a:pt x="562343" y="8608979"/>
                </a:lnTo>
                <a:close/>
              </a:path>
              <a:path w="8792210" h="8609330">
                <a:moveTo>
                  <a:pt x="486143" y="8608979"/>
                </a:moveTo>
                <a:lnTo>
                  <a:pt x="428993" y="8608979"/>
                </a:lnTo>
                <a:lnTo>
                  <a:pt x="428993" y="8589893"/>
                </a:lnTo>
                <a:lnTo>
                  <a:pt x="486143" y="8589893"/>
                </a:lnTo>
                <a:lnTo>
                  <a:pt x="486143" y="8608979"/>
                </a:lnTo>
                <a:close/>
              </a:path>
              <a:path w="8792210" h="8609330">
                <a:moveTo>
                  <a:pt x="409943" y="8608979"/>
                </a:moveTo>
                <a:lnTo>
                  <a:pt x="352793" y="8608979"/>
                </a:lnTo>
                <a:lnTo>
                  <a:pt x="352793" y="8589893"/>
                </a:lnTo>
                <a:lnTo>
                  <a:pt x="409943" y="8589893"/>
                </a:lnTo>
                <a:lnTo>
                  <a:pt x="409943" y="8608979"/>
                </a:lnTo>
                <a:close/>
              </a:path>
              <a:path w="8792210" h="8609330">
                <a:moveTo>
                  <a:pt x="333743" y="8608979"/>
                </a:moveTo>
                <a:lnTo>
                  <a:pt x="276593" y="8608979"/>
                </a:lnTo>
                <a:lnTo>
                  <a:pt x="276593" y="8589893"/>
                </a:lnTo>
                <a:lnTo>
                  <a:pt x="333743" y="8589893"/>
                </a:lnTo>
                <a:lnTo>
                  <a:pt x="333743" y="8608979"/>
                </a:lnTo>
                <a:close/>
              </a:path>
              <a:path w="8792210" h="8609330">
                <a:moveTo>
                  <a:pt x="257543" y="8608979"/>
                </a:moveTo>
                <a:lnTo>
                  <a:pt x="200393" y="8608979"/>
                </a:lnTo>
                <a:lnTo>
                  <a:pt x="200393" y="8589893"/>
                </a:lnTo>
                <a:lnTo>
                  <a:pt x="257543" y="8589893"/>
                </a:lnTo>
                <a:lnTo>
                  <a:pt x="257543" y="8608979"/>
                </a:lnTo>
                <a:close/>
              </a:path>
              <a:path w="8792210" h="8609330">
                <a:moveTo>
                  <a:pt x="181343" y="8608979"/>
                </a:moveTo>
                <a:lnTo>
                  <a:pt x="124193" y="8608979"/>
                </a:lnTo>
                <a:lnTo>
                  <a:pt x="124193" y="8589893"/>
                </a:lnTo>
                <a:lnTo>
                  <a:pt x="181343" y="8589893"/>
                </a:lnTo>
                <a:lnTo>
                  <a:pt x="181343" y="8608979"/>
                </a:lnTo>
                <a:close/>
              </a:path>
              <a:path w="8792210" h="8609330">
                <a:moveTo>
                  <a:pt x="105143" y="8608979"/>
                </a:moveTo>
                <a:lnTo>
                  <a:pt x="95249" y="8608979"/>
                </a:lnTo>
                <a:lnTo>
                  <a:pt x="76580" y="8607132"/>
                </a:lnTo>
                <a:lnTo>
                  <a:pt x="58799" y="8601729"/>
                </a:lnTo>
                <a:lnTo>
                  <a:pt x="49893" y="8596974"/>
                </a:lnTo>
                <a:lnTo>
                  <a:pt x="58803" y="8580612"/>
                </a:lnTo>
                <a:lnTo>
                  <a:pt x="67472" y="8584673"/>
                </a:lnTo>
                <a:lnTo>
                  <a:pt x="76436" y="8587573"/>
                </a:lnTo>
                <a:lnTo>
                  <a:pt x="85695" y="8589313"/>
                </a:lnTo>
                <a:lnTo>
                  <a:pt x="95249" y="8589893"/>
                </a:lnTo>
                <a:lnTo>
                  <a:pt x="105143" y="8589893"/>
                </a:lnTo>
                <a:lnTo>
                  <a:pt x="105143" y="8608979"/>
                </a:lnTo>
                <a:close/>
              </a:path>
              <a:path w="8792210" h="8609330">
                <a:moveTo>
                  <a:pt x="34174" y="8586228"/>
                </a:moveTo>
                <a:lnTo>
                  <a:pt x="27897" y="8581081"/>
                </a:lnTo>
                <a:lnTo>
                  <a:pt x="16002" y="8566574"/>
                </a:lnTo>
                <a:lnTo>
                  <a:pt x="7250" y="8550180"/>
                </a:lnTo>
                <a:lnTo>
                  <a:pt x="3768" y="8538721"/>
                </a:lnTo>
                <a:lnTo>
                  <a:pt x="21750" y="8533801"/>
                </a:lnTo>
                <a:lnTo>
                  <a:pt x="24975" y="8543220"/>
                </a:lnTo>
                <a:lnTo>
                  <a:pt x="29320" y="8551989"/>
                </a:lnTo>
                <a:lnTo>
                  <a:pt x="46170" y="8571983"/>
                </a:lnTo>
                <a:lnTo>
                  <a:pt x="34174" y="8586228"/>
                </a:lnTo>
                <a:close/>
              </a:path>
              <a:path w="8792210" h="8609330">
                <a:moveTo>
                  <a:pt x="612" y="8519919"/>
                </a:moveTo>
                <a:lnTo>
                  <a:pt x="0" y="8513729"/>
                </a:lnTo>
                <a:lnTo>
                  <a:pt x="0" y="8462699"/>
                </a:lnTo>
                <a:lnTo>
                  <a:pt x="19049" y="8462699"/>
                </a:lnTo>
                <a:lnTo>
                  <a:pt x="19104" y="8517031"/>
                </a:lnTo>
                <a:lnTo>
                  <a:pt x="19214" y="8518696"/>
                </a:lnTo>
                <a:lnTo>
                  <a:pt x="612" y="8519919"/>
                </a:lnTo>
                <a:close/>
              </a:path>
              <a:path w="8792210" h="8609330">
                <a:moveTo>
                  <a:pt x="19049" y="8443649"/>
                </a:moveTo>
                <a:lnTo>
                  <a:pt x="0" y="8443649"/>
                </a:lnTo>
                <a:lnTo>
                  <a:pt x="0" y="8386499"/>
                </a:lnTo>
                <a:lnTo>
                  <a:pt x="19049" y="8386499"/>
                </a:lnTo>
                <a:lnTo>
                  <a:pt x="19049" y="8443649"/>
                </a:lnTo>
                <a:close/>
              </a:path>
              <a:path w="8792210" h="8609330">
                <a:moveTo>
                  <a:pt x="19049" y="8367449"/>
                </a:moveTo>
                <a:lnTo>
                  <a:pt x="0" y="8367449"/>
                </a:lnTo>
                <a:lnTo>
                  <a:pt x="0" y="8310299"/>
                </a:lnTo>
                <a:lnTo>
                  <a:pt x="19049" y="8310299"/>
                </a:lnTo>
                <a:lnTo>
                  <a:pt x="19049" y="8367449"/>
                </a:lnTo>
                <a:close/>
              </a:path>
              <a:path w="8792210" h="8609330">
                <a:moveTo>
                  <a:pt x="19049" y="8291249"/>
                </a:moveTo>
                <a:lnTo>
                  <a:pt x="0" y="8291249"/>
                </a:lnTo>
                <a:lnTo>
                  <a:pt x="0" y="8234099"/>
                </a:lnTo>
                <a:lnTo>
                  <a:pt x="19049" y="8234099"/>
                </a:lnTo>
                <a:lnTo>
                  <a:pt x="19049" y="8291249"/>
                </a:lnTo>
                <a:close/>
              </a:path>
              <a:path w="8792210" h="8609330">
                <a:moveTo>
                  <a:pt x="19049" y="8215049"/>
                </a:moveTo>
                <a:lnTo>
                  <a:pt x="0" y="8215049"/>
                </a:lnTo>
                <a:lnTo>
                  <a:pt x="0" y="8157899"/>
                </a:lnTo>
                <a:lnTo>
                  <a:pt x="19049" y="8157899"/>
                </a:lnTo>
                <a:lnTo>
                  <a:pt x="19049" y="8215049"/>
                </a:lnTo>
                <a:close/>
              </a:path>
              <a:path w="8792210" h="8609330">
                <a:moveTo>
                  <a:pt x="19049" y="8138849"/>
                </a:moveTo>
                <a:lnTo>
                  <a:pt x="0" y="8138849"/>
                </a:lnTo>
                <a:lnTo>
                  <a:pt x="0" y="8081699"/>
                </a:lnTo>
                <a:lnTo>
                  <a:pt x="19049" y="8081699"/>
                </a:lnTo>
                <a:lnTo>
                  <a:pt x="19049" y="8138849"/>
                </a:lnTo>
                <a:close/>
              </a:path>
              <a:path w="8792210" h="8609330">
                <a:moveTo>
                  <a:pt x="19049" y="8062649"/>
                </a:moveTo>
                <a:lnTo>
                  <a:pt x="0" y="8062649"/>
                </a:lnTo>
                <a:lnTo>
                  <a:pt x="0" y="8005499"/>
                </a:lnTo>
                <a:lnTo>
                  <a:pt x="19049" y="8005499"/>
                </a:lnTo>
                <a:lnTo>
                  <a:pt x="19049" y="8062649"/>
                </a:lnTo>
                <a:close/>
              </a:path>
              <a:path w="8792210" h="8609330">
                <a:moveTo>
                  <a:pt x="19049" y="7986449"/>
                </a:moveTo>
                <a:lnTo>
                  <a:pt x="0" y="7986449"/>
                </a:lnTo>
                <a:lnTo>
                  <a:pt x="0" y="7929299"/>
                </a:lnTo>
                <a:lnTo>
                  <a:pt x="19049" y="7929299"/>
                </a:lnTo>
                <a:lnTo>
                  <a:pt x="19049" y="7986449"/>
                </a:lnTo>
                <a:close/>
              </a:path>
              <a:path w="8792210" h="8609330">
                <a:moveTo>
                  <a:pt x="19049" y="7910249"/>
                </a:moveTo>
                <a:lnTo>
                  <a:pt x="0" y="7910249"/>
                </a:lnTo>
                <a:lnTo>
                  <a:pt x="0" y="7853099"/>
                </a:lnTo>
                <a:lnTo>
                  <a:pt x="19049" y="7853099"/>
                </a:lnTo>
                <a:lnTo>
                  <a:pt x="19049" y="7910249"/>
                </a:lnTo>
                <a:close/>
              </a:path>
              <a:path w="8792210" h="8609330">
                <a:moveTo>
                  <a:pt x="19049" y="7834049"/>
                </a:moveTo>
                <a:lnTo>
                  <a:pt x="0" y="7834049"/>
                </a:lnTo>
                <a:lnTo>
                  <a:pt x="0" y="7776899"/>
                </a:lnTo>
                <a:lnTo>
                  <a:pt x="19049" y="7776899"/>
                </a:lnTo>
                <a:lnTo>
                  <a:pt x="19049" y="7834049"/>
                </a:lnTo>
                <a:close/>
              </a:path>
              <a:path w="8792210" h="8609330">
                <a:moveTo>
                  <a:pt x="19049" y="7757849"/>
                </a:moveTo>
                <a:lnTo>
                  <a:pt x="0" y="7757849"/>
                </a:lnTo>
                <a:lnTo>
                  <a:pt x="0" y="7700699"/>
                </a:lnTo>
                <a:lnTo>
                  <a:pt x="19049" y="7700699"/>
                </a:lnTo>
                <a:lnTo>
                  <a:pt x="19049" y="7757849"/>
                </a:lnTo>
                <a:close/>
              </a:path>
              <a:path w="8792210" h="8609330">
                <a:moveTo>
                  <a:pt x="19049" y="7681649"/>
                </a:moveTo>
                <a:lnTo>
                  <a:pt x="0" y="7681649"/>
                </a:lnTo>
                <a:lnTo>
                  <a:pt x="0" y="7624499"/>
                </a:lnTo>
                <a:lnTo>
                  <a:pt x="19049" y="7624499"/>
                </a:lnTo>
                <a:lnTo>
                  <a:pt x="19049" y="7681649"/>
                </a:lnTo>
                <a:close/>
              </a:path>
              <a:path w="8792210" h="8609330">
                <a:moveTo>
                  <a:pt x="19049" y="7605449"/>
                </a:moveTo>
                <a:lnTo>
                  <a:pt x="0" y="7605449"/>
                </a:lnTo>
                <a:lnTo>
                  <a:pt x="0" y="7548299"/>
                </a:lnTo>
                <a:lnTo>
                  <a:pt x="19049" y="7548299"/>
                </a:lnTo>
                <a:lnTo>
                  <a:pt x="19049" y="7605449"/>
                </a:lnTo>
                <a:close/>
              </a:path>
              <a:path w="8792210" h="8609330">
                <a:moveTo>
                  <a:pt x="19049" y="7529249"/>
                </a:moveTo>
                <a:lnTo>
                  <a:pt x="0" y="7529249"/>
                </a:lnTo>
                <a:lnTo>
                  <a:pt x="0" y="7472099"/>
                </a:lnTo>
                <a:lnTo>
                  <a:pt x="19049" y="7472099"/>
                </a:lnTo>
                <a:lnTo>
                  <a:pt x="19049" y="7529249"/>
                </a:lnTo>
                <a:close/>
              </a:path>
              <a:path w="8792210" h="8609330">
                <a:moveTo>
                  <a:pt x="19049" y="7453049"/>
                </a:moveTo>
                <a:lnTo>
                  <a:pt x="0" y="7453049"/>
                </a:lnTo>
                <a:lnTo>
                  <a:pt x="0" y="7395899"/>
                </a:lnTo>
                <a:lnTo>
                  <a:pt x="19049" y="7395899"/>
                </a:lnTo>
                <a:lnTo>
                  <a:pt x="19049" y="7453049"/>
                </a:lnTo>
                <a:close/>
              </a:path>
              <a:path w="8792210" h="8609330">
                <a:moveTo>
                  <a:pt x="19049" y="7376849"/>
                </a:moveTo>
                <a:lnTo>
                  <a:pt x="0" y="7376849"/>
                </a:lnTo>
                <a:lnTo>
                  <a:pt x="0" y="7319699"/>
                </a:lnTo>
                <a:lnTo>
                  <a:pt x="19049" y="7319699"/>
                </a:lnTo>
                <a:lnTo>
                  <a:pt x="19049" y="7376849"/>
                </a:lnTo>
                <a:close/>
              </a:path>
              <a:path w="8792210" h="8609330">
                <a:moveTo>
                  <a:pt x="19049" y="7300649"/>
                </a:moveTo>
                <a:lnTo>
                  <a:pt x="0" y="7300649"/>
                </a:lnTo>
                <a:lnTo>
                  <a:pt x="0" y="7243499"/>
                </a:lnTo>
                <a:lnTo>
                  <a:pt x="19049" y="7243499"/>
                </a:lnTo>
                <a:lnTo>
                  <a:pt x="19049" y="7300649"/>
                </a:lnTo>
                <a:close/>
              </a:path>
              <a:path w="8792210" h="8609330">
                <a:moveTo>
                  <a:pt x="19049" y="7224449"/>
                </a:moveTo>
                <a:lnTo>
                  <a:pt x="0" y="7224449"/>
                </a:lnTo>
                <a:lnTo>
                  <a:pt x="0" y="7167299"/>
                </a:lnTo>
                <a:lnTo>
                  <a:pt x="19049" y="7167299"/>
                </a:lnTo>
                <a:lnTo>
                  <a:pt x="19049" y="7224449"/>
                </a:lnTo>
                <a:close/>
              </a:path>
              <a:path w="8792210" h="8609330">
                <a:moveTo>
                  <a:pt x="19049" y="7148249"/>
                </a:moveTo>
                <a:lnTo>
                  <a:pt x="0" y="7148249"/>
                </a:lnTo>
                <a:lnTo>
                  <a:pt x="0" y="7091099"/>
                </a:lnTo>
                <a:lnTo>
                  <a:pt x="19049" y="7091099"/>
                </a:lnTo>
                <a:lnTo>
                  <a:pt x="19049" y="7148249"/>
                </a:lnTo>
                <a:close/>
              </a:path>
              <a:path w="8792210" h="8609330">
                <a:moveTo>
                  <a:pt x="19049" y="7072049"/>
                </a:moveTo>
                <a:lnTo>
                  <a:pt x="0" y="7072049"/>
                </a:lnTo>
                <a:lnTo>
                  <a:pt x="0" y="7014899"/>
                </a:lnTo>
                <a:lnTo>
                  <a:pt x="19049" y="7014899"/>
                </a:lnTo>
                <a:lnTo>
                  <a:pt x="19049" y="7072049"/>
                </a:lnTo>
                <a:close/>
              </a:path>
              <a:path w="8792210" h="8609330">
                <a:moveTo>
                  <a:pt x="19049" y="6995849"/>
                </a:moveTo>
                <a:lnTo>
                  <a:pt x="0" y="6995849"/>
                </a:lnTo>
                <a:lnTo>
                  <a:pt x="0" y="6938699"/>
                </a:lnTo>
                <a:lnTo>
                  <a:pt x="19049" y="6938699"/>
                </a:lnTo>
                <a:lnTo>
                  <a:pt x="19049" y="6995849"/>
                </a:lnTo>
                <a:close/>
              </a:path>
              <a:path w="8792210" h="8609330">
                <a:moveTo>
                  <a:pt x="19049" y="6919649"/>
                </a:moveTo>
                <a:lnTo>
                  <a:pt x="0" y="6919649"/>
                </a:lnTo>
                <a:lnTo>
                  <a:pt x="0" y="6862499"/>
                </a:lnTo>
                <a:lnTo>
                  <a:pt x="19049" y="6862499"/>
                </a:lnTo>
                <a:lnTo>
                  <a:pt x="19049" y="6919649"/>
                </a:lnTo>
                <a:close/>
              </a:path>
              <a:path w="8792210" h="8609330">
                <a:moveTo>
                  <a:pt x="19049" y="6843449"/>
                </a:moveTo>
                <a:lnTo>
                  <a:pt x="0" y="6843449"/>
                </a:lnTo>
                <a:lnTo>
                  <a:pt x="0" y="6786299"/>
                </a:lnTo>
                <a:lnTo>
                  <a:pt x="19049" y="6786299"/>
                </a:lnTo>
                <a:lnTo>
                  <a:pt x="19049" y="6843449"/>
                </a:lnTo>
                <a:close/>
              </a:path>
              <a:path w="8792210" h="8609330">
                <a:moveTo>
                  <a:pt x="19049" y="6767249"/>
                </a:moveTo>
                <a:lnTo>
                  <a:pt x="0" y="6767249"/>
                </a:lnTo>
                <a:lnTo>
                  <a:pt x="0" y="6710099"/>
                </a:lnTo>
                <a:lnTo>
                  <a:pt x="19049" y="6710099"/>
                </a:lnTo>
                <a:lnTo>
                  <a:pt x="19049" y="6767249"/>
                </a:lnTo>
                <a:close/>
              </a:path>
              <a:path w="8792210" h="8609330">
                <a:moveTo>
                  <a:pt x="19049" y="6691049"/>
                </a:moveTo>
                <a:lnTo>
                  <a:pt x="0" y="6691049"/>
                </a:lnTo>
                <a:lnTo>
                  <a:pt x="0" y="6633899"/>
                </a:lnTo>
                <a:lnTo>
                  <a:pt x="19049" y="6633899"/>
                </a:lnTo>
                <a:lnTo>
                  <a:pt x="19049" y="6691049"/>
                </a:lnTo>
                <a:close/>
              </a:path>
              <a:path w="8792210" h="8609330">
                <a:moveTo>
                  <a:pt x="19049" y="6614849"/>
                </a:moveTo>
                <a:lnTo>
                  <a:pt x="0" y="6614849"/>
                </a:lnTo>
                <a:lnTo>
                  <a:pt x="0" y="6557699"/>
                </a:lnTo>
                <a:lnTo>
                  <a:pt x="19049" y="6557699"/>
                </a:lnTo>
                <a:lnTo>
                  <a:pt x="19049" y="6614849"/>
                </a:lnTo>
                <a:close/>
              </a:path>
              <a:path w="8792210" h="8609330">
                <a:moveTo>
                  <a:pt x="19049" y="6538649"/>
                </a:moveTo>
                <a:lnTo>
                  <a:pt x="0" y="6538649"/>
                </a:lnTo>
                <a:lnTo>
                  <a:pt x="0" y="6481499"/>
                </a:lnTo>
                <a:lnTo>
                  <a:pt x="19049" y="6481499"/>
                </a:lnTo>
                <a:lnTo>
                  <a:pt x="19049" y="6538649"/>
                </a:lnTo>
                <a:close/>
              </a:path>
              <a:path w="8792210" h="8609330">
                <a:moveTo>
                  <a:pt x="19049" y="6462449"/>
                </a:moveTo>
                <a:lnTo>
                  <a:pt x="0" y="6462449"/>
                </a:lnTo>
                <a:lnTo>
                  <a:pt x="0" y="6405299"/>
                </a:lnTo>
                <a:lnTo>
                  <a:pt x="19049" y="6405299"/>
                </a:lnTo>
                <a:lnTo>
                  <a:pt x="19049" y="6462449"/>
                </a:lnTo>
                <a:close/>
              </a:path>
              <a:path w="8792210" h="8609330">
                <a:moveTo>
                  <a:pt x="19049" y="6386249"/>
                </a:moveTo>
                <a:lnTo>
                  <a:pt x="0" y="6386249"/>
                </a:lnTo>
                <a:lnTo>
                  <a:pt x="0" y="6329099"/>
                </a:lnTo>
                <a:lnTo>
                  <a:pt x="19049" y="6329099"/>
                </a:lnTo>
                <a:lnTo>
                  <a:pt x="19049" y="6386249"/>
                </a:lnTo>
                <a:close/>
              </a:path>
              <a:path w="8792210" h="8609330">
                <a:moveTo>
                  <a:pt x="19049" y="6310049"/>
                </a:moveTo>
                <a:lnTo>
                  <a:pt x="0" y="6310049"/>
                </a:lnTo>
                <a:lnTo>
                  <a:pt x="0" y="6252899"/>
                </a:lnTo>
                <a:lnTo>
                  <a:pt x="19049" y="6252899"/>
                </a:lnTo>
                <a:lnTo>
                  <a:pt x="19049" y="6310049"/>
                </a:lnTo>
                <a:close/>
              </a:path>
              <a:path w="8792210" h="8609330">
                <a:moveTo>
                  <a:pt x="19049" y="6233849"/>
                </a:moveTo>
                <a:lnTo>
                  <a:pt x="0" y="6233849"/>
                </a:lnTo>
                <a:lnTo>
                  <a:pt x="0" y="6176699"/>
                </a:lnTo>
                <a:lnTo>
                  <a:pt x="19049" y="6176699"/>
                </a:lnTo>
                <a:lnTo>
                  <a:pt x="19049" y="6233849"/>
                </a:lnTo>
                <a:close/>
              </a:path>
              <a:path w="8792210" h="8609330">
                <a:moveTo>
                  <a:pt x="19049" y="6157649"/>
                </a:moveTo>
                <a:lnTo>
                  <a:pt x="0" y="6157649"/>
                </a:lnTo>
                <a:lnTo>
                  <a:pt x="0" y="6100499"/>
                </a:lnTo>
                <a:lnTo>
                  <a:pt x="19049" y="6100499"/>
                </a:lnTo>
                <a:lnTo>
                  <a:pt x="19049" y="6157649"/>
                </a:lnTo>
                <a:close/>
              </a:path>
              <a:path w="8792210" h="8609330">
                <a:moveTo>
                  <a:pt x="19049" y="6081449"/>
                </a:moveTo>
                <a:lnTo>
                  <a:pt x="0" y="6081449"/>
                </a:lnTo>
                <a:lnTo>
                  <a:pt x="0" y="6024299"/>
                </a:lnTo>
                <a:lnTo>
                  <a:pt x="19049" y="6024299"/>
                </a:lnTo>
                <a:lnTo>
                  <a:pt x="19049" y="6081449"/>
                </a:lnTo>
                <a:close/>
              </a:path>
              <a:path w="8792210" h="8609330">
                <a:moveTo>
                  <a:pt x="19049" y="6005249"/>
                </a:moveTo>
                <a:lnTo>
                  <a:pt x="0" y="6005249"/>
                </a:lnTo>
                <a:lnTo>
                  <a:pt x="0" y="5948099"/>
                </a:lnTo>
                <a:lnTo>
                  <a:pt x="19049" y="5948099"/>
                </a:lnTo>
                <a:lnTo>
                  <a:pt x="19049" y="6005249"/>
                </a:lnTo>
                <a:close/>
              </a:path>
              <a:path w="8792210" h="8609330">
                <a:moveTo>
                  <a:pt x="19049" y="5929049"/>
                </a:moveTo>
                <a:lnTo>
                  <a:pt x="0" y="5929049"/>
                </a:lnTo>
                <a:lnTo>
                  <a:pt x="0" y="5871899"/>
                </a:lnTo>
                <a:lnTo>
                  <a:pt x="19049" y="5871899"/>
                </a:lnTo>
                <a:lnTo>
                  <a:pt x="19049" y="5929049"/>
                </a:lnTo>
                <a:close/>
              </a:path>
              <a:path w="8792210" h="8609330">
                <a:moveTo>
                  <a:pt x="19049" y="5852849"/>
                </a:moveTo>
                <a:lnTo>
                  <a:pt x="0" y="5852849"/>
                </a:lnTo>
                <a:lnTo>
                  <a:pt x="0" y="5795699"/>
                </a:lnTo>
                <a:lnTo>
                  <a:pt x="19049" y="5795699"/>
                </a:lnTo>
                <a:lnTo>
                  <a:pt x="19049" y="5852849"/>
                </a:lnTo>
                <a:close/>
              </a:path>
              <a:path w="8792210" h="8609330">
                <a:moveTo>
                  <a:pt x="19049" y="5776649"/>
                </a:moveTo>
                <a:lnTo>
                  <a:pt x="0" y="5776649"/>
                </a:lnTo>
                <a:lnTo>
                  <a:pt x="0" y="5719499"/>
                </a:lnTo>
                <a:lnTo>
                  <a:pt x="19049" y="5719499"/>
                </a:lnTo>
                <a:lnTo>
                  <a:pt x="19049" y="5776649"/>
                </a:lnTo>
                <a:close/>
              </a:path>
              <a:path w="8792210" h="8609330">
                <a:moveTo>
                  <a:pt x="19049" y="5700449"/>
                </a:moveTo>
                <a:lnTo>
                  <a:pt x="0" y="5700449"/>
                </a:lnTo>
                <a:lnTo>
                  <a:pt x="0" y="5643299"/>
                </a:lnTo>
                <a:lnTo>
                  <a:pt x="19049" y="5643299"/>
                </a:lnTo>
                <a:lnTo>
                  <a:pt x="19049" y="5700449"/>
                </a:lnTo>
                <a:close/>
              </a:path>
              <a:path w="8792210" h="8609330">
                <a:moveTo>
                  <a:pt x="19049" y="5624249"/>
                </a:moveTo>
                <a:lnTo>
                  <a:pt x="0" y="5624249"/>
                </a:lnTo>
                <a:lnTo>
                  <a:pt x="0" y="5567099"/>
                </a:lnTo>
                <a:lnTo>
                  <a:pt x="19049" y="5567099"/>
                </a:lnTo>
                <a:lnTo>
                  <a:pt x="19049" y="5624249"/>
                </a:lnTo>
                <a:close/>
              </a:path>
              <a:path w="8792210" h="8609330">
                <a:moveTo>
                  <a:pt x="19049" y="5548049"/>
                </a:moveTo>
                <a:lnTo>
                  <a:pt x="0" y="5548049"/>
                </a:lnTo>
                <a:lnTo>
                  <a:pt x="0" y="5490899"/>
                </a:lnTo>
                <a:lnTo>
                  <a:pt x="19049" y="5490899"/>
                </a:lnTo>
                <a:lnTo>
                  <a:pt x="19049" y="5548049"/>
                </a:lnTo>
                <a:close/>
              </a:path>
              <a:path w="8792210" h="8609330">
                <a:moveTo>
                  <a:pt x="19049" y="5471849"/>
                </a:moveTo>
                <a:lnTo>
                  <a:pt x="0" y="5471849"/>
                </a:lnTo>
                <a:lnTo>
                  <a:pt x="0" y="5414699"/>
                </a:lnTo>
                <a:lnTo>
                  <a:pt x="19049" y="5414699"/>
                </a:lnTo>
                <a:lnTo>
                  <a:pt x="19049" y="5471849"/>
                </a:lnTo>
                <a:close/>
              </a:path>
              <a:path w="8792210" h="8609330">
                <a:moveTo>
                  <a:pt x="19049" y="5395649"/>
                </a:moveTo>
                <a:lnTo>
                  <a:pt x="0" y="5395649"/>
                </a:lnTo>
                <a:lnTo>
                  <a:pt x="0" y="5338499"/>
                </a:lnTo>
                <a:lnTo>
                  <a:pt x="19049" y="5338499"/>
                </a:lnTo>
                <a:lnTo>
                  <a:pt x="19049" y="5395649"/>
                </a:lnTo>
                <a:close/>
              </a:path>
              <a:path w="8792210" h="8609330">
                <a:moveTo>
                  <a:pt x="19049" y="5319449"/>
                </a:moveTo>
                <a:lnTo>
                  <a:pt x="0" y="5319449"/>
                </a:lnTo>
                <a:lnTo>
                  <a:pt x="0" y="5262299"/>
                </a:lnTo>
                <a:lnTo>
                  <a:pt x="19049" y="5262299"/>
                </a:lnTo>
                <a:lnTo>
                  <a:pt x="19049" y="5319449"/>
                </a:lnTo>
                <a:close/>
              </a:path>
              <a:path w="8792210" h="8609330">
                <a:moveTo>
                  <a:pt x="19049" y="5243249"/>
                </a:moveTo>
                <a:lnTo>
                  <a:pt x="0" y="5243249"/>
                </a:lnTo>
                <a:lnTo>
                  <a:pt x="0" y="5186099"/>
                </a:lnTo>
                <a:lnTo>
                  <a:pt x="19049" y="5186099"/>
                </a:lnTo>
                <a:lnTo>
                  <a:pt x="19049" y="5243249"/>
                </a:lnTo>
                <a:close/>
              </a:path>
              <a:path w="8792210" h="8609330">
                <a:moveTo>
                  <a:pt x="19049" y="5167049"/>
                </a:moveTo>
                <a:lnTo>
                  <a:pt x="0" y="5167049"/>
                </a:lnTo>
                <a:lnTo>
                  <a:pt x="0" y="5109899"/>
                </a:lnTo>
                <a:lnTo>
                  <a:pt x="19049" y="5109899"/>
                </a:lnTo>
                <a:lnTo>
                  <a:pt x="19049" y="5167049"/>
                </a:lnTo>
                <a:close/>
              </a:path>
              <a:path w="8792210" h="8609330">
                <a:moveTo>
                  <a:pt x="19049" y="5090849"/>
                </a:moveTo>
                <a:lnTo>
                  <a:pt x="0" y="5090849"/>
                </a:lnTo>
                <a:lnTo>
                  <a:pt x="0" y="5033699"/>
                </a:lnTo>
                <a:lnTo>
                  <a:pt x="19049" y="5033699"/>
                </a:lnTo>
                <a:lnTo>
                  <a:pt x="19049" y="5090849"/>
                </a:lnTo>
                <a:close/>
              </a:path>
              <a:path w="8792210" h="8609330">
                <a:moveTo>
                  <a:pt x="19049" y="5014649"/>
                </a:moveTo>
                <a:lnTo>
                  <a:pt x="0" y="5014649"/>
                </a:lnTo>
                <a:lnTo>
                  <a:pt x="0" y="4957499"/>
                </a:lnTo>
                <a:lnTo>
                  <a:pt x="19049" y="4957499"/>
                </a:lnTo>
                <a:lnTo>
                  <a:pt x="19049" y="5014649"/>
                </a:lnTo>
                <a:close/>
              </a:path>
              <a:path w="8792210" h="8609330">
                <a:moveTo>
                  <a:pt x="19049" y="4938449"/>
                </a:moveTo>
                <a:lnTo>
                  <a:pt x="0" y="4938449"/>
                </a:lnTo>
                <a:lnTo>
                  <a:pt x="0" y="4881299"/>
                </a:lnTo>
                <a:lnTo>
                  <a:pt x="19049" y="4881299"/>
                </a:lnTo>
                <a:lnTo>
                  <a:pt x="19049" y="4938449"/>
                </a:lnTo>
                <a:close/>
              </a:path>
              <a:path w="8792210" h="8609330">
                <a:moveTo>
                  <a:pt x="19049" y="4862250"/>
                </a:moveTo>
                <a:lnTo>
                  <a:pt x="0" y="4862250"/>
                </a:lnTo>
                <a:lnTo>
                  <a:pt x="0" y="4805100"/>
                </a:lnTo>
                <a:lnTo>
                  <a:pt x="19049" y="4805100"/>
                </a:lnTo>
                <a:lnTo>
                  <a:pt x="19049" y="4862250"/>
                </a:lnTo>
                <a:close/>
              </a:path>
              <a:path w="8792210" h="8609330">
                <a:moveTo>
                  <a:pt x="19049" y="4786049"/>
                </a:moveTo>
                <a:lnTo>
                  <a:pt x="0" y="4786049"/>
                </a:lnTo>
                <a:lnTo>
                  <a:pt x="0" y="4728900"/>
                </a:lnTo>
                <a:lnTo>
                  <a:pt x="19049" y="4728900"/>
                </a:lnTo>
                <a:lnTo>
                  <a:pt x="19049" y="4786049"/>
                </a:lnTo>
                <a:close/>
              </a:path>
              <a:path w="8792210" h="8609330">
                <a:moveTo>
                  <a:pt x="19049" y="4709850"/>
                </a:moveTo>
                <a:lnTo>
                  <a:pt x="0" y="4709850"/>
                </a:lnTo>
                <a:lnTo>
                  <a:pt x="0" y="4652700"/>
                </a:lnTo>
                <a:lnTo>
                  <a:pt x="19049" y="4652700"/>
                </a:lnTo>
                <a:lnTo>
                  <a:pt x="19049" y="4709850"/>
                </a:lnTo>
                <a:close/>
              </a:path>
              <a:path w="8792210" h="8609330">
                <a:moveTo>
                  <a:pt x="19049" y="4633650"/>
                </a:moveTo>
                <a:lnTo>
                  <a:pt x="0" y="4633650"/>
                </a:lnTo>
                <a:lnTo>
                  <a:pt x="0" y="4576500"/>
                </a:lnTo>
                <a:lnTo>
                  <a:pt x="19049" y="4576500"/>
                </a:lnTo>
                <a:lnTo>
                  <a:pt x="19049" y="4633650"/>
                </a:lnTo>
                <a:close/>
              </a:path>
              <a:path w="8792210" h="8609330">
                <a:moveTo>
                  <a:pt x="19049" y="4557450"/>
                </a:moveTo>
                <a:lnTo>
                  <a:pt x="0" y="4557450"/>
                </a:lnTo>
                <a:lnTo>
                  <a:pt x="0" y="4500300"/>
                </a:lnTo>
                <a:lnTo>
                  <a:pt x="19049" y="4500300"/>
                </a:lnTo>
                <a:lnTo>
                  <a:pt x="19049" y="4557450"/>
                </a:lnTo>
                <a:close/>
              </a:path>
              <a:path w="8792210" h="8609330">
                <a:moveTo>
                  <a:pt x="19049" y="4481250"/>
                </a:moveTo>
                <a:lnTo>
                  <a:pt x="0" y="4481250"/>
                </a:lnTo>
                <a:lnTo>
                  <a:pt x="0" y="4424100"/>
                </a:lnTo>
                <a:lnTo>
                  <a:pt x="19049" y="4424100"/>
                </a:lnTo>
                <a:lnTo>
                  <a:pt x="19049" y="4481250"/>
                </a:lnTo>
                <a:close/>
              </a:path>
              <a:path w="8792210" h="8609330">
                <a:moveTo>
                  <a:pt x="19049" y="4405050"/>
                </a:moveTo>
                <a:lnTo>
                  <a:pt x="0" y="4405050"/>
                </a:lnTo>
                <a:lnTo>
                  <a:pt x="0" y="4347900"/>
                </a:lnTo>
                <a:lnTo>
                  <a:pt x="19049" y="4347900"/>
                </a:lnTo>
                <a:lnTo>
                  <a:pt x="19049" y="4405050"/>
                </a:lnTo>
                <a:close/>
              </a:path>
              <a:path w="8792210" h="8609330">
                <a:moveTo>
                  <a:pt x="19049" y="4328850"/>
                </a:moveTo>
                <a:lnTo>
                  <a:pt x="0" y="4328850"/>
                </a:lnTo>
                <a:lnTo>
                  <a:pt x="0" y="4271700"/>
                </a:lnTo>
                <a:lnTo>
                  <a:pt x="19049" y="4271700"/>
                </a:lnTo>
                <a:lnTo>
                  <a:pt x="19049" y="4328850"/>
                </a:lnTo>
                <a:close/>
              </a:path>
              <a:path w="8792210" h="8609330">
                <a:moveTo>
                  <a:pt x="19049" y="4252650"/>
                </a:moveTo>
                <a:lnTo>
                  <a:pt x="0" y="4252650"/>
                </a:lnTo>
                <a:lnTo>
                  <a:pt x="0" y="4195500"/>
                </a:lnTo>
                <a:lnTo>
                  <a:pt x="19049" y="4195500"/>
                </a:lnTo>
                <a:lnTo>
                  <a:pt x="19049" y="4252650"/>
                </a:lnTo>
                <a:close/>
              </a:path>
              <a:path w="8792210" h="8609330">
                <a:moveTo>
                  <a:pt x="19049" y="4176450"/>
                </a:moveTo>
                <a:lnTo>
                  <a:pt x="0" y="4176450"/>
                </a:lnTo>
                <a:lnTo>
                  <a:pt x="0" y="4119300"/>
                </a:lnTo>
                <a:lnTo>
                  <a:pt x="19049" y="4119300"/>
                </a:lnTo>
                <a:lnTo>
                  <a:pt x="19049" y="4176450"/>
                </a:lnTo>
                <a:close/>
              </a:path>
              <a:path w="8792210" h="8609330">
                <a:moveTo>
                  <a:pt x="19049" y="4100250"/>
                </a:moveTo>
                <a:lnTo>
                  <a:pt x="0" y="4100250"/>
                </a:lnTo>
                <a:lnTo>
                  <a:pt x="0" y="4043100"/>
                </a:lnTo>
                <a:lnTo>
                  <a:pt x="19049" y="4043100"/>
                </a:lnTo>
                <a:lnTo>
                  <a:pt x="19049" y="4100250"/>
                </a:lnTo>
                <a:close/>
              </a:path>
              <a:path w="8792210" h="8609330">
                <a:moveTo>
                  <a:pt x="19049" y="4024050"/>
                </a:moveTo>
                <a:lnTo>
                  <a:pt x="0" y="4024050"/>
                </a:lnTo>
                <a:lnTo>
                  <a:pt x="0" y="3966900"/>
                </a:lnTo>
                <a:lnTo>
                  <a:pt x="19049" y="3966900"/>
                </a:lnTo>
                <a:lnTo>
                  <a:pt x="19049" y="4024050"/>
                </a:lnTo>
                <a:close/>
              </a:path>
              <a:path w="8792210" h="8609330">
                <a:moveTo>
                  <a:pt x="19049" y="3947850"/>
                </a:moveTo>
                <a:lnTo>
                  <a:pt x="0" y="3947850"/>
                </a:lnTo>
                <a:lnTo>
                  <a:pt x="0" y="3890700"/>
                </a:lnTo>
                <a:lnTo>
                  <a:pt x="19049" y="3890700"/>
                </a:lnTo>
                <a:lnTo>
                  <a:pt x="19049" y="3947850"/>
                </a:lnTo>
                <a:close/>
              </a:path>
              <a:path w="8792210" h="8609330">
                <a:moveTo>
                  <a:pt x="19049" y="3871650"/>
                </a:moveTo>
                <a:lnTo>
                  <a:pt x="0" y="3871650"/>
                </a:lnTo>
                <a:lnTo>
                  <a:pt x="0" y="3814500"/>
                </a:lnTo>
                <a:lnTo>
                  <a:pt x="19049" y="3814500"/>
                </a:lnTo>
                <a:lnTo>
                  <a:pt x="19049" y="3871650"/>
                </a:lnTo>
                <a:close/>
              </a:path>
              <a:path w="8792210" h="8609330">
                <a:moveTo>
                  <a:pt x="19049" y="3795450"/>
                </a:moveTo>
                <a:lnTo>
                  <a:pt x="0" y="3795450"/>
                </a:lnTo>
                <a:lnTo>
                  <a:pt x="0" y="3738300"/>
                </a:lnTo>
                <a:lnTo>
                  <a:pt x="19049" y="3738300"/>
                </a:lnTo>
                <a:lnTo>
                  <a:pt x="19049" y="3795450"/>
                </a:lnTo>
                <a:close/>
              </a:path>
              <a:path w="8792210" h="8609330">
                <a:moveTo>
                  <a:pt x="19049" y="3719250"/>
                </a:moveTo>
                <a:lnTo>
                  <a:pt x="0" y="3719250"/>
                </a:lnTo>
                <a:lnTo>
                  <a:pt x="0" y="3662100"/>
                </a:lnTo>
                <a:lnTo>
                  <a:pt x="19049" y="3662100"/>
                </a:lnTo>
                <a:lnTo>
                  <a:pt x="19049" y="3719250"/>
                </a:lnTo>
                <a:close/>
              </a:path>
              <a:path w="8792210" h="8609330">
                <a:moveTo>
                  <a:pt x="19049" y="3643050"/>
                </a:moveTo>
                <a:lnTo>
                  <a:pt x="0" y="3643050"/>
                </a:lnTo>
                <a:lnTo>
                  <a:pt x="0" y="3585900"/>
                </a:lnTo>
                <a:lnTo>
                  <a:pt x="19049" y="3585900"/>
                </a:lnTo>
                <a:lnTo>
                  <a:pt x="19049" y="3643050"/>
                </a:lnTo>
                <a:close/>
              </a:path>
              <a:path w="8792210" h="8609330">
                <a:moveTo>
                  <a:pt x="19049" y="3566850"/>
                </a:moveTo>
                <a:lnTo>
                  <a:pt x="0" y="3566850"/>
                </a:lnTo>
                <a:lnTo>
                  <a:pt x="0" y="3509700"/>
                </a:lnTo>
                <a:lnTo>
                  <a:pt x="19049" y="3509700"/>
                </a:lnTo>
                <a:lnTo>
                  <a:pt x="19049" y="3566850"/>
                </a:lnTo>
                <a:close/>
              </a:path>
              <a:path w="8792210" h="8609330">
                <a:moveTo>
                  <a:pt x="19049" y="3490650"/>
                </a:moveTo>
                <a:lnTo>
                  <a:pt x="0" y="3490650"/>
                </a:lnTo>
                <a:lnTo>
                  <a:pt x="0" y="3433500"/>
                </a:lnTo>
                <a:lnTo>
                  <a:pt x="19049" y="3433500"/>
                </a:lnTo>
                <a:lnTo>
                  <a:pt x="19049" y="3490650"/>
                </a:lnTo>
                <a:close/>
              </a:path>
              <a:path w="8792210" h="8609330">
                <a:moveTo>
                  <a:pt x="19049" y="3414450"/>
                </a:moveTo>
                <a:lnTo>
                  <a:pt x="0" y="3414450"/>
                </a:lnTo>
                <a:lnTo>
                  <a:pt x="0" y="3357300"/>
                </a:lnTo>
                <a:lnTo>
                  <a:pt x="19049" y="3357300"/>
                </a:lnTo>
                <a:lnTo>
                  <a:pt x="19049" y="3414450"/>
                </a:lnTo>
                <a:close/>
              </a:path>
              <a:path w="8792210" h="8609330">
                <a:moveTo>
                  <a:pt x="19049" y="3338250"/>
                </a:moveTo>
                <a:lnTo>
                  <a:pt x="0" y="3338250"/>
                </a:lnTo>
                <a:lnTo>
                  <a:pt x="0" y="3281100"/>
                </a:lnTo>
                <a:lnTo>
                  <a:pt x="19049" y="3281100"/>
                </a:lnTo>
                <a:lnTo>
                  <a:pt x="19049" y="3338250"/>
                </a:lnTo>
                <a:close/>
              </a:path>
              <a:path w="8792210" h="8609330">
                <a:moveTo>
                  <a:pt x="19049" y="3262050"/>
                </a:moveTo>
                <a:lnTo>
                  <a:pt x="0" y="3262050"/>
                </a:lnTo>
                <a:lnTo>
                  <a:pt x="0" y="3204900"/>
                </a:lnTo>
                <a:lnTo>
                  <a:pt x="19049" y="3204900"/>
                </a:lnTo>
                <a:lnTo>
                  <a:pt x="19049" y="3262050"/>
                </a:lnTo>
                <a:close/>
              </a:path>
              <a:path w="8792210" h="8609330">
                <a:moveTo>
                  <a:pt x="19049" y="3185850"/>
                </a:moveTo>
                <a:lnTo>
                  <a:pt x="0" y="3185850"/>
                </a:lnTo>
                <a:lnTo>
                  <a:pt x="0" y="3128700"/>
                </a:lnTo>
                <a:lnTo>
                  <a:pt x="19049" y="3128700"/>
                </a:lnTo>
                <a:lnTo>
                  <a:pt x="19049" y="3185850"/>
                </a:lnTo>
                <a:close/>
              </a:path>
              <a:path w="8792210" h="8609330">
                <a:moveTo>
                  <a:pt x="19049" y="3109650"/>
                </a:moveTo>
                <a:lnTo>
                  <a:pt x="0" y="3109650"/>
                </a:lnTo>
                <a:lnTo>
                  <a:pt x="0" y="3052500"/>
                </a:lnTo>
                <a:lnTo>
                  <a:pt x="19049" y="3052500"/>
                </a:lnTo>
                <a:lnTo>
                  <a:pt x="19049" y="3109650"/>
                </a:lnTo>
                <a:close/>
              </a:path>
              <a:path w="8792210" h="8609330">
                <a:moveTo>
                  <a:pt x="19049" y="3033450"/>
                </a:moveTo>
                <a:lnTo>
                  <a:pt x="0" y="3033450"/>
                </a:lnTo>
                <a:lnTo>
                  <a:pt x="0" y="2976300"/>
                </a:lnTo>
                <a:lnTo>
                  <a:pt x="19049" y="2976300"/>
                </a:lnTo>
                <a:lnTo>
                  <a:pt x="19049" y="3033450"/>
                </a:lnTo>
                <a:close/>
              </a:path>
              <a:path w="8792210" h="8609330">
                <a:moveTo>
                  <a:pt x="19049" y="2957250"/>
                </a:moveTo>
                <a:lnTo>
                  <a:pt x="0" y="2957250"/>
                </a:lnTo>
                <a:lnTo>
                  <a:pt x="0" y="2900100"/>
                </a:lnTo>
                <a:lnTo>
                  <a:pt x="19049" y="2900100"/>
                </a:lnTo>
                <a:lnTo>
                  <a:pt x="19049" y="2957250"/>
                </a:lnTo>
                <a:close/>
              </a:path>
              <a:path w="8792210" h="8609330">
                <a:moveTo>
                  <a:pt x="19049" y="2881050"/>
                </a:moveTo>
                <a:lnTo>
                  <a:pt x="0" y="2881050"/>
                </a:lnTo>
                <a:lnTo>
                  <a:pt x="0" y="2823900"/>
                </a:lnTo>
                <a:lnTo>
                  <a:pt x="19049" y="2823900"/>
                </a:lnTo>
                <a:lnTo>
                  <a:pt x="19049" y="2881050"/>
                </a:lnTo>
                <a:close/>
              </a:path>
              <a:path w="8792210" h="8609330">
                <a:moveTo>
                  <a:pt x="19049" y="2804850"/>
                </a:moveTo>
                <a:lnTo>
                  <a:pt x="0" y="2804850"/>
                </a:lnTo>
                <a:lnTo>
                  <a:pt x="0" y="2747700"/>
                </a:lnTo>
                <a:lnTo>
                  <a:pt x="19049" y="2747700"/>
                </a:lnTo>
                <a:lnTo>
                  <a:pt x="19049" y="2804850"/>
                </a:lnTo>
                <a:close/>
              </a:path>
              <a:path w="8792210" h="8609330">
                <a:moveTo>
                  <a:pt x="19049" y="2728650"/>
                </a:moveTo>
                <a:lnTo>
                  <a:pt x="0" y="2728650"/>
                </a:lnTo>
                <a:lnTo>
                  <a:pt x="0" y="2671500"/>
                </a:lnTo>
                <a:lnTo>
                  <a:pt x="19049" y="2671500"/>
                </a:lnTo>
                <a:lnTo>
                  <a:pt x="19049" y="2728650"/>
                </a:lnTo>
                <a:close/>
              </a:path>
              <a:path w="8792210" h="8609330">
                <a:moveTo>
                  <a:pt x="19049" y="2652450"/>
                </a:moveTo>
                <a:lnTo>
                  <a:pt x="0" y="2652450"/>
                </a:lnTo>
                <a:lnTo>
                  <a:pt x="0" y="2595300"/>
                </a:lnTo>
                <a:lnTo>
                  <a:pt x="19049" y="2595300"/>
                </a:lnTo>
                <a:lnTo>
                  <a:pt x="19049" y="2652450"/>
                </a:lnTo>
                <a:close/>
              </a:path>
              <a:path w="8792210" h="8609330">
                <a:moveTo>
                  <a:pt x="19049" y="2576250"/>
                </a:moveTo>
                <a:lnTo>
                  <a:pt x="0" y="2576250"/>
                </a:lnTo>
                <a:lnTo>
                  <a:pt x="0" y="2519100"/>
                </a:lnTo>
                <a:lnTo>
                  <a:pt x="19049" y="2519100"/>
                </a:lnTo>
                <a:lnTo>
                  <a:pt x="19049" y="2576250"/>
                </a:lnTo>
                <a:close/>
              </a:path>
              <a:path w="8792210" h="8609330">
                <a:moveTo>
                  <a:pt x="19049" y="2500050"/>
                </a:moveTo>
                <a:lnTo>
                  <a:pt x="0" y="2500050"/>
                </a:lnTo>
                <a:lnTo>
                  <a:pt x="0" y="2442900"/>
                </a:lnTo>
                <a:lnTo>
                  <a:pt x="19049" y="2442900"/>
                </a:lnTo>
                <a:lnTo>
                  <a:pt x="19049" y="2500050"/>
                </a:lnTo>
                <a:close/>
              </a:path>
              <a:path w="8792210" h="8609330">
                <a:moveTo>
                  <a:pt x="19049" y="2423850"/>
                </a:moveTo>
                <a:lnTo>
                  <a:pt x="0" y="2423850"/>
                </a:lnTo>
                <a:lnTo>
                  <a:pt x="0" y="2366700"/>
                </a:lnTo>
                <a:lnTo>
                  <a:pt x="19049" y="2366700"/>
                </a:lnTo>
                <a:lnTo>
                  <a:pt x="19049" y="2423850"/>
                </a:lnTo>
                <a:close/>
              </a:path>
              <a:path w="8792210" h="8609330">
                <a:moveTo>
                  <a:pt x="19049" y="2347650"/>
                </a:moveTo>
                <a:lnTo>
                  <a:pt x="0" y="2347650"/>
                </a:lnTo>
                <a:lnTo>
                  <a:pt x="0" y="2290500"/>
                </a:lnTo>
                <a:lnTo>
                  <a:pt x="19049" y="2290500"/>
                </a:lnTo>
                <a:lnTo>
                  <a:pt x="19049" y="2347650"/>
                </a:lnTo>
                <a:close/>
              </a:path>
              <a:path w="8792210" h="8609330">
                <a:moveTo>
                  <a:pt x="19049" y="2271450"/>
                </a:moveTo>
                <a:lnTo>
                  <a:pt x="0" y="2271450"/>
                </a:lnTo>
                <a:lnTo>
                  <a:pt x="0" y="2214300"/>
                </a:lnTo>
                <a:lnTo>
                  <a:pt x="19049" y="2214300"/>
                </a:lnTo>
                <a:lnTo>
                  <a:pt x="19049" y="2271450"/>
                </a:lnTo>
                <a:close/>
              </a:path>
              <a:path w="8792210" h="8609330">
                <a:moveTo>
                  <a:pt x="19049" y="2195250"/>
                </a:moveTo>
                <a:lnTo>
                  <a:pt x="0" y="2195250"/>
                </a:lnTo>
                <a:lnTo>
                  <a:pt x="0" y="2138100"/>
                </a:lnTo>
                <a:lnTo>
                  <a:pt x="19049" y="2138100"/>
                </a:lnTo>
                <a:lnTo>
                  <a:pt x="19049" y="2195250"/>
                </a:lnTo>
                <a:close/>
              </a:path>
              <a:path w="8792210" h="8609330">
                <a:moveTo>
                  <a:pt x="19049" y="2119050"/>
                </a:moveTo>
                <a:lnTo>
                  <a:pt x="0" y="2119050"/>
                </a:lnTo>
                <a:lnTo>
                  <a:pt x="0" y="2061900"/>
                </a:lnTo>
                <a:lnTo>
                  <a:pt x="19049" y="2061900"/>
                </a:lnTo>
                <a:lnTo>
                  <a:pt x="19049" y="2119050"/>
                </a:lnTo>
                <a:close/>
              </a:path>
              <a:path w="8792210" h="8609330">
                <a:moveTo>
                  <a:pt x="19049" y="2042850"/>
                </a:moveTo>
                <a:lnTo>
                  <a:pt x="0" y="2042850"/>
                </a:lnTo>
                <a:lnTo>
                  <a:pt x="0" y="1985700"/>
                </a:lnTo>
                <a:lnTo>
                  <a:pt x="19049" y="1985700"/>
                </a:lnTo>
                <a:lnTo>
                  <a:pt x="19049" y="2042850"/>
                </a:lnTo>
                <a:close/>
              </a:path>
              <a:path w="8792210" h="8609330">
                <a:moveTo>
                  <a:pt x="19049" y="1966650"/>
                </a:moveTo>
                <a:lnTo>
                  <a:pt x="0" y="1966650"/>
                </a:lnTo>
                <a:lnTo>
                  <a:pt x="0" y="1909500"/>
                </a:lnTo>
                <a:lnTo>
                  <a:pt x="19049" y="1909500"/>
                </a:lnTo>
                <a:lnTo>
                  <a:pt x="19049" y="1966650"/>
                </a:lnTo>
                <a:close/>
              </a:path>
              <a:path w="8792210" h="8609330">
                <a:moveTo>
                  <a:pt x="19049" y="1890450"/>
                </a:moveTo>
                <a:lnTo>
                  <a:pt x="0" y="1890450"/>
                </a:lnTo>
                <a:lnTo>
                  <a:pt x="0" y="1833300"/>
                </a:lnTo>
                <a:lnTo>
                  <a:pt x="19049" y="1833300"/>
                </a:lnTo>
                <a:lnTo>
                  <a:pt x="19049" y="1890450"/>
                </a:lnTo>
                <a:close/>
              </a:path>
              <a:path w="8792210" h="8609330">
                <a:moveTo>
                  <a:pt x="19049" y="1814250"/>
                </a:moveTo>
                <a:lnTo>
                  <a:pt x="0" y="1814250"/>
                </a:lnTo>
                <a:lnTo>
                  <a:pt x="0" y="1757100"/>
                </a:lnTo>
                <a:lnTo>
                  <a:pt x="19049" y="1757100"/>
                </a:lnTo>
                <a:lnTo>
                  <a:pt x="19049" y="1814250"/>
                </a:lnTo>
                <a:close/>
              </a:path>
              <a:path w="8792210" h="8609330">
                <a:moveTo>
                  <a:pt x="19049" y="1738050"/>
                </a:moveTo>
                <a:lnTo>
                  <a:pt x="0" y="1738050"/>
                </a:lnTo>
                <a:lnTo>
                  <a:pt x="0" y="1680900"/>
                </a:lnTo>
                <a:lnTo>
                  <a:pt x="19049" y="1680900"/>
                </a:lnTo>
                <a:lnTo>
                  <a:pt x="19049" y="1738050"/>
                </a:lnTo>
                <a:close/>
              </a:path>
              <a:path w="8792210" h="8609330">
                <a:moveTo>
                  <a:pt x="19049" y="1661850"/>
                </a:moveTo>
                <a:lnTo>
                  <a:pt x="0" y="1661850"/>
                </a:lnTo>
                <a:lnTo>
                  <a:pt x="0" y="1604700"/>
                </a:lnTo>
                <a:lnTo>
                  <a:pt x="19049" y="1604700"/>
                </a:lnTo>
                <a:lnTo>
                  <a:pt x="19049" y="1661850"/>
                </a:lnTo>
                <a:close/>
              </a:path>
              <a:path w="8792210" h="8609330">
                <a:moveTo>
                  <a:pt x="19049" y="1585650"/>
                </a:moveTo>
                <a:lnTo>
                  <a:pt x="0" y="1585650"/>
                </a:lnTo>
                <a:lnTo>
                  <a:pt x="0" y="1528500"/>
                </a:lnTo>
                <a:lnTo>
                  <a:pt x="19049" y="1528500"/>
                </a:lnTo>
                <a:lnTo>
                  <a:pt x="19049" y="1585650"/>
                </a:lnTo>
                <a:close/>
              </a:path>
              <a:path w="8792210" h="8609330">
                <a:moveTo>
                  <a:pt x="19049" y="1509450"/>
                </a:moveTo>
                <a:lnTo>
                  <a:pt x="0" y="1509450"/>
                </a:lnTo>
                <a:lnTo>
                  <a:pt x="0" y="1452300"/>
                </a:lnTo>
                <a:lnTo>
                  <a:pt x="19049" y="1452300"/>
                </a:lnTo>
                <a:lnTo>
                  <a:pt x="19049" y="1509450"/>
                </a:lnTo>
                <a:close/>
              </a:path>
              <a:path w="8792210" h="8609330">
                <a:moveTo>
                  <a:pt x="19049" y="1433250"/>
                </a:moveTo>
                <a:lnTo>
                  <a:pt x="0" y="1433250"/>
                </a:lnTo>
                <a:lnTo>
                  <a:pt x="0" y="1376100"/>
                </a:lnTo>
                <a:lnTo>
                  <a:pt x="19049" y="1376100"/>
                </a:lnTo>
                <a:lnTo>
                  <a:pt x="19049" y="1433250"/>
                </a:lnTo>
                <a:close/>
              </a:path>
              <a:path w="8792210" h="8609330">
                <a:moveTo>
                  <a:pt x="19049" y="1357050"/>
                </a:moveTo>
                <a:lnTo>
                  <a:pt x="0" y="1357050"/>
                </a:lnTo>
                <a:lnTo>
                  <a:pt x="0" y="1299900"/>
                </a:lnTo>
                <a:lnTo>
                  <a:pt x="19049" y="1299900"/>
                </a:lnTo>
                <a:lnTo>
                  <a:pt x="19049" y="1357050"/>
                </a:lnTo>
                <a:close/>
              </a:path>
              <a:path w="8792210" h="8609330">
                <a:moveTo>
                  <a:pt x="19049" y="1280850"/>
                </a:moveTo>
                <a:lnTo>
                  <a:pt x="0" y="1280850"/>
                </a:lnTo>
                <a:lnTo>
                  <a:pt x="0" y="1223700"/>
                </a:lnTo>
                <a:lnTo>
                  <a:pt x="19049" y="1223700"/>
                </a:lnTo>
                <a:lnTo>
                  <a:pt x="19049" y="1280850"/>
                </a:lnTo>
                <a:close/>
              </a:path>
              <a:path w="8792210" h="8609330">
                <a:moveTo>
                  <a:pt x="19049" y="1204650"/>
                </a:moveTo>
                <a:lnTo>
                  <a:pt x="0" y="1204650"/>
                </a:lnTo>
                <a:lnTo>
                  <a:pt x="0" y="1147500"/>
                </a:lnTo>
                <a:lnTo>
                  <a:pt x="19049" y="1147500"/>
                </a:lnTo>
                <a:lnTo>
                  <a:pt x="19049" y="1204650"/>
                </a:lnTo>
                <a:close/>
              </a:path>
              <a:path w="8792210" h="8609330">
                <a:moveTo>
                  <a:pt x="19049" y="1128450"/>
                </a:moveTo>
                <a:lnTo>
                  <a:pt x="0" y="1128450"/>
                </a:lnTo>
                <a:lnTo>
                  <a:pt x="0" y="1071300"/>
                </a:lnTo>
                <a:lnTo>
                  <a:pt x="19049" y="1071300"/>
                </a:lnTo>
                <a:lnTo>
                  <a:pt x="19049" y="1128450"/>
                </a:lnTo>
                <a:close/>
              </a:path>
              <a:path w="8792210" h="8609330">
                <a:moveTo>
                  <a:pt x="19049" y="1052250"/>
                </a:moveTo>
                <a:lnTo>
                  <a:pt x="0" y="1052250"/>
                </a:lnTo>
                <a:lnTo>
                  <a:pt x="0" y="995100"/>
                </a:lnTo>
                <a:lnTo>
                  <a:pt x="19049" y="995100"/>
                </a:lnTo>
                <a:lnTo>
                  <a:pt x="19049" y="1052250"/>
                </a:lnTo>
                <a:close/>
              </a:path>
              <a:path w="8792210" h="8609330">
                <a:moveTo>
                  <a:pt x="19049" y="976050"/>
                </a:moveTo>
                <a:lnTo>
                  <a:pt x="0" y="976050"/>
                </a:lnTo>
                <a:lnTo>
                  <a:pt x="0" y="918900"/>
                </a:lnTo>
                <a:lnTo>
                  <a:pt x="19049" y="918900"/>
                </a:lnTo>
                <a:lnTo>
                  <a:pt x="19049" y="976050"/>
                </a:lnTo>
                <a:close/>
              </a:path>
              <a:path w="8792210" h="8609330">
                <a:moveTo>
                  <a:pt x="19049" y="899850"/>
                </a:moveTo>
                <a:lnTo>
                  <a:pt x="0" y="899850"/>
                </a:lnTo>
                <a:lnTo>
                  <a:pt x="0" y="842700"/>
                </a:lnTo>
                <a:lnTo>
                  <a:pt x="19049" y="842700"/>
                </a:lnTo>
                <a:lnTo>
                  <a:pt x="19049" y="899850"/>
                </a:lnTo>
                <a:close/>
              </a:path>
              <a:path w="8792210" h="8609330">
                <a:moveTo>
                  <a:pt x="19049" y="823650"/>
                </a:moveTo>
                <a:lnTo>
                  <a:pt x="0" y="823650"/>
                </a:lnTo>
                <a:lnTo>
                  <a:pt x="0" y="766500"/>
                </a:lnTo>
                <a:lnTo>
                  <a:pt x="19049" y="766500"/>
                </a:lnTo>
                <a:lnTo>
                  <a:pt x="19049" y="823650"/>
                </a:lnTo>
                <a:close/>
              </a:path>
              <a:path w="8792210" h="8609330">
                <a:moveTo>
                  <a:pt x="19049" y="747450"/>
                </a:moveTo>
                <a:lnTo>
                  <a:pt x="0" y="747450"/>
                </a:lnTo>
                <a:lnTo>
                  <a:pt x="0" y="690300"/>
                </a:lnTo>
                <a:lnTo>
                  <a:pt x="19049" y="690300"/>
                </a:lnTo>
                <a:lnTo>
                  <a:pt x="19049" y="747450"/>
                </a:lnTo>
                <a:close/>
              </a:path>
              <a:path w="8792210" h="8609330">
                <a:moveTo>
                  <a:pt x="19049" y="671250"/>
                </a:moveTo>
                <a:lnTo>
                  <a:pt x="0" y="671250"/>
                </a:lnTo>
                <a:lnTo>
                  <a:pt x="0" y="614100"/>
                </a:lnTo>
                <a:lnTo>
                  <a:pt x="19049" y="614100"/>
                </a:lnTo>
                <a:lnTo>
                  <a:pt x="19049" y="671250"/>
                </a:lnTo>
                <a:close/>
              </a:path>
              <a:path w="8792210" h="8609330">
                <a:moveTo>
                  <a:pt x="19049" y="595050"/>
                </a:moveTo>
                <a:lnTo>
                  <a:pt x="0" y="595050"/>
                </a:lnTo>
                <a:lnTo>
                  <a:pt x="0" y="537900"/>
                </a:lnTo>
                <a:lnTo>
                  <a:pt x="19049" y="537900"/>
                </a:lnTo>
                <a:lnTo>
                  <a:pt x="19049" y="595050"/>
                </a:lnTo>
                <a:close/>
              </a:path>
              <a:path w="8792210" h="8609330">
                <a:moveTo>
                  <a:pt x="19049" y="518850"/>
                </a:moveTo>
                <a:lnTo>
                  <a:pt x="0" y="518850"/>
                </a:lnTo>
                <a:lnTo>
                  <a:pt x="0" y="461700"/>
                </a:lnTo>
                <a:lnTo>
                  <a:pt x="19049" y="461700"/>
                </a:lnTo>
                <a:lnTo>
                  <a:pt x="19049" y="518850"/>
                </a:lnTo>
                <a:close/>
              </a:path>
              <a:path w="8792210" h="8609330">
                <a:moveTo>
                  <a:pt x="19049" y="442650"/>
                </a:moveTo>
                <a:lnTo>
                  <a:pt x="0" y="442650"/>
                </a:lnTo>
                <a:lnTo>
                  <a:pt x="0" y="385500"/>
                </a:lnTo>
                <a:lnTo>
                  <a:pt x="19049" y="385500"/>
                </a:lnTo>
                <a:lnTo>
                  <a:pt x="19049" y="442650"/>
                </a:lnTo>
                <a:close/>
              </a:path>
              <a:path w="8792210" h="8609330">
                <a:moveTo>
                  <a:pt x="19049" y="366450"/>
                </a:moveTo>
                <a:lnTo>
                  <a:pt x="0" y="366450"/>
                </a:lnTo>
                <a:lnTo>
                  <a:pt x="0" y="309300"/>
                </a:lnTo>
                <a:lnTo>
                  <a:pt x="19049" y="309300"/>
                </a:lnTo>
                <a:lnTo>
                  <a:pt x="19049" y="366450"/>
                </a:lnTo>
                <a:close/>
              </a:path>
              <a:path w="8792210" h="8609330">
                <a:moveTo>
                  <a:pt x="19049" y="290250"/>
                </a:moveTo>
                <a:lnTo>
                  <a:pt x="0" y="290250"/>
                </a:lnTo>
                <a:lnTo>
                  <a:pt x="0" y="233100"/>
                </a:lnTo>
                <a:lnTo>
                  <a:pt x="19049" y="233100"/>
                </a:lnTo>
                <a:lnTo>
                  <a:pt x="19049" y="290250"/>
                </a:lnTo>
                <a:close/>
              </a:path>
              <a:path w="8792210" h="8609330">
                <a:moveTo>
                  <a:pt x="19049" y="214050"/>
                </a:moveTo>
                <a:lnTo>
                  <a:pt x="0" y="214050"/>
                </a:lnTo>
                <a:lnTo>
                  <a:pt x="0" y="156900"/>
                </a:lnTo>
                <a:lnTo>
                  <a:pt x="19049" y="156900"/>
                </a:lnTo>
                <a:lnTo>
                  <a:pt x="19049" y="214050"/>
                </a:lnTo>
                <a:close/>
              </a:path>
              <a:path w="8792210" h="8609330">
                <a:moveTo>
                  <a:pt x="19049" y="137850"/>
                </a:moveTo>
                <a:lnTo>
                  <a:pt x="0" y="137850"/>
                </a:lnTo>
                <a:lnTo>
                  <a:pt x="0" y="95249"/>
                </a:lnTo>
                <a:lnTo>
                  <a:pt x="1447" y="80623"/>
                </a:lnTo>
                <a:lnTo>
                  <a:pt x="19961" y="83513"/>
                </a:lnTo>
                <a:lnTo>
                  <a:pt x="19353" y="87406"/>
                </a:lnTo>
                <a:lnTo>
                  <a:pt x="19049" y="91324"/>
                </a:lnTo>
                <a:lnTo>
                  <a:pt x="19049" y="137850"/>
                </a:lnTo>
                <a:close/>
              </a:path>
              <a:path w="8792210" h="8609330">
                <a:moveTo>
                  <a:pt x="23812" y="68750"/>
                </a:moveTo>
                <a:lnTo>
                  <a:pt x="6211" y="62216"/>
                </a:lnTo>
                <a:lnTo>
                  <a:pt x="7250" y="58799"/>
                </a:lnTo>
                <a:lnTo>
                  <a:pt x="16002" y="42405"/>
                </a:lnTo>
                <a:lnTo>
                  <a:pt x="27897" y="27898"/>
                </a:lnTo>
                <a:lnTo>
                  <a:pt x="40723" y="17381"/>
                </a:lnTo>
                <a:lnTo>
                  <a:pt x="51548" y="32844"/>
                </a:lnTo>
                <a:lnTo>
                  <a:pt x="47907" y="35393"/>
                </a:lnTo>
                <a:lnTo>
                  <a:pt x="44513" y="38240"/>
                </a:lnTo>
                <a:lnTo>
                  <a:pt x="41368" y="41386"/>
                </a:lnTo>
                <a:lnTo>
                  <a:pt x="35859" y="47508"/>
                </a:lnTo>
                <a:lnTo>
                  <a:pt x="31096" y="54109"/>
                </a:lnTo>
                <a:lnTo>
                  <a:pt x="27081" y="61190"/>
                </a:lnTo>
                <a:lnTo>
                  <a:pt x="23812" y="68750"/>
                </a:lnTo>
                <a:close/>
              </a:path>
              <a:path w="8792210" h="8609330">
                <a:moveTo>
                  <a:pt x="64852" y="25393"/>
                </a:moveTo>
                <a:lnTo>
                  <a:pt x="57306" y="8047"/>
                </a:lnTo>
                <a:lnTo>
                  <a:pt x="58799" y="7250"/>
                </a:lnTo>
                <a:lnTo>
                  <a:pt x="76580" y="1847"/>
                </a:lnTo>
                <a:lnTo>
                  <a:pt x="95249" y="0"/>
                </a:lnTo>
                <a:lnTo>
                  <a:pt x="152399" y="0"/>
                </a:lnTo>
                <a:lnTo>
                  <a:pt x="152399" y="19068"/>
                </a:lnTo>
                <a:lnTo>
                  <a:pt x="95249" y="19068"/>
                </a:lnTo>
                <a:lnTo>
                  <a:pt x="87403" y="19463"/>
                </a:lnTo>
                <a:lnTo>
                  <a:pt x="79721" y="20649"/>
                </a:lnTo>
                <a:lnTo>
                  <a:pt x="72204" y="22626"/>
                </a:lnTo>
                <a:lnTo>
                  <a:pt x="64852" y="25393"/>
                </a:lnTo>
                <a:close/>
              </a:path>
            </a:pathLst>
          </a:custGeom>
          <a:solidFill>
            <a:srgbClr val="A666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2006529" y="412949"/>
            <a:ext cx="2655170" cy="414994"/>
          </a:xfrm>
          <a:custGeom>
            <a:avLst/>
            <a:gdLst/>
            <a:ahLst/>
            <a:cxnLst/>
            <a:rect l="l" t="t" r="r" b="b"/>
            <a:pathLst>
              <a:path w="1840864" h="454659">
                <a:moveTo>
                  <a:pt x="1726573" y="454659"/>
                </a:moveTo>
                <a:lnTo>
                  <a:pt x="113664" y="454659"/>
                </a:lnTo>
                <a:lnTo>
                  <a:pt x="69421" y="445727"/>
                </a:lnTo>
                <a:lnTo>
                  <a:pt x="33291" y="421367"/>
                </a:lnTo>
                <a:lnTo>
                  <a:pt x="8932" y="385238"/>
                </a:lnTo>
                <a:lnTo>
                  <a:pt x="0" y="340994"/>
                </a:lnTo>
                <a:lnTo>
                  <a:pt x="0" y="113664"/>
                </a:lnTo>
                <a:lnTo>
                  <a:pt x="8932" y="69421"/>
                </a:lnTo>
                <a:lnTo>
                  <a:pt x="33291" y="33291"/>
                </a:lnTo>
                <a:lnTo>
                  <a:pt x="69421" y="8932"/>
                </a:lnTo>
                <a:lnTo>
                  <a:pt x="113664" y="0"/>
                </a:lnTo>
                <a:lnTo>
                  <a:pt x="1726573" y="0"/>
                </a:lnTo>
                <a:lnTo>
                  <a:pt x="1770071" y="8652"/>
                </a:lnTo>
                <a:lnTo>
                  <a:pt x="1806947" y="33291"/>
                </a:lnTo>
                <a:lnTo>
                  <a:pt x="1831586" y="70167"/>
                </a:lnTo>
                <a:lnTo>
                  <a:pt x="1840238" y="113664"/>
                </a:lnTo>
                <a:lnTo>
                  <a:pt x="1840238" y="340994"/>
                </a:lnTo>
                <a:lnTo>
                  <a:pt x="1831586" y="384492"/>
                </a:lnTo>
                <a:lnTo>
                  <a:pt x="1806947" y="421367"/>
                </a:lnTo>
                <a:lnTo>
                  <a:pt x="1770071" y="446007"/>
                </a:lnTo>
                <a:lnTo>
                  <a:pt x="1726573" y="454659"/>
                </a:lnTo>
                <a:close/>
              </a:path>
            </a:pathLst>
          </a:cu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83" name="object 83"/>
          <p:cNvSpPr/>
          <p:nvPr/>
        </p:nvSpPr>
        <p:spPr>
          <a:xfrm>
            <a:off x="8045572" y="413416"/>
            <a:ext cx="2721182" cy="383636"/>
          </a:xfrm>
          <a:custGeom>
            <a:avLst/>
            <a:gdLst/>
            <a:ahLst/>
            <a:cxnLst/>
            <a:rect l="l" t="t" r="r" b="b"/>
            <a:pathLst>
              <a:path w="2070100" h="454659">
                <a:moveTo>
                  <a:pt x="1956364" y="454659"/>
                </a:moveTo>
                <a:lnTo>
                  <a:pt x="113664" y="454659"/>
                </a:lnTo>
                <a:lnTo>
                  <a:pt x="69421" y="445727"/>
                </a:lnTo>
                <a:lnTo>
                  <a:pt x="33291" y="421367"/>
                </a:lnTo>
                <a:lnTo>
                  <a:pt x="8932" y="385238"/>
                </a:lnTo>
                <a:lnTo>
                  <a:pt x="0" y="340994"/>
                </a:lnTo>
                <a:lnTo>
                  <a:pt x="0" y="113664"/>
                </a:lnTo>
                <a:lnTo>
                  <a:pt x="8932" y="69421"/>
                </a:lnTo>
                <a:lnTo>
                  <a:pt x="33291" y="33291"/>
                </a:lnTo>
                <a:lnTo>
                  <a:pt x="69421" y="8932"/>
                </a:lnTo>
                <a:lnTo>
                  <a:pt x="113664" y="0"/>
                </a:lnTo>
                <a:lnTo>
                  <a:pt x="1956364" y="0"/>
                </a:lnTo>
                <a:lnTo>
                  <a:pt x="1999862" y="8652"/>
                </a:lnTo>
                <a:lnTo>
                  <a:pt x="2036737" y="33291"/>
                </a:lnTo>
                <a:lnTo>
                  <a:pt x="2061377" y="70167"/>
                </a:lnTo>
                <a:lnTo>
                  <a:pt x="2070029" y="113664"/>
                </a:lnTo>
                <a:lnTo>
                  <a:pt x="2070029" y="340994"/>
                </a:lnTo>
                <a:lnTo>
                  <a:pt x="2061377" y="384492"/>
                </a:lnTo>
                <a:lnTo>
                  <a:pt x="2036737" y="421367"/>
                </a:lnTo>
                <a:lnTo>
                  <a:pt x="1999862" y="446007"/>
                </a:lnTo>
                <a:lnTo>
                  <a:pt x="1956364" y="454659"/>
                </a:lnTo>
                <a:close/>
              </a:path>
            </a:pathLst>
          </a:custGeom>
          <a:ln>
            <a:headEnd type="none" w="med" len="med"/>
            <a:tailEnd type="none" w="med" len="med"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4" name="object 84"/>
          <p:cNvSpPr txBox="1"/>
          <p:nvPr/>
        </p:nvSpPr>
        <p:spPr>
          <a:xfrm>
            <a:off x="8355235" y="446053"/>
            <a:ext cx="1766993" cy="316326"/>
          </a:xfrm>
          <a:prstGeom prst="rect">
            <a:avLst/>
          </a:prstGeom>
        </p:spPr>
        <p:txBody>
          <a:bodyPr vert="horz" wrap="square" lIns="0" tIns="8467" rIns="0" bIns="0" rtlCol="0">
            <a:spAutoFit/>
          </a:bodyPr>
          <a:lstStyle/>
          <a:p>
            <a:pPr marL="292961" algn="ctr">
              <a:spcBef>
                <a:spcPts val="67"/>
              </a:spcBef>
            </a:pPr>
            <a:r>
              <a:rPr sz="2000" b="1" spc="90" dirty="0">
                <a:solidFill>
                  <a:srgbClr val="FFFFFF"/>
                </a:solidFill>
                <a:latin typeface="+mj-lt"/>
                <a:cs typeface="Tahoma"/>
              </a:rPr>
              <a:t>CHALLENGES</a:t>
            </a:r>
            <a:endParaRPr sz="2000" b="1" dirty="0">
              <a:latin typeface="+mj-lt"/>
              <a:cs typeface="Tahoma"/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954D055E-F451-49C5-0761-316710110170}"/>
              </a:ext>
            </a:extLst>
          </p:cNvPr>
          <p:cNvSpPr txBox="1"/>
          <p:nvPr/>
        </p:nvSpPr>
        <p:spPr>
          <a:xfrm>
            <a:off x="6633729" y="1099791"/>
            <a:ext cx="2823686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AI Hallucination &amp; False Positives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95D4B911-0CAF-70E3-E145-92E1F7495AA3}"/>
              </a:ext>
            </a:extLst>
          </p:cNvPr>
          <p:cNvSpPr txBox="1"/>
          <p:nvPr/>
        </p:nvSpPr>
        <p:spPr>
          <a:xfrm>
            <a:off x="6553490" y="1410378"/>
            <a:ext cx="2924175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dirty="0">
                <a:solidFill>
                  <a:schemeClr val="accent2">
                    <a:lumMod val="50000"/>
                  </a:schemeClr>
                </a:solidFill>
                <a:latin typeface="+mj-lt"/>
              </a:rPr>
              <a:t>TECHNICAL MITIGATION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D6AAE1DA-558E-0CA6-2C03-097D2E27364B}"/>
              </a:ext>
            </a:extLst>
          </p:cNvPr>
          <p:cNvSpPr txBox="1"/>
          <p:nvPr/>
        </p:nvSpPr>
        <p:spPr>
          <a:xfrm>
            <a:off x="6524089" y="1614697"/>
            <a:ext cx="3070383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Deterministic</a:t>
            </a: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 Rule Engine</a:t>
            </a:r>
            <a:r>
              <a:rPr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 BRMS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856881EE-1111-6379-D8AF-44C4F844E550}"/>
              </a:ext>
            </a:extLst>
          </p:cNvPr>
          <p:cNvSpPr txBox="1"/>
          <p:nvPr/>
        </p:nvSpPr>
        <p:spPr>
          <a:xfrm>
            <a:off x="6398888" y="1919055"/>
            <a:ext cx="2924175" cy="527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350"/>
              </a:lnSpc>
            </a:pPr>
            <a:r>
              <a:rPr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Separation of AI extraction from hard</a:t>
            </a:r>
            <a:r>
              <a:rPr lang="en-U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 </a:t>
            </a:r>
            <a:r>
              <a:rPr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coded Python legal rules ensures 100% compliant, predictable outcomes.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864368B3-4AA8-5DC6-D30F-C3BFDE00CCB7}"/>
              </a:ext>
            </a:extLst>
          </p:cNvPr>
          <p:cNvSpPr txBox="1"/>
          <p:nvPr/>
        </p:nvSpPr>
        <p:spPr>
          <a:xfrm>
            <a:off x="6739015" y="3309174"/>
            <a:ext cx="3070383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Offline-First PWA Queue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D59939BA-4128-1142-3642-9160CE6E64AB}"/>
              </a:ext>
            </a:extLst>
          </p:cNvPr>
          <p:cNvSpPr txBox="1"/>
          <p:nvPr/>
        </p:nvSpPr>
        <p:spPr>
          <a:xfrm>
            <a:off x="6419021" y="3527314"/>
            <a:ext cx="2924175" cy="529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350"/>
              </a:lnSpc>
            </a:pPr>
            <a:r>
              <a:rPr sz="11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Utilizes Indexed DB storage with secure client UUIDs and robust auto-sync upon connection restoration</a:t>
            </a:r>
            <a:r>
              <a:rPr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Lato"/>
              </a:rPr>
              <a:t>.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9A7B6456-8CE4-CE7F-E43F-A92A80C09907}"/>
              </a:ext>
            </a:extLst>
          </p:cNvPr>
          <p:cNvSpPr txBox="1"/>
          <p:nvPr/>
        </p:nvSpPr>
        <p:spPr>
          <a:xfrm>
            <a:off x="6739015" y="2765764"/>
            <a:ext cx="2783681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Poor Field Connectivity</a:t>
            </a:r>
          </a:p>
        </p:txBody>
      </p:sp>
      <p:pic>
        <p:nvPicPr>
          <p:cNvPr id="159" name="Picture 158" descr="image.png">
            <a:extLst>
              <a:ext uri="{FF2B5EF4-FFF2-40B4-BE49-F238E27FC236}">
                <a16:creationId xmlns:a16="http://schemas.microsoft.com/office/drawing/2014/main" id="{552345EE-5B72-22AA-B2EC-D116342A6E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3143" y="2778127"/>
            <a:ext cx="278130" cy="218531"/>
          </a:xfrm>
          <a:prstGeom prst="rect">
            <a:avLst/>
          </a:prstGeom>
        </p:spPr>
      </p:pic>
      <p:sp>
        <p:nvSpPr>
          <p:cNvPr id="165" name="TextBox 164">
            <a:extLst>
              <a:ext uri="{FF2B5EF4-FFF2-40B4-BE49-F238E27FC236}">
                <a16:creationId xmlns:a16="http://schemas.microsoft.com/office/drawing/2014/main" id="{0BDC19B3-2CC5-94C3-ED96-59BD56BFE545}"/>
              </a:ext>
            </a:extLst>
          </p:cNvPr>
          <p:cNvSpPr txBox="1"/>
          <p:nvPr/>
        </p:nvSpPr>
        <p:spPr>
          <a:xfrm>
            <a:off x="6744429" y="3060256"/>
            <a:ext cx="2924175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dirty="0">
                <a:solidFill>
                  <a:schemeClr val="accent2">
                    <a:lumMod val="50000"/>
                  </a:schemeClr>
                </a:solidFill>
                <a:latin typeface="+mj-lt"/>
              </a:rPr>
              <a:t>TECHNICAL MITIGATION</a:t>
            </a:r>
          </a:p>
        </p:txBody>
      </p:sp>
      <p:sp>
        <p:nvSpPr>
          <p:cNvPr id="169" name="object 159">
            <a:extLst>
              <a:ext uri="{FF2B5EF4-FFF2-40B4-BE49-F238E27FC236}">
                <a16:creationId xmlns:a16="http://schemas.microsoft.com/office/drawing/2014/main" id="{77F0416F-3F48-F66F-154C-3409BD4A7F51}"/>
              </a:ext>
            </a:extLst>
          </p:cNvPr>
          <p:cNvSpPr/>
          <p:nvPr/>
        </p:nvSpPr>
        <p:spPr>
          <a:xfrm>
            <a:off x="9606268" y="1126685"/>
            <a:ext cx="2142493" cy="4686690"/>
          </a:xfrm>
          <a:custGeom>
            <a:avLst/>
            <a:gdLst/>
            <a:ahLst/>
            <a:cxnLst/>
            <a:rect l="l" t="t" r="r" b="b"/>
            <a:pathLst>
              <a:path w="3804284" h="1358900">
                <a:moveTo>
                  <a:pt x="3661310" y="1358702"/>
                </a:moveTo>
                <a:lnTo>
                  <a:pt x="142874" y="1358702"/>
                </a:lnTo>
                <a:lnTo>
                  <a:pt x="97715" y="1351419"/>
                </a:lnTo>
                <a:lnTo>
                  <a:pt x="58495" y="1331136"/>
                </a:lnTo>
                <a:lnTo>
                  <a:pt x="27566" y="1300208"/>
                </a:lnTo>
                <a:lnTo>
                  <a:pt x="7283" y="1260987"/>
                </a:lnTo>
                <a:lnTo>
                  <a:pt x="0" y="1215827"/>
                </a:lnTo>
                <a:lnTo>
                  <a:pt x="0" y="142874"/>
                </a:lnTo>
                <a:lnTo>
                  <a:pt x="7283" y="97715"/>
                </a:lnTo>
                <a:lnTo>
                  <a:pt x="27566" y="58494"/>
                </a:lnTo>
                <a:lnTo>
                  <a:pt x="58495" y="27566"/>
                </a:lnTo>
                <a:lnTo>
                  <a:pt x="97715" y="7283"/>
                </a:lnTo>
                <a:lnTo>
                  <a:pt x="142874" y="0"/>
                </a:lnTo>
                <a:lnTo>
                  <a:pt x="3661310" y="0"/>
                </a:lnTo>
                <a:lnTo>
                  <a:pt x="3706469" y="7283"/>
                </a:lnTo>
                <a:lnTo>
                  <a:pt x="3745689" y="27566"/>
                </a:lnTo>
                <a:lnTo>
                  <a:pt x="3776617" y="58494"/>
                </a:lnTo>
                <a:lnTo>
                  <a:pt x="3796899" y="97715"/>
                </a:lnTo>
                <a:lnTo>
                  <a:pt x="3804183" y="142874"/>
                </a:lnTo>
                <a:lnTo>
                  <a:pt x="3804183" y="1215827"/>
                </a:lnTo>
                <a:lnTo>
                  <a:pt x="3796899" y="1260987"/>
                </a:lnTo>
                <a:lnTo>
                  <a:pt x="3776617" y="1300208"/>
                </a:lnTo>
                <a:lnTo>
                  <a:pt x="3745689" y="1331136"/>
                </a:lnTo>
                <a:lnTo>
                  <a:pt x="3706469" y="1351419"/>
                </a:lnTo>
                <a:lnTo>
                  <a:pt x="3661310" y="1358702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accent4">
                <a:lumMod val="75000"/>
              </a:schemeClr>
            </a:solidFill>
            <a:prstDash val="dash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11561A55-3CB9-D0CC-66D9-311C3EA43F67}"/>
              </a:ext>
            </a:extLst>
          </p:cNvPr>
          <p:cNvSpPr txBox="1"/>
          <p:nvPr/>
        </p:nvSpPr>
        <p:spPr>
          <a:xfrm>
            <a:off x="6510381" y="4898195"/>
            <a:ext cx="3070383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Using reference ArUco Marker</a:t>
            </a:r>
            <a:endParaRPr sz="1200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</a:endParaRP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0E3512FC-BE43-90D9-FF16-5F6F75077E26}"/>
              </a:ext>
            </a:extLst>
          </p:cNvPr>
          <p:cNvSpPr txBox="1"/>
          <p:nvPr/>
        </p:nvSpPr>
        <p:spPr>
          <a:xfrm>
            <a:off x="6432186" y="5093067"/>
            <a:ext cx="2924175" cy="6924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9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Optical Metrology (PMM Calibration): OpenCV detects a 20mm ArUco Reference Marker. Calculates Pixels per mm (PMM). Divides text pixel height by PMM to check physical compliance in millimeters </a:t>
            </a:r>
          </a:p>
          <a:p>
            <a:pPr algn="just">
              <a:lnSpc>
                <a:spcPct val="100000"/>
              </a:lnSpc>
            </a:pPr>
            <a:r>
              <a:rPr lang="en-IN" sz="900" b="1" dirty="0">
                <a:latin typeface="+mj-lt"/>
              </a:rPr>
              <a:t>PMM=Wmarker_mm​/</a:t>
            </a:r>
            <a:r>
              <a:rPr lang="en-IN" sz="900" b="1" dirty="0" err="1">
                <a:latin typeface="+mj-lt"/>
              </a:rPr>
              <a:t>Wmarker_px</a:t>
            </a:r>
            <a:r>
              <a:rPr lang="en-IN" sz="900" b="1" dirty="0">
                <a:latin typeface="+mj-lt"/>
              </a:rPr>
              <a:t>​</a:t>
            </a:r>
            <a:endParaRPr sz="900" b="1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DD324CB6-0175-EE44-ED4F-A62CA46BB49D}"/>
              </a:ext>
            </a:extLst>
          </p:cNvPr>
          <p:cNvSpPr txBox="1"/>
          <p:nvPr/>
        </p:nvSpPr>
        <p:spPr>
          <a:xfrm>
            <a:off x="6531902" y="4313094"/>
            <a:ext cx="3116293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Extract Physical Measurements from image</a:t>
            </a:r>
            <a:endParaRPr sz="1400" b="1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29AF2DD5-C3FA-1B02-616B-533FD4BD3537}"/>
              </a:ext>
            </a:extLst>
          </p:cNvPr>
          <p:cNvSpPr txBox="1"/>
          <p:nvPr/>
        </p:nvSpPr>
        <p:spPr>
          <a:xfrm>
            <a:off x="6513913" y="4748404"/>
            <a:ext cx="2924175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dirty="0">
                <a:solidFill>
                  <a:schemeClr val="accent2">
                    <a:lumMod val="50000"/>
                  </a:schemeClr>
                </a:solidFill>
                <a:latin typeface="+mj-lt"/>
              </a:rPr>
              <a:t>TECHNICAL MITIGATION</a:t>
            </a: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D7CCCC88-707C-CE0F-B4C4-99CC8953C21E}"/>
              </a:ext>
            </a:extLst>
          </p:cNvPr>
          <p:cNvSpPr txBox="1"/>
          <p:nvPr/>
        </p:nvSpPr>
        <p:spPr>
          <a:xfrm>
            <a:off x="9717476" y="1863882"/>
            <a:ext cx="2114857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Redis In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 </a:t>
            </a:r>
            <a:r>
              <a:rPr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Memory Buffering</a:t>
            </a: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9A334443-1A27-DB2F-8669-936DF52AF4DD}"/>
              </a:ext>
            </a:extLst>
          </p:cNvPr>
          <p:cNvSpPr txBox="1"/>
          <p:nvPr/>
        </p:nvSpPr>
        <p:spPr>
          <a:xfrm>
            <a:off x="9736132" y="2117573"/>
            <a:ext cx="1924390" cy="7105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350"/>
              </a:lnSpc>
            </a:pPr>
            <a:r>
              <a:rPr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Leverages Fast API HTTP 202 async task dispatch to securely decouple request intake from intensive processing.</a:t>
            </a: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C8AF0E2C-9E0C-4C89-0F34-D3DA0EE7C0CF}"/>
              </a:ext>
            </a:extLst>
          </p:cNvPr>
          <p:cNvSpPr txBox="1"/>
          <p:nvPr/>
        </p:nvSpPr>
        <p:spPr>
          <a:xfrm>
            <a:off x="9951319" y="1633976"/>
            <a:ext cx="1492732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dirty="0">
                <a:solidFill>
                  <a:schemeClr val="accent2">
                    <a:lumMod val="50000"/>
                  </a:schemeClr>
                </a:solidFill>
                <a:latin typeface="+mj-lt"/>
              </a:rPr>
              <a:t>TECHNICAL MITIGATION</a:t>
            </a:r>
          </a:p>
        </p:txBody>
      </p:sp>
      <p:pic>
        <p:nvPicPr>
          <p:cNvPr id="221" name="Picture 220">
            <a:extLst>
              <a:ext uri="{FF2B5EF4-FFF2-40B4-BE49-F238E27FC236}">
                <a16:creationId xmlns:a16="http://schemas.microsoft.com/office/drawing/2014/main" id="{134B1835-0381-A792-1D18-B8BCC5112F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708810" y="1230967"/>
            <a:ext cx="298689" cy="298689"/>
          </a:xfrm>
          <a:prstGeom prst="rect">
            <a:avLst/>
          </a:prstGeom>
        </p:spPr>
      </p:pic>
      <p:sp>
        <p:nvSpPr>
          <p:cNvPr id="230" name="TextBox 229">
            <a:extLst>
              <a:ext uri="{FF2B5EF4-FFF2-40B4-BE49-F238E27FC236}">
                <a16:creationId xmlns:a16="http://schemas.microsoft.com/office/drawing/2014/main" id="{27A92B39-7C1A-5659-C993-69A77AF5F8A3}"/>
              </a:ext>
            </a:extLst>
          </p:cNvPr>
          <p:cNvSpPr txBox="1"/>
          <p:nvPr/>
        </p:nvSpPr>
        <p:spPr>
          <a:xfrm>
            <a:off x="10082096" y="1183896"/>
            <a:ext cx="1690257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High Server Load / Traffic Spikes</a:t>
            </a:r>
          </a:p>
        </p:txBody>
      </p:sp>
      <p:cxnSp>
        <p:nvCxnSpPr>
          <p:cNvPr id="232" name="Straight Connector 231">
            <a:extLst>
              <a:ext uri="{FF2B5EF4-FFF2-40B4-BE49-F238E27FC236}">
                <a16:creationId xmlns:a16="http://schemas.microsoft.com/office/drawing/2014/main" id="{B504DA07-B927-B2C3-0F94-64A85DC122D5}"/>
              </a:ext>
            </a:extLst>
          </p:cNvPr>
          <p:cNvCxnSpPr>
            <a:cxnSpLocks/>
          </p:cNvCxnSpPr>
          <p:nvPr/>
        </p:nvCxnSpPr>
        <p:spPr>
          <a:xfrm>
            <a:off x="9645919" y="2926041"/>
            <a:ext cx="2050172" cy="0"/>
          </a:xfrm>
          <a:prstGeom prst="line">
            <a:avLst/>
          </a:prstGeom>
          <a:ln w="635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37" name="Picture 236" descr="Artificial intelligence - Free computer icons">
            <a:extLst>
              <a:ext uri="{FF2B5EF4-FFF2-40B4-BE49-F238E27FC236}">
                <a16:creationId xmlns:a16="http://schemas.microsoft.com/office/drawing/2014/main" id="{498FA640-8F36-F5BE-01C9-4A36CB9B1C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8923" y="1095419"/>
            <a:ext cx="267245" cy="267245"/>
          </a:xfrm>
          <a:prstGeom prst="rect">
            <a:avLst/>
          </a:prstGeom>
        </p:spPr>
      </p:pic>
      <p:pic>
        <p:nvPicPr>
          <p:cNvPr id="264" name="Picture 263" descr="Infrastructure Icon by Flat Icons – download in PNG, SVG">
            <a:extLst>
              <a:ext uri="{FF2B5EF4-FFF2-40B4-BE49-F238E27FC236}">
                <a16:creationId xmlns:a16="http://schemas.microsoft.com/office/drawing/2014/main" id="{BFC36C9D-02CD-1B50-BEC6-6CC94DA89F4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2333" b="96500" l="9000" r="92500">
                        <a14:foregroundMark x1="9833" y1="26250" x2="9833" y2="26250"/>
                        <a14:foregroundMark x1="12750" y1="52250" x2="12750" y2="52250"/>
                        <a14:foregroundMark x1="90167" y1="49917" x2="90167" y2="49917"/>
                        <a14:foregroundMark x1="9083" y1="71250" x2="9083" y2="71250"/>
                        <a14:foregroundMark x1="49417" y1="90583" x2="49417" y2="90583"/>
                        <a14:foregroundMark x1="53417" y1="96583" x2="53417" y2="96583"/>
                        <a14:foregroundMark x1="92500" y1="28167" x2="92500" y2="28167"/>
                        <a14:foregroundMark x1="53417" y1="5417" x2="53417" y2="5417"/>
                        <a14:foregroundMark x1="49833" y1="2333" x2="49833" y2="2333"/>
                        <a14:foregroundMark x1="92500" y1="71417" x2="92500" y2="71417"/>
                        <a14:foregroundMark x1="59917" y1="48083" x2="59917" y2="48083"/>
                        <a14:foregroundMark x1="44000" y1="39583" x2="44000" y2="39583"/>
                        <a14:foregroundMark x1="44000" y1="39583" x2="44000" y2="3958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681356" y="3026027"/>
            <a:ext cx="308429" cy="308429"/>
          </a:xfrm>
          <a:prstGeom prst="rect">
            <a:avLst/>
          </a:prstGeom>
        </p:spPr>
      </p:pic>
      <p:sp>
        <p:nvSpPr>
          <p:cNvPr id="266" name="TextBox 265">
            <a:extLst>
              <a:ext uri="{FF2B5EF4-FFF2-40B4-BE49-F238E27FC236}">
                <a16:creationId xmlns:a16="http://schemas.microsoft.com/office/drawing/2014/main" id="{0B85A77D-9FFC-289F-8321-83EDCB8D2501}"/>
              </a:ext>
            </a:extLst>
          </p:cNvPr>
          <p:cNvSpPr txBox="1"/>
          <p:nvPr/>
        </p:nvSpPr>
        <p:spPr>
          <a:xfrm>
            <a:off x="9989783" y="2984039"/>
            <a:ext cx="178256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F395C"/>
                </a:solidFill>
                <a:latin typeface="Aptos"/>
              </a:defRPr>
            </a:pP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Integrating into Existing </a:t>
            </a:r>
          </a:p>
          <a:p>
            <a:pPr>
              <a:defRPr sz="2700" b="1">
                <a:solidFill>
                  <a:srgbClr val="1F395C"/>
                </a:solidFill>
                <a:latin typeface="Aptos"/>
              </a:defRPr>
            </a:pP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Infrastructure &amp;Ensuring </a:t>
            </a:r>
          </a:p>
          <a:p>
            <a:pPr>
              <a:defRPr sz="2700" b="1">
                <a:solidFill>
                  <a:srgbClr val="1F395C"/>
                </a:solidFill>
                <a:latin typeface="Aptos"/>
              </a:defRPr>
            </a:pP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Adoption</a:t>
            </a:r>
          </a:p>
        </p:txBody>
      </p:sp>
      <p:pic>
        <p:nvPicPr>
          <p:cNvPr id="267" name="Picture 266" descr="Regional language Icons, Logos, Symbols – Free Download PNG, SVG">
            <a:extLst>
              <a:ext uri="{FF2B5EF4-FFF2-40B4-BE49-F238E27FC236}">
                <a16:creationId xmlns:a16="http://schemas.microsoft.com/office/drawing/2014/main" id="{0FA855C5-28F3-C305-F866-37AF3467C23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10000" b="90000" l="10000" r="90000">
                        <a14:foregroundMark x1="30667" y1="33167" x2="30667" y2="33167"/>
                        <a14:foregroundMark x1="30000" y1="38917" x2="30000" y2="38917"/>
                        <a14:foregroundMark x1="29000" y1="38833" x2="29000" y2="38833"/>
                        <a14:foregroundMark x1="29000" y1="38833" x2="25667" y2="44500"/>
                        <a14:foregroundMark x1="25667" y1="44500" x2="30000" y2="38250"/>
                        <a14:foregroundMark x1="30000" y1="38250" x2="30250" y2="34583"/>
                        <a14:foregroundMark x1="72583" y1="34000" x2="59667" y2="32667"/>
                        <a14:foregroundMark x1="59667" y1="32667" x2="68500" y2="33333"/>
                        <a14:foregroundMark x1="68500" y1="33333" x2="68500" y2="33583"/>
                        <a14:foregroundMark x1="28417" y1="37833" x2="24250" y2="51917"/>
                        <a14:foregroundMark x1="24250" y1="51917" x2="27833" y2="41583"/>
                        <a14:foregroundMark x1="27833" y1="41583" x2="27833" y2="41083"/>
                        <a14:foregroundMark x1="32667" y1="32583" x2="41833" y2="54583"/>
                        <a14:foregroundMark x1="72000" y1="33000" x2="72000" y2="3300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660959" y="3829794"/>
            <a:ext cx="382612" cy="366617"/>
          </a:xfrm>
          <a:prstGeom prst="rect">
            <a:avLst/>
          </a:prstGeom>
        </p:spPr>
      </p:pic>
      <p:sp>
        <p:nvSpPr>
          <p:cNvPr id="269" name="TextBox 9">
            <a:extLst>
              <a:ext uri="{FF2B5EF4-FFF2-40B4-BE49-F238E27FC236}">
                <a16:creationId xmlns:a16="http://schemas.microsoft.com/office/drawing/2014/main" id="{BCB0CA08-4E3D-F014-9556-66624C51073C}"/>
              </a:ext>
            </a:extLst>
          </p:cNvPr>
          <p:cNvSpPr txBox="1"/>
          <p:nvPr/>
        </p:nvSpPr>
        <p:spPr>
          <a:xfrm>
            <a:off x="10082096" y="3887061"/>
            <a:ext cx="1507529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400" b="1">
                <a:solidFill>
                  <a:srgbClr val="1F395C"/>
                </a:solidFill>
                <a:latin typeface="Aptos"/>
              </a:defRPr>
            </a:pPr>
            <a:r>
              <a:rPr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1. Language Barriers</a:t>
            </a:r>
          </a:p>
        </p:txBody>
      </p:sp>
      <p:sp>
        <p:nvSpPr>
          <p:cNvPr id="270" name="TextBox 10">
            <a:extLst>
              <a:ext uri="{FF2B5EF4-FFF2-40B4-BE49-F238E27FC236}">
                <a16:creationId xmlns:a16="http://schemas.microsoft.com/office/drawing/2014/main" id="{CF0E483A-D25F-2374-7443-C8A2AA5F60B1}"/>
              </a:ext>
            </a:extLst>
          </p:cNvPr>
          <p:cNvSpPr txBox="1"/>
          <p:nvPr/>
        </p:nvSpPr>
        <p:spPr>
          <a:xfrm>
            <a:off x="9723861" y="4166044"/>
            <a:ext cx="1972229" cy="76944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defRPr sz="1800" b="0">
                <a:solidFill>
                  <a:srgbClr val="1F395C"/>
                </a:solidFill>
                <a:latin typeface="Aptos"/>
              </a:defRPr>
            </a:pPr>
            <a:r>
              <a:rPr sz="1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Multi-lingual support (Hindi + Regional </a:t>
            </a:r>
            <a:endParaRPr lang="en-US" sz="1000" b="1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  <a:p>
            <a:pPr algn="just">
              <a:defRPr sz="1800" b="0">
                <a:solidFill>
                  <a:srgbClr val="1F395C"/>
                </a:solidFill>
                <a:latin typeface="Aptos"/>
              </a:defRPr>
            </a:pPr>
            <a:r>
              <a:rPr sz="1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languages via Bhashini)</a:t>
            </a:r>
            <a:r>
              <a:rPr lang="en-US" sz="1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, • Local </a:t>
            </a:r>
          </a:p>
          <a:p>
            <a:pPr algn="just">
              <a:defRPr sz="1800" b="0">
                <a:solidFill>
                  <a:srgbClr val="1F395C"/>
                </a:solidFill>
                <a:latin typeface="Aptos"/>
              </a:defRPr>
            </a:pPr>
            <a:r>
              <a:rPr lang="en-US" sz="1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 UI for inspectors</a:t>
            </a:r>
          </a:p>
          <a:p>
            <a:pPr algn="just">
              <a:defRPr sz="1800" b="0">
                <a:solidFill>
                  <a:srgbClr val="1F395C"/>
                </a:solidFill>
                <a:latin typeface="Aptos"/>
              </a:defRPr>
            </a:pPr>
            <a:endParaRPr sz="900" b="1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  <p:sp>
        <p:nvSpPr>
          <p:cNvPr id="273" name="TextBox 272">
            <a:extLst>
              <a:ext uri="{FF2B5EF4-FFF2-40B4-BE49-F238E27FC236}">
                <a16:creationId xmlns:a16="http://schemas.microsoft.com/office/drawing/2014/main" id="{84996262-5A8D-8837-241C-05A5C9ED4CAE}"/>
              </a:ext>
            </a:extLst>
          </p:cNvPr>
          <p:cNvSpPr txBox="1"/>
          <p:nvPr/>
        </p:nvSpPr>
        <p:spPr>
          <a:xfrm>
            <a:off x="9736132" y="3620760"/>
            <a:ext cx="1707919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dirty="0">
                <a:solidFill>
                  <a:schemeClr val="accent2">
                    <a:lumMod val="50000"/>
                  </a:schemeClr>
                </a:solidFill>
                <a:latin typeface="+mj-lt"/>
              </a:rPr>
              <a:t>TECHNICAL MITIGATION</a:t>
            </a:r>
          </a:p>
        </p:txBody>
      </p:sp>
      <p:pic>
        <p:nvPicPr>
          <p:cNvPr id="274" name="Picture 273" descr="Compatibility Icons, Logos, Symbols – Free Download PNG, SVG">
            <a:extLst>
              <a:ext uri="{FF2B5EF4-FFF2-40B4-BE49-F238E27FC236}">
                <a16:creationId xmlns:a16="http://schemas.microsoft.com/office/drawing/2014/main" id="{A54CFD16-512E-3556-C0B7-D9A16154E6C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8083" b="90000" l="6917" r="94000">
                        <a14:foregroundMark x1="9083" y1="38500" x2="9083" y2="38500"/>
                        <a14:foregroundMark x1="30833" y1="9583" x2="30833" y2="9583"/>
                        <a14:foregroundMark x1="71333" y1="10083" x2="71333" y2="10083"/>
                        <a14:foregroundMark x1="72083" y1="8500" x2="72083" y2="8500"/>
                        <a14:foregroundMark x1="92000" y1="32167" x2="92000" y2="32167"/>
                        <a14:foregroundMark x1="94000" y1="64417" x2="94000" y2="64417"/>
                        <a14:foregroundMark x1="8917" y1="82083" x2="8917" y2="82083"/>
                        <a14:foregroundMark x1="7833" y1="82500" x2="7833" y2="82500"/>
                        <a14:foregroundMark x1="78917" y1="81750" x2="78917" y2="81750"/>
                        <a14:foregroundMark x1="70083" y1="77250" x2="70083" y2="77250"/>
                        <a14:foregroundMark x1="69750" y1="89000" x2="69750" y2="89000"/>
                        <a14:foregroundMark x1="6917" y1="33083" x2="6917" y2="33083"/>
                        <a14:foregroundMark x1="7667" y1="54833" x2="7667" y2="54833"/>
                        <a14:foregroundMark x1="7667" y1="54833" x2="6917" y2="54833"/>
                        <a14:foregroundMark x1="6917" y1="54833" x2="6917" y2="54833"/>
                        <a14:foregroundMark x1="28083" y1="8083" x2="28083" y2="808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667465" y="4773659"/>
            <a:ext cx="431609" cy="431609"/>
          </a:xfrm>
          <a:prstGeom prst="rect">
            <a:avLst/>
          </a:prstGeom>
        </p:spPr>
      </p:pic>
      <p:sp>
        <p:nvSpPr>
          <p:cNvPr id="276" name="TextBox 9">
            <a:extLst>
              <a:ext uri="{FF2B5EF4-FFF2-40B4-BE49-F238E27FC236}">
                <a16:creationId xmlns:a16="http://schemas.microsoft.com/office/drawing/2014/main" id="{8BB51417-A8B7-9C26-3E2E-7C9F91807694}"/>
              </a:ext>
            </a:extLst>
          </p:cNvPr>
          <p:cNvSpPr txBox="1"/>
          <p:nvPr/>
        </p:nvSpPr>
        <p:spPr>
          <a:xfrm>
            <a:off x="10169464" y="4892458"/>
            <a:ext cx="1506695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2400" b="1">
                <a:solidFill>
                  <a:srgbClr val="1F395C"/>
                </a:solidFill>
                <a:latin typeface="Aptos"/>
              </a:defRPr>
            </a:pPr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2. System Compatibility</a:t>
            </a:r>
          </a:p>
        </p:txBody>
      </p:sp>
      <p:sp>
        <p:nvSpPr>
          <p:cNvPr id="280" name="TextBox 279">
            <a:extLst>
              <a:ext uri="{FF2B5EF4-FFF2-40B4-BE49-F238E27FC236}">
                <a16:creationId xmlns:a16="http://schemas.microsoft.com/office/drawing/2014/main" id="{68A7C3D7-18BF-E190-12E9-DC3FC0F1DC8C}"/>
              </a:ext>
            </a:extLst>
          </p:cNvPr>
          <p:cNvSpPr txBox="1"/>
          <p:nvPr/>
        </p:nvSpPr>
        <p:spPr>
          <a:xfrm>
            <a:off x="9697577" y="5200361"/>
            <a:ext cx="2048491" cy="5078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0">
                <a:solidFill>
                  <a:srgbClr val="1F395C"/>
                </a:solidFill>
                <a:latin typeface="Aptos"/>
              </a:defRPr>
            </a:pPr>
            <a:r>
              <a:rPr sz="11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Works with existing devices and network conditions</a:t>
            </a:r>
            <a:r>
              <a:rPr lang="en-US" sz="11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 Cross platform support (Android/iOS/Web)</a:t>
            </a:r>
            <a:endParaRPr dirty="0"/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1F7AF527-435F-431F-72CC-D768F78D28CC}"/>
              </a:ext>
            </a:extLst>
          </p:cNvPr>
          <p:cNvSpPr/>
          <p:nvPr/>
        </p:nvSpPr>
        <p:spPr>
          <a:xfrm>
            <a:off x="34659" y="3948791"/>
            <a:ext cx="6011492" cy="922723"/>
          </a:xfrm>
          <a:prstGeom prst="roundRect">
            <a:avLst/>
          </a:prstGeom>
          <a:solidFill>
            <a:srgbClr val="FFF5E7"/>
          </a:solidFill>
          <a:ln w="11430">
            <a:solidFill>
              <a:srgbClr val="E68A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0" name="Oval 39" descr="Your startup LOGO">
            <a:extLst>
              <a:ext uri="{FF2B5EF4-FFF2-40B4-BE49-F238E27FC236}">
                <a16:creationId xmlns:a16="http://schemas.microsoft.com/office/drawing/2014/main" id="{6A7FF771-8F5C-7E0B-F2F2-B428817C27C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32233" y="8214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endParaRPr lang="en-US">
              <a:solidFill>
                <a:schemeClr val="tx1">
                  <a:lumMod val="95000"/>
                  <a:lumOff val="5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0328B82-CC0A-2E4A-A536-53B8F13725B9}"/>
              </a:ext>
            </a:extLst>
          </p:cNvPr>
          <p:cNvSpPr txBox="1"/>
          <p:nvPr/>
        </p:nvSpPr>
        <p:spPr>
          <a:xfrm>
            <a:off x="157401" y="89931"/>
            <a:ext cx="139794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Calibri"/>
                <a:cs typeface="Calibri"/>
              </a:rPr>
              <a:t>TEAM </a:t>
            </a: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Calibri"/>
              <a:cs typeface="Calibri" pitchFamily="34" charset="0"/>
            </a:endParaRPr>
          </a:p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Calibri"/>
                <a:cs typeface="Calibri"/>
              </a:rPr>
              <a:t>MEGATRON</a:t>
            </a: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Calibri"/>
              <a:cs typeface="Calibri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0F2DA04-FB36-74A7-8A2F-587FECCEE323}"/>
              </a:ext>
            </a:extLst>
          </p:cNvPr>
          <p:cNvSpPr txBox="1"/>
          <p:nvPr/>
        </p:nvSpPr>
        <p:spPr>
          <a:xfrm>
            <a:off x="2667923" y="415438"/>
            <a:ext cx="18004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spc="63" dirty="0">
                <a:solidFill>
                  <a:srgbClr val="FFFFFF"/>
                </a:solidFill>
                <a:latin typeface="+mj-lt"/>
                <a:cs typeface="Tahoma"/>
              </a:rPr>
              <a:t>FEASIBLITY</a:t>
            </a:r>
            <a:endParaRPr lang="en-IN" sz="2400" b="1" spc="63" dirty="0">
              <a:solidFill>
                <a:srgbClr val="FFFFFF"/>
              </a:solidFill>
              <a:latin typeface="+mj-lt"/>
              <a:cs typeface="Tahoma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6F70392-6082-F9CF-F574-3B3D4080CE14}"/>
              </a:ext>
            </a:extLst>
          </p:cNvPr>
          <p:cNvSpPr txBox="1"/>
          <p:nvPr/>
        </p:nvSpPr>
        <p:spPr>
          <a:xfrm>
            <a:off x="784481" y="953853"/>
            <a:ext cx="5190319" cy="8040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317903" algn="just"/>
            <a:r>
              <a:rPr lang="en-IN" b="1" spc="-40" dirty="0">
                <a:latin typeface="+mj-lt"/>
              </a:rPr>
              <a:t>Technical Feasibility</a:t>
            </a:r>
          </a:p>
          <a:p>
            <a:pPr marL="16087" marR="18204" algn="just">
              <a:lnSpc>
                <a:spcPct val="113999"/>
              </a:lnSpc>
              <a:spcBef>
                <a:spcPts val="100"/>
              </a:spcBef>
            </a:pPr>
            <a:r>
              <a:rPr lang="en-IN" sz="1200" b="1" dirty="0">
                <a:latin typeface="+mj-lt"/>
                <a:cs typeface="Lucida Sans Unicode"/>
              </a:rPr>
              <a:t>Built using modern open source technologies (Next.js,FastAPI,YOLOv8,</a:t>
            </a:r>
          </a:p>
          <a:p>
            <a:pPr marL="16087" marR="18204" algn="just">
              <a:lnSpc>
                <a:spcPct val="113999"/>
              </a:lnSpc>
              <a:spcBef>
                <a:spcPts val="100"/>
              </a:spcBef>
            </a:pPr>
            <a:r>
              <a:rPr lang="en-IN" sz="1200" b="1" dirty="0">
                <a:latin typeface="+mj-lt"/>
                <a:cs typeface="Lucida Sans Unicode"/>
              </a:rPr>
              <a:t>PaddleOCTR,supabase) offline first PWA with seamless sync </a:t>
            </a:r>
          </a:p>
        </p:txBody>
      </p:sp>
      <p:sp>
        <p:nvSpPr>
          <p:cNvPr id="82" name="object 82"/>
          <p:cNvSpPr txBox="1"/>
          <p:nvPr/>
        </p:nvSpPr>
        <p:spPr>
          <a:xfrm>
            <a:off x="748221" y="4052049"/>
            <a:ext cx="4985082" cy="775555"/>
          </a:xfrm>
          <a:prstGeom prst="rect">
            <a:avLst/>
          </a:prstGeom>
        </p:spPr>
        <p:txBody>
          <a:bodyPr vert="horz" wrap="square" lIns="0" tIns="8467" rIns="0" bIns="0" rtlCol="0">
            <a:spAutoFit/>
          </a:bodyPr>
          <a:lstStyle/>
          <a:p>
            <a:pPr marL="1324253"/>
            <a:r>
              <a:rPr b="1" spc="-47" dirty="0">
                <a:latin typeface="+mj-lt"/>
                <a:cs typeface="Arial Black"/>
              </a:rPr>
              <a:t>Regulatory</a:t>
            </a:r>
            <a:r>
              <a:rPr b="1" spc="-140" dirty="0">
                <a:latin typeface="+mj-lt"/>
                <a:cs typeface="Arial Black"/>
              </a:rPr>
              <a:t> </a:t>
            </a:r>
            <a:r>
              <a:rPr b="1" spc="-7" dirty="0">
                <a:latin typeface="+mj-lt"/>
                <a:cs typeface="Arial Black"/>
              </a:rPr>
              <a:t>Feasibility</a:t>
            </a:r>
            <a:endParaRPr lang="en-IN" b="1" spc="-7" dirty="0">
              <a:latin typeface="+mj-lt"/>
              <a:cs typeface="Arial Black"/>
            </a:endParaRPr>
          </a:p>
          <a:p>
            <a:pPr marL="16087" marR="119809">
              <a:lnSpc>
                <a:spcPct val="113999"/>
              </a:lnSpc>
              <a:spcBef>
                <a:spcPts val="146"/>
              </a:spcBef>
            </a:pPr>
            <a:r>
              <a:rPr lang="en-US" sz="1200" spc="30" dirty="0">
                <a:latin typeface="+mj-lt"/>
                <a:cs typeface="Lucida Sans Unicode"/>
              </a:rPr>
              <a:t>Support </a:t>
            </a:r>
            <a:r>
              <a:rPr lang="en-US" sz="1400" b="1" dirty="0">
                <a:latin typeface="+mj-lt"/>
                <a:ea typeface="ＭＳ Ｐゴシック"/>
                <a:cs typeface="Arial"/>
              </a:rPr>
              <a:t>Legal Metrology Rules, 2011 Act ,FSSAI ,GST  </a:t>
            </a:r>
            <a:r>
              <a:rPr lang="en-US" sz="1400" dirty="0">
                <a:latin typeface="+mj-lt"/>
                <a:ea typeface="ＭＳ Ｐゴシック"/>
                <a:cs typeface="Arial"/>
              </a:rPr>
              <a:t>and packaging rules</a:t>
            </a:r>
            <a:endParaRPr lang="en-US" sz="1200" spc="30" dirty="0">
              <a:latin typeface="+mj-lt"/>
              <a:cs typeface="Lucida Sans Unicode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68D1E2D-5F5B-FC1E-2E0A-A1A47FCC932A}"/>
              </a:ext>
            </a:extLst>
          </p:cNvPr>
          <p:cNvSpPr txBox="1"/>
          <p:nvPr/>
        </p:nvSpPr>
        <p:spPr>
          <a:xfrm>
            <a:off x="696424" y="1967678"/>
            <a:ext cx="5275381" cy="7899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324253" algn="just"/>
            <a:r>
              <a:rPr lang="en-US" b="1" spc="-47" dirty="0">
                <a:latin typeface="+mj-lt"/>
              </a:rPr>
              <a:t>Operational Feasibility</a:t>
            </a:r>
            <a:endParaRPr lang="en-US" sz="1600" b="1" spc="-47" dirty="0">
              <a:latin typeface="+mj-lt"/>
            </a:endParaRPr>
          </a:p>
          <a:p>
            <a:pPr marL="8467" algn="just">
              <a:spcBef>
                <a:spcPts val="400"/>
              </a:spcBef>
            </a:pPr>
            <a:r>
              <a:rPr lang="en-US" sz="1200" b="1" dirty="0">
                <a:latin typeface="+mj-lt"/>
                <a:cs typeface="Lucida Sans Unicode"/>
              </a:rPr>
              <a:t>Simple workflow for inspectors with mobile app and dashboard, Automated AI and Rule Based validation reduces manual efforts and errors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3577A89-6C89-A560-FC82-E470AE9F23DE}"/>
              </a:ext>
            </a:extLst>
          </p:cNvPr>
          <p:cNvSpPr txBox="1"/>
          <p:nvPr/>
        </p:nvSpPr>
        <p:spPr>
          <a:xfrm>
            <a:off x="787223" y="2903860"/>
            <a:ext cx="5057291" cy="943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324253" algn="just"/>
            <a:r>
              <a:rPr lang="en-US" b="1" spc="-47" dirty="0">
                <a:latin typeface="+mj-lt"/>
              </a:rPr>
              <a:t>Economic Feasibility</a:t>
            </a:r>
          </a:p>
          <a:p>
            <a:pPr marL="8467" marR="125313" algn="just">
              <a:spcBef>
                <a:spcPts val="400"/>
              </a:spcBef>
            </a:pPr>
            <a:r>
              <a:rPr lang="en-US" sz="1133" b="1" dirty="0">
                <a:latin typeface="+mj-lt"/>
                <a:cs typeface="Lucida Sans Unicode"/>
              </a:rPr>
              <a:t>Open-source AI tools and cloud ready infrastructure reduce development Offloading heavy image streams to Redis task queues prevents the server from blocking and reduces cloud hosting costs.</a:t>
            </a:r>
          </a:p>
        </p:txBody>
      </p:sp>
      <p:pic>
        <p:nvPicPr>
          <p:cNvPr id="48" name="Picture 47" descr="Technical Support - Free technology icons">
            <a:extLst>
              <a:ext uri="{FF2B5EF4-FFF2-40B4-BE49-F238E27FC236}">
                <a16:creationId xmlns:a16="http://schemas.microsoft.com/office/drawing/2014/main" id="{0F3AD874-DA41-223A-3F5A-55948B5AA05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3945" y="1175334"/>
            <a:ext cx="459497" cy="459497"/>
          </a:xfrm>
          <a:prstGeom prst="rect">
            <a:avLst/>
          </a:prstGeom>
        </p:spPr>
      </p:pic>
      <p:pic>
        <p:nvPicPr>
          <p:cNvPr id="49" name="Picture 48" descr="Operations icon vector. workflow illustration sign. work flow symbol.  automate logo. 19528071 Vector Art at Vecteezy">
            <a:extLst>
              <a:ext uri="{FF2B5EF4-FFF2-40B4-BE49-F238E27FC236}">
                <a16:creationId xmlns:a16="http://schemas.microsoft.com/office/drawing/2014/main" id="{75175462-A036-8299-ED4E-B06C35E32FC7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10000" b="90000" l="10000" r="90000">
                        <a14:foregroundMark x1="51122" y1="49490" x2="51122" y2="49490"/>
                        <a14:foregroundMark x1="63163" y1="40204" x2="63163" y2="40204"/>
                        <a14:foregroundMark x1="29796" y1="46837" x2="29796" y2="46837"/>
                        <a14:foregroundMark x1="31837" y1="65204" x2="31837" y2="65204"/>
                        <a14:foregroundMark x1="76837" y1="60306" x2="76837" y2="60306"/>
                        <a14:foregroundMark x1="74490" y1="46633" x2="74490" y2="46633"/>
                        <a14:foregroundMark x1="81633" y1="40204" x2="81633" y2="40204"/>
                        <a14:foregroundMark x1="22959" y1="39490" x2="22959" y2="3949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764" y="2013267"/>
            <a:ext cx="630080" cy="630080"/>
          </a:xfrm>
          <a:prstGeom prst="rect">
            <a:avLst/>
          </a:prstGeom>
        </p:spPr>
      </p:pic>
      <p:pic>
        <p:nvPicPr>
          <p:cNvPr id="50" name="Picture 49" descr="investments in indian market, growth indian rupee icon, indian money coin,  thin line illustration 69145908 Vector Art at Vecteezy">
            <a:extLst>
              <a:ext uri="{FF2B5EF4-FFF2-40B4-BE49-F238E27FC236}">
                <a16:creationId xmlns:a16="http://schemas.microsoft.com/office/drawing/2014/main" id="{5E27D53E-846D-9DBA-331F-E08804031B14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ackgroundRemoval t="10000" b="90000" l="10000" r="90000">
                        <a14:foregroundMark x1="24490" y1="48878" x2="24490" y2="48878"/>
                        <a14:foregroundMark x1="21327" y1="47449" x2="21327" y2="47449"/>
                        <a14:foregroundMark x1="57959" y1="44796" x2="57959" y2="44796"/>
                        <a14:foregroundMark x1="65000" y1="51531" x2="65000" y2="51531"/>
                        <a14:foregroundMark x1="53469" y1="64796" x2="53469" y2="64796"/>
                        <a14:foregroundMark x1="48367" y1="66531" x2="48367" y2="66531"/>
                        <a14:foregroundMark x1="41633" y1="72653" x2="41633" y2="72653"/>
                        <a14:backgroundMark x1="26122" y1="48673" x2="26122" y2="48673"/>
                        <a14:backgroundMark x1="26020" y1="48878" x2="26020" y2="48878"/>
                        <a14:backgroundMark x1="26020" y1="49184" x2="26020" y2="49184"/>
                        <a14:backgroundMark x1="26020" y1="49184" x2="26020" y2="49184"/>
                        <a14:backgroundMark x1="26020" y1="49184" x2="26020" y2="4918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8188" y="3126681"/>
            <a:ext cx="656590" cy="656590"/>
          </a:xfrm>
          <a:prstGeom prst="rect">
            <a:avLst/>
          </a:prstGeom>
        </p:spPr>
      </p:pic>
      <p:pic>
        <p:nvPicPr>
          <p:cNvPr id="52" name="Graphic 51" descr="Regulation Round Vector SVG Icon - SVG Repo">
            <a:extLst>
              <a:ext uri="{FF2B5EF4-FFF2-40B4-BE49-F238E27FC236}">
                <a16:creationId xmlns:a16="http://schemas.microsoft.com/office/drawing/2014/main" id="{BF1CEC23-4116-2804-46FE-BDCB8CD2B30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0711" y="4127527"/>
            <a:ext cx="560887" cy="560887"/>
          </a:xfrm>
          <a:prstGeom prst="rect">
            <a:avLst/>
          </a:prstGeom>
        </p:spPr>
      </p:pic>
      <p:sp>
        <p:nvSpPr>
          <p:cNvPr id="58" name="Rounded Rectangle 42">
            <a:extLst>
              <a:ext uri="{FF2B5EF4-FFF2-40B4-BE49-F238E27FC236}">
                <a16:creationId xmlns:a16="http://schemas.microsoft.com/office/drawing/2014/main" id="{B1310F5F-5505-5BBE-EF6E-7A9AF4B6F432}"/>
              </a:ext>
            </a:extLst>
          </p:cNvPr>
          <p:cNvSpPr/>
          <p:nvPr/>
        </p:nvSpPr>
        <p:spPr>
          <a:xfrm>
            <a:off x="25486" y="4975736"/>
            <a:ext cx="6011492" cy="869324"/>
          </a:xfrm>
          <a:prstGeom prst="roundRect">
            <a:avLst/>
          </a:prstGeom>
          <a:solidFill>
            <a:srgbClr val="FAEAF4"/>
          </a:solidFill>
          <a:ln w="11430">
            <a:solidFill>
              <a:srgbClr val="EB1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0" name="object 82">
            <a:extLst>
              <a:ext uri="{FF2B5EF4-FFF2-40B4-BE49-F238E27FC236}">
                <a16:creationId xmlns:a16="http://schemas.microsoft.com/office/drawing/2014/main" id="{694C3130-1355-67DA-988F-CD83FE7D4ADF}"/>
              </a:ext>
            </a:extLst>
          </p:cNvPr>
          <p:cNvSpPr txBox="1"/>
          <p:nvPr/>
        </p:nvSpPr>
        <p:spPr>
          <a:xfrm>
            <a:off x="746492" y="5065921"/>
            <a:ext cx="5033206" cy="716436"/>
          </a:xfrm>
          <a:prstGeom prst="rect">
            <a:avLst/>
          </a:prstGeom>
        </p:spPr>
        <p:txBody>
          <a:bodyPr vert="horz" wrap="square" lIns="0" tIns="8467" rIns="0" bIns="0" rtlCol="0">
            <a:spAutoFit/>
          </a:bodyPr>
          <a:lstStyle/>
          <a:p>
            <a:pPr marL="1324253"/>
            <a:r>
              <a:rPr lang="en-IN" b="1" spc="-47" dirty="0">
                <a:latin typeface="+mj-lt"/>
              </a:rPr>
              <a:t>Scalability &amp; Future Readiness</a:t>
            </a:r>
          </a:p>
          <a:p>
            <a:pPr lvl="0"/>
            <a:r>
              <a:rPr lang="en-IN" sz="1400" b="1" dirty="0">
                <a:latin typeface="+mj-lt"/>
                <a:cs typeface="Lucida Sans Unicode"/>
              </a:rPr>
              <a:t>Modular design allows addition of new APIs and models. Can scale from SIH MVP to enterprise use</a:t>
            </a:r>
          </a:p>
        </p:txBody>
      </p:sp>
      <p:pic>
        <p:nvPicPr>
          <p:cNvPr id="63" name="Picture 62" descr="Scalability icon vector image can be used for mass production | Premium  Vector">
            <a:extLst>
              <a:ext uri="{FF2B5EF4-FFF2-40B4-BE49-F238E27FC236}">
                <a16:creationId xmlns:a16="http://schemas.microsoft.com/office/drawing/2014/main" id="{1B9702FA-5CCF-4F9C-7690-4055F0AB814B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backgroundRemoval t="5112" b="93131" l="9585" r="92492">
                        <a14:foregroundMark x1="27796" y1="18371" x2="27796" y2="18371"/>
                        <a14:foregroundMark x1="43610" y1="5112" x2="43610" y2="5112"/>
                        <a14:foregroundMark x1="80351" y1="24121" x2="80351" y2="24121"/>
                        <a14:foregroundMark x1="64856" y1="93131" x2="64856" y2="93131"/>
                        <a14:foregroundMark x1="60863" y1="92812" x2="60863" y2="92812"/>
                        <a14:foregroundMark x1="92492" y1="52716" x2="92492" y2="5271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6235" y="5205268"/>
            <a:ext cx="459508" cy="459508"/>
          </a:xfrm>
          <a:prstGeom prst="rect">
            <a:avLst/>
          </a:prstGeom>
        </p:spPr>
      </p:pic>
      <p:sp>
        <p:nvSpPr>
          <p:cNvPr id="69" name="TextBox 68">
            <a:extLst>
              <a:ext uri="{FF2B5EF4-FFF2-40B4-BE49-F238E27FC236}">
                <a16:creationId xmlns:a16="http://schemas.microsoft.com/office/drawing/2014/main" id="{276454A2-FE11-16EF-F513-87A03DFA1598}"/>
              </a:ext>
            </a:extLst>
          </p:cNvPr>
          <p:cNvSpPr txBox="1"/>
          <p:nvPr/>
        </p:nvSpPr>
        <p:spPr>
          <a:xfrm>
            <a:off x="1642581" y="5931659"/>
            <a:ext cx="26651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OVERALL VIABILITY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80451DB-24B3-67B6-0B20-AA3A12A05D1A}"/>
              </a:ext>
            </a:extLst>
          </p:cNvPr>
          <p:cNvSpPr txBox="1"/>
          <p:nvPr/>
        </p:nvSpPr>
        <p:spPr>
          <a:xfrm>
            <a:off x="1620685" y="6168402"/>
            <a:ext cx="95548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+mn-lt"/>
              </a:rPr>
              <a:t>Technically sound | Operationally practical | Economically efficient | Legally aligned | Ready to scale</a:t>
            </a:r>
          </a:p>
        </p:txBody>
      </p:sp>
      <p:pic>
        <p:nvPicPr>
          <p:cNvPr id="71" name="Picture 70" descr="File:Circle-icons-rocket.svg - Wikimedia Commons">
            <a:extLst>
              <a:ext uri="{FF2B5EF4-FFF2-40B4-BE49-F238E27FC236}">
                <a16:creationId xmlns:a16="http://schemas.microsoft.com/office/drawing/2014/main" id="{336E9942-0FB5-1F8F-012D-B790C94398D1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93844" y="5991445"/>
            <a:ext cx="553807" cy="553807"/>
          </a:xfrm>
          <a:prstGeom prst="rect">
            <a:avLst/>
          </a:prstGeom>
        </p:spPr>
      </p:pic>
      <p:pic>
        <p:nvPicPr>
          <p:cNvPr id="3" name="Picture 2" descr="Aruco MarkerMapper - Apps on Google Play">
            <a:extLst>
              <a:ext uri="{FF2B5EF4-FFF2-40B4-BE49-F238E27FC236}">
                <a16:creationId xmlns:a16="http://schemas.microsoft.com/office/drawing/2014/main" id="{A33F2980-2447-7F8B-B7D2-61CC4C9F37CE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256613" y="4407457"/>
            <a:ext cx="251932" cy="25193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B5BC6D8-EEF3-0E1E-10F2-C7A93E4712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6660790"/>
            <a:ext cx="12191999" cy="226846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5" name="Footer Placeholder 6">
            <a:extLst>
              <a:ext uri="{FF2B5EF4-FFF2-40B4-BE49-F238E27FC236}">
                <a16:creationId xmlns:a16="http://schemas.microsoft.com/office/drawing/2014/main" id="{15579CEB-FC3E-E404-1F29-70EF172C4865}"/>
              </a:ext>
            </a:extLst>
          </p:cNvPr>
          <p:cNvSpPr txBox="1">
            <a:spLocks/>
          </p:cNvSpPr>
          <p:nvPr/>
        </p:nvSpPr>
        <p:spPr>
          <a:xfrm>
            <a:off x="4917505" y="6636001"/>
            <a:ext cx="3869267" cy="25163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r>
              <a:rPr lang="en-US" sz="900" dirty="0">
                <a:solidFill>
                  <a:schemeClr val="bg1"/>
                </a:solidFill>
                <a:latin typeface="TradeGothic"/>
                <a:ea typeface="+mn-ea"/>
              </a:rPr>
              <a:t>@SIH Idea submission- </a:t>
            </a:r>
            <a:r>
              <a:rPr lang="en-US" sz="9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TEAM MEGATRON</a:t>
            </a:r>
            <a:endParaRPr lang="en-US" sz="900" dirty="0">
              <a:solidFill>
                <a:schemeClr val="bg1"/>
              </a:solidFill>
              <a:latin typeface="Calibri"/>
              <a:cs typeface="Calibri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prstClr val="white"/>
              </a:solidFill>
              <a:latin typeface="TradeGothic"/>
              <a:ea typeface="+mn-ea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B9F86F-9525-CF06-B8B2-C962F12A8659}"/>
              </a:ext>
            </a:extLst>
          </p:cNvPr>
          <p:cNvSpPr txBox="1">
            <a:spLocks/>
          </p:cNvSpPr>
          <p:nvPr/>
        </p:nvSpPr>
        <p:spPr>
          <a:xfrm>
            <a:off x="8901268" y="6549499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defTabSz="457200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TradeGothic" pitchFamily="1" charset="0"/>
                <a:ea typeface="ＭＳ Ｐゴシック" pitchFamily="1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pPr>
              <a:defRPr/>
            </a:pPr>
            <a:fld id="{677C3CE7-23F7-4828-823C-E0205DF2CF97}" type="slidenum">
              <a:rPr lang="en-US" sz="1000" b="1" smtClean="0">
                <a:solidFill>
                  <a:prstClr val="white"/>
                </a:solidFill>
              </a:rPr>
              <a:pPr>
                <a:defRPr/>
              </a:pPr>
              <a:t>4</a:t>
            </a:fld>
            <a:endParaRPr lang="en-US" sz="1000" b="1" dirty="0">
              <a:solidFill>
                <a:prstClr val="white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4245D-C87E-E82B-8311-C21ACDC36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22" name="Rectangle: Rounded Corners 17421">
            <a:extLst>
              <a:ext uri="{FF2B5EF4-FFF2-40B4-BE49-F238E27FC236}">
                <a16:creationId xmlns:a16="http://schemas.microsoft.com/office/drawing/2014/main" id="{24F9EFD0-13FD-3BB7-8966-9306B0FFB132}"/>
              </a:ext>
            </a:extLst>
          </p:cNvPr>
          <p:cNvSpPr/>
          <p:nvPr/>
        </p:nvSpPr>
        <p:spPr>
          <a:xfrm>
            <a:off x="105343" y="3230266"/>
            <a:ext cx="12017831" cy="2769595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6" name="Rounded Rectangle 55"/>
          <p:cNvSpPr/>
          <p:nvPr/>
        </p:nvSpPr>
        <p:spPr>
          <a:xfrm>
            <a:off x="127430" y="3019927"/>
            <a:ext cx="3557378" cy="392637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 w="8890">
            <a:solidFill>
              <a:srgbClr val="2E64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3" name="Oval 17442">
            <a:extLst>
              <a:ext uri="{FF2B5EF4-FFF2-40B4-BE49-F238E27FC236}">
                <a16:creationId xmlns:a16="http://schemas.microsoft.com/office/drawing/2014/main" id="{F05A57E3-B704-899F-64CB-DBC327BE1A8B}"/>
              </a:ext>
            </a:extLst>
          </p:cNvPr>
          <p:cNvSpPr/>
          <p:nvPr/>
        </p:nvSpPr>
        <p:spPr>
          <a:xfrm>
            <a:off x="44025" y="2978329"/>
            <a:ext cx="577221" cy="474970"/>
          </a:xfrm>
          <a:prstGeom prst="ellipse">
            <a:avLst/>
          </a:prstGeom>
          <a:solidFill>
            <a:schemeClr val="bg1"/>
          </a:solidFill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BC8AD0A-46E3-70A3-1FEA-2F9CB88C4EFD}"/>
              </a:ext>
            </a:extLst>
          </p:cNvPr>
          <p:cNvSpPr/>
          <p:nvPr/>
        </p:nvSpPr>
        <p:spPr>
          <a:xfrm>
            <a:off x="254941" y="1195192"/>
            <a:ext cx="11868233" cy="1730173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ounded Rectangle 9"/>
          <p:cNvSpPr/>
          <p:nvPr/>
        </p:nvSpPr>
        <p:spPr>
          <a:xfrm>
            <a:off x="303777" y="1092842"/>
            <a:ext cx="3188762" cy="469145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 w="8890">
            <a:solidFill>
              <a:srgbClr val="173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9" name="Oval 17438">
            <a:extLst>
              <a:ext uri="{FF2B5EF4-FFF2-40B4-BE49-F238E27FC236}">
                <a16:creationId xmlns:a16="http://schemas.microsoft.com/office/drawing/2014/main" id="{C9A1FB08-2EE6-AB73-E9C0-AE31B9277F28}"/>
              </a:ext>
            </a:extLst>
          </p:cNvPr>
          <p:cNvSpPr/>
          <p:nvPr/>
        </p:nvSpPr>
        <p:spPr>
          <a:xfrm>
            <a:off x="25306" y="1072747"/>
            <a:ext cx="593009" cy="648696"/>
          </a:xfrm>
          <a:prstGeom prst="ellipse">
            <a:avLst/>
          </a:prstGeom>
          <a:solidFill>
            <a:schemeClr val="bg1"/>
          </a:solidFill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3" name="Rounded Rectangle 102"/>
          <p:cNvSpPr/>
          <p:nvPr/>
        </p:nvSpPr>
        <p:spPr>
          <a:xfrm>
            <a:off x="9395704" y="3555233"/>
            <a:ext cx="2671379" cy="2393876"/>
          </a:xfrm>
          <a:prstGeom prst="roundRect">
            <a:avLst/>
          </a:prstGeom>
          <a:solidFill>
            <a:srgbClr val="F5F0FF"/>
          </a:solidFill>
          <a:ln w="11430">
            <a:solidFill>
              <a:srgbClr val="5E3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0" name="Rectangle: Rounded Corners 17419">
            <a:extLst>
              <a:ext uri="{FF2B5EF4-FFF2-40B4-BE49-F238E27FC236}">
                <a16:creationId xmlns:a16="http://schemas.microsoft.com/office/drawing/2014/main" id="{A46BB903-27F0-71BD-12BD-820C7FEAD5BC}"/>
              </a:ext>
            </a:extLst>
          </p:cNvPr>
          <p:cNvSpPr/>
          <p:nvPr/>
        </p:nvSpPr>
        <p:spPr>
          <a:xfrm>
            <a:off x="9455422" y="3465077"/>
            <a:ext cx="2631235" cy="676474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8" name="Rounded Rectangle 87"/>
          <p:cNvSpPr/>
          <p:nvPr/>
        </p:nvSpPr>
        <p:spPr>
          <a:xfrm>
            <a:off x="6416039" y="3568723"/>
            <a:ext cx="2844800" cy="2393875"/>
          </a:xfrm>
          <a:prstGeom prst="roundRect">
            <a:avLst/>
          </a:prstGeom>
          <a:solidFill>
            <a:srgbClr val="EEFAF3"/>
          </a:solidFill>
          <a:ln w="11430">
            <a:solidFill>
              <a:srgbClr val="2380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8" name="Rectangle: Rounded Corners 17417">
            <a:extLst>
              <a:ext uri="{FF2B5EF4-FFF2-40B4-BE49-F238E27FC236}">
                <a16:creationId xmlns:a16="http://schemas.microsoft.com/office/drawing/2014/main" id="{52A73B01-FC67-52E7-E393-A561D217932E}"/>
              </a:ext>
            </a:extLst>
          </p:cNvPr>
          <p:cNvSpPr/>
          <p:nvPr/>
        </p:nvSpPr>
        <p:spPr>
          <a:xfrm>
            <a:off x="6562295" y="3489259"/>
            <a:ext cx="2631235" cy="676474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3" name="Rounded Rectangle 72"/>
          <p:cNvSpPr/>
          <p:nvPr/>
        </p:nvSpPr>
        <p:spPr>
          <a:xfrm>
            <a:off x="3269933" y="3560550"/>
            <a:ext cx="3004662" cy="2393875"/>
          </a:xfrm>
          <a:prstGeom prst="roundRect">
            <a:avLst/>
          </a:prstGeom>
          <a:solidFill>
            <a:srgbClr val="EEF6FF"/>
          </a:solidFill>
          <a:ln w="11430">
            <a:solidFill>
              <a:srgbClr val="2E64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6" name="Rectangle: Rounded Corners 17415">
            <a:extLst>
              <a:ext uri="{FF2B5EF4-FFF2-40B4-BE49-F238E27FC236}">
                <a16:creationId xmlns:a16="http://schemas.microsoft.com/office/drawing/2014/main" id="{5A7F9B33-0CD1-783A-F832-B8D8225B17A5}"/>
              </a:ext>
            </a:extLst>
          </p:cNvPr>
          <p:cNvSpPr/>
          <p:nvPr/>
        </p:nvSpPr>
        <p:spPr>
          <a:xfrm>
            <a:off x="3271023" y="3489259"/>
            <a:ext cx="3054709" cy="676474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8" name="Rounded Rectangle 57"/>
          <p:cNvSpPr/>
          <p:nvPr/>
        </p:nvSpPr>
        <p:spPr>
          <a:xfrm>
            <a:off x="124917" y="3489435"/>
            <a:ext cx="3004661" cy="2453249"/>
          </a:xfrm>
          <a:prstGeom prst="roundRect">
            <a:avLst/>
          </a:prstGeom>
          <a:solidFill>
            <a:srgbClr val="FFF0F6"/>
          </a:solidFill>
          <a:ln w="11430">
            <a:solidFill>
              <a:srgbClr val="D92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5" name="Rectangle: Rounded Corners 17414">
            <a:extLst>
              <a:ext uri="{FF2B5EF4-FFF2-40B4-BE49-F238E27FC236}">
                <a16:creationId xmlns:a16="http://schemas.microsoft.com/office/drawing/2014/main" id="{E3D58153-6886-CD75-9AD7-96958DB45844}"/>
              </a:ext>
            </a:extLst>
          </p:cNvPr>
          <p:cNvSpPr/>
          <p:nvPr/>
        </p:nvSpPr>
        <p:spPr>
          <a:xfrm>
            <a:off x="303777" y="3489435"/>
            <a:ext cx="2741454" cy="714494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409" name="Title 1">
            <a:extLst>
              <a:ext uri="{FF2B5EF4-FFF2-40B4-BE49-F238E27FC236}">
                <a16:creationId xmlns:a16="http://schemas.microsoft.com/office/drawing/2014/main" id="{1FDDD3A8-EF85-97E5-BB50-B3A657F60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176A73-A266-F3A4-7664-28FEE589C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77BAD14-1310-019E-7588-69088DB08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6C66F00-F90D-9BFC-CE24-C590700AA6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8DDBB191-7EF2-1A11-8460-7C340546F87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32635" y="152741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endParaRPr lang="en-US">
              <a:ea typeface="Calibri"/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F75090-BFF1-3D07-0179-1F6CFA8A59F9}"/>
              </a:ext>
            </a:extLst>
          </p:cNvPr>
          <p:cNvSpPr txBox="1"/>
          <p:nvPr/>
        </p:nvSpPr>
        <p:spPr>
          <a:xfrm>
            <a:off x="229305" y="172904"/>
            <a:ext cx="139794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latin typeface="Calibri"/>
                <a:ea typeface="Calibri"/>
                <a:cs typeface="Calibri"/>
              </a:rPr>
              <a:t>TEAM </a:t>
            </a:r>
            <a:endParaRPr lang="en-US" dirty="0">
              <a:latin typeface="Calibri"/>
              <a:cs typeface="Calibri" pitchFamily="34" charset="0"/>
            </a:endParaRPr>
          </a:p>
          <a:p>
            <a:pPr algn="ctr"/>
            <a:r>
              <a:rPr lang="en-US" dirty="0">
                <a:latin typeface="Calibri"/>
                <a:ea typeface="Calibri"/>
                <a:cs typeface="Calibri"/>
              </a:rPr>
              <a:t>MEGATRON</a:t>
            </a:r>
            <a:endParaRPr lang="en-US" dirty="0">
              <a:latin typeface="Calibri"/>
              <a:cs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31582" y="1180836"/>
            <a:ext cx="3098213" cy="280846"/>
          </a:xfrm>
          <a:prstGeom prst="rect">
            <a:avLst/>
          </a:prstGeom>
          <a:noFill/>
        </p:spPr>
        <p:txBody>
          <a:bodyPr wrap="square" lIns="17145" tIns="17145" rIns="17145" bIns="17145" anchor="ctr">
            <a:spAutoFit/>
          </a:bodyPr>
          <a:lstStyle/>
          <a:p>
            <a:pPr algn="l"/>
            <a:r>
              <a:rPr sz="1600" b="1" dirty="0">
                <a:solidFill>
                  <a:schemeClr val="bg1"/>
                </a:solidFill>
                <a:latin typeface="Aptos"/>
              </a:rPr>
              <a:t>IMPACT ON TARGET AUDIENCE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9441" y="1647609"/>
            <a:ext cx="2638530" cy="1142620"/>
          </a:xfrm>
          <a:prstGeom prst="rect">
            <a:avLst/>
          </a:prstGeom>
          <a:noFill/>
        </p:spPr>
        <p:txBody>
          <a:bodyPr wrap="square" lIns="17145" tIns="17145" rIns="17145" bIns="17145" anchor="t">
            <a:spAutoFit/>
          </a:bodyPr>
          <a:lstStyle/>
          <a:p>
            <a:r>
              <a:rPr b="1" dirty="0">
                <a:latin typeface="+mj-lt"/>
              </a:rPr>
              <a:t>Our solution empowers all key stakeholders</a:t>
            </a:r>
            <a:r>
              <a:rPr lang="en-US" b="1" dirty="0">
                <a:latin typeface="+mj-lt"/>
              </a:rPr>
              <a:t> </a:t>
            </a:r>
            <a:r>
              <a:rPr b="1" dirty="0">
                <a:latin typeface="+mj-lt"/>
              </a:rPr>
              <a:t>in the packaged commodity ecosystem.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30309" y="1294450"/>
            <a:ext cx="2083117" cy="1553528"/>
          </a:xfrm>
          <a:prstGeom prst="roundRect">
            <a:avLst/>
          </a:prstGeom>
          <a:solidFill>
            <a:srgbClr val="EEF6FF"/>
          </a:solidFill>
          <a:ln w="11430">
            <a:solidFill>
              <a:srgbClr val="2E64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3910712" y="1430304"/>
            <a:ext cx="1586627" cy="465512"/>
          </a:xfrm>
          <a:prstGeom prst="rect">
            <a:avLst/>
          </a:prstGeom>
          <a:noFill/>
        </p:spPr>
        <p:txBody>
          <a:bodyPr wrap="square" lIns="17145" tIns="17145" rIns="17145" bIns="17145" anchor="t">
            <a:spAutoFit/>
          </a:bodyPr>
          <a:lstStyle/>
          <a:p>
            <a:pPr algn="l"/>
            <a:r>
              <a:rPr sz="1400" b="1" dirty="0">
                <a:latin typeface="Aptos"/>
              </a:rPr>
              <a:t>Inspectors &amp; Field
Officers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29795" y="1908058"/>
            <a:ext cx="1684141" cy="173124"/>
          </a:xfrm>
          <a:prstGeom prst="rect">
            <a:avLst/>
          </a:prstGeom>
          <a:noFill/>
        </p:spPr>
        <p:txBody>
          <a:bodyPr wrap="square" lIns="17145" tIns="17145" rIns="17145" bIns="17145" anchor="t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sz="900" dirty="0">
                <a:solidFill>
                  <a:srgbClr val="111111"/>
                </a:solidFill>
                <a:latin typeface="Aptos"/>
              </a:rPr>
              <a:t>Faster &amp; accurate inspections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29795" y="2145799"/>
            <a:ext cx="1717858" cy="173124"/>
          </a:xfrm>
          <a:prstGeom prst="rect">
            <a:avLst/>
          </a:prstGeom>
          <a:noFill/>
        </p:spPr>
        <p:txBody>
          <a:bodyPr wrap="square" lIns="17145" tIns="17145" rIns="17145" bIns="17145" anchor="t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sz="900" dirty="0">
                <a:solidFill>
                  <a:srgbClr val="111111"/>
                </a:solidFill>
                <a:latin typeface="Aptos"/>
              </a:rPr>
              <a:t>Offline access in remote areas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19610" y="2399625"/>
            <a:ext cx="1957755" cy="173124"/>
          </a:xfrm>
          <a:prstGeom prst="rect">
            <a:avLst/>
          </a:prstGeom>
          <a:noFill/>
        </p:spPr>
        <p:txBody>
          <a:bodyPr wrap="square" lIns="17145" tIns="17145" rIns="17145" bIns="17145" anchor="t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sz="900" dirty="0">
                <a:solidFill>
                  <a:srgbClr val="111111"/>
                </a:solidFill>
                <a:latin typeface="Aptos"/>
              </a:rPr>
              <a:t>Easy evidence &amp; report generation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145" y="1294450"/>
            <a:ext cx="2083117" cy="1550353"/>
          </a:xfrm>
          <a:prstGeom prst="roundRect">
            <a:avLst/>
          </a:prstGeom>
          <a:solidFill>
            <a:srgbClr val="EEFAF3"/>
          </a:solidFill>
          <a:ln w="11430">
            <a:solidFill>
              <a:srgbClr val="2380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74595" y="1455647"/>
            <a:ext cx="1174433" cy="250068"/>
          </a:xfrm>
          <a:prstGeom prst="rect">
            <a:avLst/>
          </a:prstGeom>
          <a:noFill/>
        </p:spPr>
        <p:txBody>
          <a:bodyPr wrap="square" lIns="17145" tIns="17145" rIns="17145" bIns="17145" anchor="t">
            <a:spAutoFit/>
          </a:bodyPr>
          <a:lstStyle/>
          <a:p>
            <a:pPr algn="l"/>
            <a:r>
              <a:rPr sz="1400" b="1" dirty="0">
                <a:latin typeface="Aptos"/>
              </a:rPr>
              <a:t>Consumers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82398" y="1906104"/>
            <a:ext cx="1607701" cy="173124"/>
          </a:xfrm>
          <a:prstGeom prst="rect">
            <a:avLst/>
          </a:prstGeom>
          <a:noFill/>
        </p:spPr>
        <p:txBody>
          <a:bodyPr wrap="square" lIns="17145" tIns="17145" rIns="17145" bIns="17145" anchor="t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sz="900" dirty="0">
                <a:solidFill>
                  <a:srgbClr val="111111"/>
                </a:solidFill>
                <a:latin typeface="Aptos"/>
              </a:rPr>
              <a:t>Safer and genuine products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87414" y="2153424"/>
            <a:ext cx="1440180" cy="173124"/>
          </a:xfrm>
          <a:prstGeom prst="rect">
            <a:avLst/>
          </a:prstGeom>
          <a:noFill/>
        </p:spPr>
        <p:txBody>
          <a:bodyPr wrap="square" lIns="17145" tIns="17145" rIns="17145" bIns="17145" anchor="t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sz="900" dirty="0">
                <a:solidFill>
                  <a:srgbClr val="111111"/>
                </a:solidFill>
                <a:latin typeface="Aptos"/>
              </a:rPr>
              <a:t>Protection from fraud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97780" y="2395750"/>
            <a:ext cx="1728062" cy="173124"/>
          </a:xfrm>
          <a:prstGeom prst="rect">
            <a:avLst/>
          </a:prstGeom>
          <a:noFill/>
        </p:spPr>
        <p:txBody>
          <a:bodyPr wrap="square" lIns="17145" tIns="17145" rIns="17145" bIns="17145" anchor="t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sz="900" dirty="0">
                <a:solidFill>
                  <a:srgbClr val="111111"/>
                </a:solidFill>
                <a:latin typeface="Aptos"/>
              </a:rPr>
              <a:t>Greater trust and transparency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811380" y="1285102"/>
            <a:ext cx="2083116" cy="1550352"/>
          </a:xfrm>
          <a:prstGeom prst="roundRect">
            <a:avLst/>
          </a:prstGeom>
          <a:solidFill>
            <a:srgbClr val="F5F0FF"/>
          </a:solidFill>
          <a:ln w="11430">
            <a:solidFill>
              <a:srgbClr val="5E3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6" name="TextBox 35"/>
          <p:cNvSpPr txBox="1"/>
          <p:nvPr/>
        </p:nvSpPr>
        <p:spPr>
          <a:xfrm>
            <a:off x="8366641" y="1424122"/>
            <a:ext cx="1356894" cy="465512"/>
          </a:xfrm>
          <a:prstGeom prst="rect">
            <a:avLst/>
          </a:prstGeom>
          <a:noFill/>
        </p:spPr>
        <p:txBody>
          <a:bodyPr wrap="square" lIns="17145" tIns="17145" rIns="17145" bIns="17145" anchor="t">
            <a:spAutoFit/>
          </a:bodyPr>
          <a:lstStyle/>
          <a:p>
            <a:pPr algn="l"/>
            <a:r>
              <a:rPr sz="1400" b="1" dirty="0">
                <a:latin typeface="Aptos"/>
              </a:rPr>
              <a:t>Businesses &amp;
Manufacturers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50255" y="1922484"/>
            <a:ext cx="1440180" cy="173124"/>
          </a:xfrm>
          <a:prstGeom prst="rect">
            <a:avLst/>
          </a:prstGeom>
          <a:noFill/>
        </p:spPr>
        <p:txBody>
          <a:bodyPr wrap="square" lIns="17145" tIns="17145" rIns="17145" bIns="17145" anchor="t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sz="900" dirty="0">
                <a:solidFill>
                  <a:srgbClr val="111111"/>
                </a:solidFill>
                <a:latin typeface="Aptos"/>
              </a:rPr>
              <a:t>Fair competition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49466" y="2123836"/>
            <a:ext cx="1440180" cy="173124"/>
          </a:xfrm>
          <a:prstGeom prst="rect">
            <a:avLst/>
          </a:prstGeom>
          <a:noFill/>
        </p:spPr>
        <p:txBody>
          <a:bodyPr wrap="square" lIns="17145" tIns="17145" rIns="17145" bIns="17145" anchor="t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sz="900" dirty="0">
                <a:solidFill>
                  <a:srgbClr val="111111"/>
                </a:solidFill>
                <a:latin typeface="Aptos"/>
              </a:rPr>
              <a:t>Reduced counterfeit risk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49466" y="2318923"/>
            <a:ext cx="1440180" cy="173124"/>
          </a:xfrm>
          <a:prstGeom prst="rect">
            <a:avLst/>
          </a:prstGeom>
          <a:noFill/>
        </p:spPr>
        <p:txBody>
          <a:bodyPr wrap="square" lIns="17145" tIns="17145" rIns="17145" bIns="17145" anchor="t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sz="900" dirty="0">
                <a:solidFill>
                  <a:srgbClr val="111111"/>
                </a:solidFill>
                <a:latin typeface="Aptos"/>
              </a:rPr>
              <a:t>Better brand reputation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946821" y="1294450"/>
            <a:ext cx="2083115" cy="1550351"/>
          </a:xfrm>
          <a:prstGeom prst="roundRect">
            <a:avLst/>
          </a:prstGeom>
          <a:solidFill>
            <a:srgbClr val="FFF5E7"/>
          </a:solidFill>
          <a:ln w="11430">
            <a:solidFill>
              <a:srgbClr val="E68A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0574288" y="1427895"/>
            <a:ext cx="1275230" cy="465512"/>
          </a:xfrm>
          <a:prstGeom prst="rect">
            <a:avLst/>
          </a:prstGeom>
          <a:noFill/>
        </p:spPr>
        <p:txBody>
          <a:bodyPr wrap="square" lIns="17145" tIns="17145" rIns="17145" bIns="17145" anchor="t">
            <a:spAutoFit/>
          </a:bodyPr>
          <a:lstStyle/>
          <a:p>
            <a:pPr algn="l"/>
            <a:r>
              <a:rPr sz="1400" b="1" dirty="0">
                <a:latin typeface="Aptos"/>
              </a:rPr>
              <a:t>Government
&amp; Regulators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160000" y="1936119"/>
            <a:ext cx="1808794" cy="173124"/>
          </a:xfrm>
          <a:prstGeom prst="rect">
            <a:avLst/>
          </a:prstGeom>
          <a:noFill/>
        </p:spPr>
        <p:txBody>
          <a:bodyPr wrap="square" lIns="17145" tIns="17145" rIns="17145" bIns="17145" anchor="t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sz="900" dirty="0">
                <a:solidFill>
                  <a:srgbClr val="111111"/>
                </a:solidFill>
                <a:latin typeface="Aptos"/>
              </a:rPr>
              <a:t>Efficient compliance monitoring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166948" y="2146548"/>
            <a:ext cx="1683773" cy="173124"/>
          </a:xfrm>
          <a:prstGeom prst="rect">
            <a:avLst/>
          </a:prstGeom>
          <a:noFill/>
        </p:spPr>
        <p:txBody>
          <a:bodyPr wrap="square" lIns="17145" tIns="17145" rIns="17145" bIns="17145" anchor="t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sz="900" dirty="0">
                <a:latin typeface="Aptos"/>
              </a:rPr>
              <a:t>Data-driven decision making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166948" y="2359963"/>
            <a:ext cx="1372877" cy="173124"/>
          </a:xfrm>
          <a:prstGeom prst="rect">
            <a:avLst/>
          </a:prstGeom>
          <a:noFill/>
        </p:spPr>
        <p:txBody>
          <a:bodyPr wrap="square" lIns="17145" tIns="17145" rIns="17145" bIns="17145" anchor="t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sz="900" dirty="0">
                <a:solidFill>
                  <a:srgbClr val="111111"/>
                </a:solidFill>
                <a:latin typeface="Aptos"/>
              </a:rPr>
              <a:t>Stronger enforcement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50181" y="3109831"/>
            <a:ext cx="2734627" cy="280846"/>
          </a:xfrm>
          <a:prstGeom prst="rect">
            <a:avLst/>
          </a:prstGeom>
          <a:noFill/>
        </p:spPr>
        <p:txBody>
          <a:bodyPr wrap="square" lIns="17145" tIns="17145" rIns="17145" bIns="17145" anchor="ctr">
            <a:spAutoFit/>
          </a:bodyPr>
          <a:lstStyle/>
          <a:p>
            <a:pPr algn="l"/>
            <a:r>
              <a:rPr sz="1600" b="1" dirty="0">
                <a:solidFill>
                  <a:srgbClr val="FFFFFF"/>
                </a:solidFill>
                <a:latin typeface="Aptos"/>
              </a:rPr>
              <a:t>BENEFITS OF THE SOLUTION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53912" y="3622718"/>
            <a:ext cx="1997568" cy="342401"/>
          </a:xfrm>
          <a:prstGeom prst="rect">
            <a:avLst/>
          </a:prstGeom>
          <a:noFill/>
        </p:spPr>
        <p:txBody>
          <a:bodyPr wrap="square" lIns="17145" tIns="17145" rIns="17145" bIns="17145" anchor="t">
            <a:spAutoFit/>
          </a:bodyPr>
          <a:lstStyle/>
          <a:p>
            <a:pPr algn="l"/>
            <a:r>
              <a:rPr sz="2000" b="1" dirty="0">
                <a:latin typeface="+mj-lt"/>
              </a:rPr>
              <a:t>SOCIAL BENEFITS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43928" y="3895963"/>
            <a:ext cx="1800225" cy="342401"/>
          </a:xfrm>
          <a:prstGeom prst="rect">
            <a:avLst/>
          </a:prstGeom>
          <a:noFill/>
        </p:spPr>
        <p:txBody>
          <a:bodyPr wrap="square" lIns="17145" tIns="17145" rIns="17145" bIns="17145" anchor="t">
            <a:spAutoFit/>
          </a:bodyPr>
          <a:lstStyle/>
          <a:p>
            <a:pPr algn="l"/>
            <a:r>
              <a:rPr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ptos"/>
              </a:rPr>
              <a:t>Safer Communities, Healthier Lives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36601" y="4203929"/>
            <a:ext cx="2083118" cy="588623"/>
          </a:xfrm>
          <a:prstGeom prst="rect">
            <a:avLst/>
          </a:prstGeom>
          <a:noFill/>
        </p:spPr>
        <p:txBody>
          <a:bodyPr wrap="square" lIns="17145" tIns="17145" rIns="17145" bIns="17145" anchor="t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sz="1200" b="1" dirty="0">
                <a:solidFill>
                  <a:srgbClr val="111111"/>
                </a:solidFill>
                <a:latin typeface="Aptos"/>
              </a:rPr>
              <a:t>Reduces counterfeit and substandard products in the market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04454" y="4752148"/>
            <a:ext cx="2083118" cy="403957"/>
          </a:xfrm>
          <a:prstGeom prst="rect">
            <a:avLst/>
          </a:prstGeom>
          <a:noFill/>
        </p:spPr>
        <p:txBody>
          <a:bodyPr wrap="square" lIns="17145" tIns="17145" rIns="17145" bIns="17145" anchor="t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sz="1200" b="1" dirty="0">
                <a:solidFill>
                  <a:srgbClr val="111111"/>
                </a:solidFill>
                <a:latin typeface="Aptos"/>
              </a:rPr>
              <a:t>Protects consumer health and safety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13106" y="5077237"/>
            <a:ext cx="2083118" cy="403957"/>
          </a:xfrm>
          <a:prstGeom prst="rect">
            <a:avLst/>
          </a:prstGeom>
          <a:noFill/>
        </p:spPr>
        <p:txBody>
          <a:bodyPr wrap="square" lIns="17145" tIns="17145" rIns="17145" bIns="17145" anchor="t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sz="1200" b="1" dirty="0">
                <a:solidFill>
                  <a:srgbClr val="111111"/>
                </a:solidFill>
                <a:latin typeface="Aptos"/>
              </a:rPr>
              <a:t>Builds trust in packaged commodities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25917" y="5575549"/>
            <a:ext cx="171450" cy="170175"/>
          </a:xfrm>
          <a:prstGeom prst="rect">
            <a:avLst/>
          </a:prstGeom>
          <a:noFill/>
        </p:spPr>
        <p:txBody>
          <a:bodyPr wrap="square" lIns="17145" tIns="17145" rIns="17145" bIns="17145" anchor="t">
            <a:spAutoFit/>
          </a:bodyPr>
          <a:lstStyle/>
          <a:p>
            <a:pPr algn="l"/>
            <a:r>
              <a:rPr sz="881" b="1">
                <a:solidFill>
                  <a:srgbClr val="D92E79"/>
                </a:solidFill>
                <a:latin typeface="Aptos"/>
              </a:rPr>
              <a:t>✓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48802" y="5558404"/>
            <a:ext cx="2083118" cy="138499"/>
          </a:xfrm>
          <a:prstGeom prst="rect">
            <a:avLst/>
          </a:prstGeom>
          <a:noFill/>
        </p:spPr>
        <p:txBody>
          <a:bodyPr wrap="square" lIns="17145" tIns="17145" rIns="17145" bIns="17145" anchor="t">
            <a:spAutoFit/>
          </a:bodyPr>
          <a:lstStyle/>
          <a:p>
            <a:pPr algn="l"/>
            <a:r>
              <a:rPr sz="675">
                <a:solidFill>
                  <a:srgbClr val="111111"/>
                </a:solidFill>
                <a:latin typeface="Aptos"/>
              </a:rPr>
              <a:t>Promotes transparency and accountability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567037" y="5507046"/>
            <a:ext cx="2384443" cy="31707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">
            <a:solidFill>
              <a:srgbClr val="C0000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2" name="TextBox 71"/>
          <p:cNvSpPr txBox="1"/>
          <p:nvPr/>
        </p:nvSpPr>
        <p:spPr>
          <a:xfrm>
            <a:off x="517776" y="5578998"/>
            <a:ext cx="2610713" cy="196208"/>
          </a:xfrm>
          <a:prstGeom prst="rect">
            <a:avLst/>
          </a:prstGeom>
          <a:noFill/>
        </p:spPr>
        <p:txBody>
          <a:bodyPr wrap="square" lIns="17145" tIns="17145" rIns="17145" bIns="17145" anchor="ctr">
            <a:spAutoFit/>
          </a:bodyPr>
          <a:lstStyle/>
          <a:p>
            <a:pPr algn="ctr"/>
            <a:r>
              <a:rPr sz="1050" b="1" dirty="0">
                <a:solidFill>
                  <a:srgbClr val="C00000"/>
                </a:solidFill>
                <a:latin typeface="+mj-lt"/>
              </a:rPr>
              <a:t>Healthy people. Stronger communities.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706804" y="3639854"/>
            <a:ext cx="2650409" cy="342401"/>
          </a:xfrm>
          <a:prstGeom prst="rect">
            <a:avLst/>
          </a:prstGeom>
          <a:noFill/>
        </p:spPr>
        <p:txBody>
          <a:bodyPr wrap="square" lIns="17145" tIns="17145" rIns="17145" bIns="17145" anchor="t">
            <a:spAutoFit/>
          </a:bodyPr>
          <a:lstStyle/>
          <a:p>
            <a:pPr algn="l"/>
            <a:r>
              <a:rPr sz="2000" b="1" dirty="0">
                <a:latin typeface="Aptos"/>
              </a:rPr>
              <a:t>ECONOMIC BENEFITS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018937" y="3930852"/>
            <a:ext cx="1955643" cy="188513"/>
          </a:xfrm>
          <a:prstGeom prst="rect">
            <a:avLst/>
          </a:prstGeom>
          <a:noFill/>
        </p:spPr>
        <p:txBody>
          <a:bodyPr wrap="square" lIns="17145" tIns="17145" rIns="17145" bIns="17145" anchor="t">
            <a:spAutoFit/>
          </a:bodyPr>
          <a:lstStyle/>
          <a:p>
            <a:pPr algn="l"/>
            <a:r>
              <a:rPr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ptos"/>
              </a:rPr>
              <a:t>Fair Market, Stronger Economy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771057" y="4133219"/>
            <a:ext cx="2335122" cy="588623"/>
          </a:xfrm>
          <a:prstGeom prst="rect">
            <a:avLst/>
          </a:prstGeom>
          <a:noFill/>
        </p:spPr>
        <p:txBody>
          <a:bodyPr wrap="square" lIns="17145" tIns="17145" rIns="17145" bIns="17145" anchor="t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sz="1200" b="1" dirty="0">
                <a:latin typeface="Aptos"/>
              </a:rPr>
              <a:t>Prevents revenue loss due to tax evasion and under-declaration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775850" y="4662715"/>
            <a:ext cx="2439112" cy="403957"/>
          </a:xfrm>
          <a:prstGeom prst="rect">
            <a:avLst/>
          </a:prstGeom>
          <a:noFill/>
        </p:spPr>
        <p:txBody>
          <a:bodyPr wrap="square" lIns="17145" tIns="17145" rIns="17145" bIns="17145" anchor="t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sz="1200" b="1" dirty="0">
                <a:latin typeface="Aptos"/>
              </a:rPr>
              <a:t>Supports honest manufacturers and small businesses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760878" y="5035682"/>
            <a:ext cx="2221520" cy="403957"/>
          </a:xfrm>
          <a:prstGeom prst="rect">
            <a:avLst/>
          </a:prstGeom>
          <a:noFill/>
        </p:spPr>
        <p:txBody>
          <a:bodyPr wrap="square" lIns="17145" tIns="17145" rIns="17145" bIns="17145" anchor="t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sz="1200" b="1" dirty="0">
                <a:latin typeface="Aptos"/>
              </a:rPr>
              <a:t>Reduces cost of compliance through digital automation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676968" y="5511832"/>
            <a:ext cx="171450" cy="170175"/>
          </a:xfrm>
          <a:prstGeom prst="rect">
            <a:avLst/>
          </a:prstGeom>
          <a:noFill/>
        </p:spPr>
        <p:txBody>
          <a:bodyPr wrap="square" lIns="17145" tIns="17145" rIns="17145" bIns="17145" anchor="t">
            <a:spAutoFit/>
          </a:bodyPr>
          <a:lstStyle/>
          <a:p>
            <a:pPr algn="l"/>
            <a:r>
              <a:rPr sz="881" b="1">
                <a:solidFill>
                  <a:srgbClr val="2E64B1"/>
                </a:solidFill>
                <a:latin typeface="Aptos"/>
              </a:rPr>
              <a:t>✓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760878" y="5485755"/>
            <a:ext cx="2083118" cy="342401"/>
          </a:xfrm>
          <a:prstGeom prst="rect">
            <a:avLst/>
          </a:prstGeom>
          <a:noFill/>
        </p:spPr>
        <p:txBody>
          <a:bodyPr wrap="square" lIns="17145" tIns="17145" rIns="17145" bIns="17145" anchor="t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sz="1000" b="1">
                <a:latin typeface="Aptos"/>
              </a:rPr>
              <a:t>Boosts investor confidence and trade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3938725" y="5479323"/>
            <a:ext cx="2059055" cy="334328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tx2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3835717" y="5547781"/>
            <a:ext cx="2160270" cy="196208"/>
          </a:xfrm>
          <a:prstGeom prst="rect">
            <a:avLst/>
          </a:prstGeom>
          <a:noFill/>
        </p:spPr>
        <p:txBody>
          <a:bodyPr wrap="square" lIns="17145" tIns="17145" rIns="17145" bIns="17145" anchor="ctr">
            <a:spAutoFit/>
          </a:bodyPr>
          <a:lstStyle/>
          <a:p>
            <a:pPr algn="ctr"/>
            <a:r>
              <a:rPr sz="1050" b="1" dirty="0">
                <a:solidFill>
                  <a:schemeClr val="tx2"/>
                </a:solidFill>
                <a:latin typeface="+mj-lt"/>
              </a:rPr>
              <a:t>More compliance. More growth.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234980" y="3493634"/>
            <a:ext cx="2366011" cy="588623"/>
          </a:xfrm>
          <a:prstGeom prst="rect">
            <a:avLst/>
          </a:prstGeom>
          <a:noFill/>
        </p:spPr>
        <p:txBody>
          <a:bodyPr wrap="square" lIns="17145" tIns="17145" rIns="17145" bIns="17145" anchor="t">
            <a:spAutoFit/>
          </a:bodyPr>
          <a:lstStyle/>
          <a:p>
            <a:pPr algn="l"/>
            <a:r>
              <a:rPr b="1" dirty="0">
                <a:latin typeface="Aptos"/>
              </a:rPr>
              <a:t>ENVIRONMENTAL BENEFITS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940457" y="3986074"/>
            <a:ext cx="2366011" cy="188513"/>
          </a:xfrm>
          <a:prstGeom prst="rect">
            <a:avLst/>
          </a:prstGeom>
          <a:noFill/>
        </p:spPr>
        <p:txBody>
          <a:bodyPr wrap="square" lIns="17145" tIns="17145" rIns="17145" bIns="17145" anchor="t">
            <a:spAutoFit/>
          </a:bodyPr>
          <a:lstStyle/>
          <a:p>
            <a:pPr algn="l"/>
            <a:r>
              <a:rPr sz="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ptos"/>
              </a:rPr>
              <a:t>Sustainable</a:t>
            </a:r>
            <a:r>
              <a:rPr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ptos"/>
              </a:rPr>
              <a:t> Choices, Greener Future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817130" y="4178433"/>
            <a:ext cx="2083118" cy="403957"/>
          </a:xfrm>
          <a:prstGeom prst="rect">
            <a:avLst/>
          </a:prstGeom>
          <a:noFill/>
        </p:spPr>
        <p:txBody>
          <a:bodyPr wrap="square" lIns="17145" tIns="17145" rIns="17145" bIns="17145" anchor="t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sz="1200" b="1" dirty="0">
                <a:solidFill>
                  <a:srgbClr val="111111"/>
                </a:solidFill>
                <a:latin typeface="Aptos"/>
              </a:rPr>
              <a:t>Promotes responsible packaging and labeling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817130" y="4607058"/>
            <a:ext cx="2083118" cy="403957"/>
          </a:xfrm>
          <a:prstGeom prst="rect">
            <a:avLst/>
          </a:prstGeom>
          <a:noFill/>
        </p:spPr>
        <p:txBody>
          <a:bodyPr wrap="square" lIns="17145" tIns="17145" rIns="17145" bIns="17145" anchor="t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sz="1200" b="1" dirty="0">
                <a:solidFill>
                  <a:srgbClr val="111111"/>
                </a:solidFill>
                <a:latin typeface="Aptos"/>
              </a:rPr>
              <a:t>Reduces waste from fake/expired products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817130" y="5035683"/>
            <a:ext cx="2083118" cy="403957"/>
          </a:xfrm>
          <a:prstGeom prst="rect">
            <a:avLst/>
          </a:prstGeom>
          <a:noFill/>
        </p:spPr>
        <p:txBody>
          <a:bodyPr wrap="square" lIns="17145" tIns="17145" rIns="17145" bIns="17145" anchor="t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sz="1200" b="1">
                <a:solidFill>
                  <a:srgbClr val="111111"/>
                </a:solidFill>
                <a:latin typeface="Aptos"/>
              </a:rPr>
              <a:t>Supports sustainable and eco-friendly supply chains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6940457" y="5489791"/>
            <a:ext cx="2199981" cy="33432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">
            <a:solidFill>
              <a:srgbClr val="00B050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6953190" y="5577803"/>
            <a:ext cx="2160270" cy="203902"/>
          </a:xfrm>
          <a:prstGeom prst="rect">
            <a:avLst/>
          </a:prstGeom>
          <a:noFill/>
        </p:spPr>
        <p:txBody>
          <a:bodyPr wrap="square" lIns="17145" tIns="17145" rIns="17145" bIns="17145" anchor="ctr">
            <a:spAutoFit/>
          </a:bodyPr>
          <a:lstStyle/>
          <a:p>
            <a:pPr algn="ctr"/>
            <a:r>
              <a:rPr sz="1100" b="1" dirty="0">
                <a:solidFill>
                  <a:srgbClr val="00B050"/>
                </a:solidFill>
                <a:latin typeface="+mj-lt"/>
              </a:rPr>
              <a:t>Less waste. A cleaner tomorrow.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9552861" y="3568723"/>
            <a:ext cx="2457457" cy="296235"/>
          </a:xfrm>
          <a:prstGeom prst="rect">
            <a:avLst/>
          </a:prstGeom>
          <a:noFill/>
        </p:spPr>
        <p:txBody>
          <a:bodyPr wrap="square" lIns="17145" tIns="17145" rIns="17145" bIns="17145" anchor="t">
            <a:spAutoFit/>
          </a:bodyPr>
          <a:lstStyle/>
          <a:p>
            <a:pPr algn="l"/>
            <a:r>
              <a:rPr sz="1700" b="1" dirty="0">
                <a:latin typeface="Aptos"/>
              </a:rPr>
              <a:t>OPERATIONAL BENEFITS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830094" y="3887852"/>
            <a:ext cx="2128860" cy="188513"/>
          </a:xfrm>
          <a:prstGeom prst="rect">
            <a:avLst/>
          </a:prstGeom>
          <a:noFill/>
        </p:spPr>
        <p:txBody>
          <a:bodyPr wrap="square" lIns="17145" tIns="17145" rIns="17145" bIns="17145" anchor="t">
            <a:spAutoFit/>
          </a:bodyPr>
          <a:lstStyle/>
          <a:p>
            <a:pPr algn="l"/>
            <a:r>
              <a:rPr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ptos"/>
              </a:rPr>
              <a:t>Smarter Systems, Higher Efficiency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66400" y="4154191"/>
            <a:ext cx="2083118" cy="403957"/>
          </a:xfrm>
          <a:prstGeom prst="rect">
            <a:avLst/>
          </a:prstGeom>
          <a:noFill/>
        </p:spPr>
        <p:txBody>
          <a:bodyPr wrap="square" lIns="17145" tIns="17145" rIns="17145" bIns="17145" anchor="t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sz="1200" b="1">
                <a:solidFill>
                  <a:srgbClr val="111111"/>
                </a:solidFill>
                <a:latin typeface="Aptos"/>
              </a:rPr>
              <a:t>Automates manual and repetitive tasks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9766400" y="4582816"/>
            <a:ext cx="2083118" cy="403957"/>
          </a:xfrm>
          <a:prstGeom prst="rect">
            <a:avLst/>
          </a:prstGeom>
          <a:noFill/>
        </p:spPr>
        <p:txBody>
          <a:bodyPr wrap="square" lIns="17145" tIns="17145" rIns="17145" bIns="17145" anchor="t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sz="1200" b="1">
                <a:solidFill>
                  <a:srgbClr val="111111"/>
                </a:solidFill>
                <a:latin typeface="Aptos"/>
              </a:rPr>
              <a:t>Saves time with AI-powered analysis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766400" y="5011441"/>
            <a:ext cx="2083118" cy="403957"/>
          </a:xfrm>
          <a:prstGeom prst="rect">
            <a:avLst/>
          </a:prstGeom>
          <a:noFill/>
        </p:spPr>
        <p:txBody>
          <a:bodyPr wrap="square" lIns="17145" tIns="17145" rIns="17145" bIns="17145" anchor="t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sz="1200" b="1">
                <a:solidFill>
                  <a:srgbClr val="111111"/>
                </a:solidFill>
                <a:latin typeface="Aptos"/>
              </a:rPr>
              <a:t>Enables offline-first field operations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9966798" y="5476997"/>
            <a:ext cx="1548702" cy="33432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6350">
            <a:solidFill>
              <a:schemeClr val="accent4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7" name="TextBox 116"/>
          <p:cNvSpPr txBox="1"/>
          <p:nvPr/>
        </p:nvSpPr>
        <p:spPr>
          <a:xfrm>
            <a:off x="9695237" y="5516091"/>
            <a:ext cx="2160270" cy="219291"/>
          </a:xfrm>
          <a:prstGeom prst="rect">
            <a:avLst/>
          </a:prstGeom>
          <a:noFill/>
        </p:spPr>
        <p:txBody>
          <a:bodyPr wrap="square" lIns="17145" tIns="17145" rIns="17145" bIns="17145" anchor="ctr">
            <a:spAutoFit/>
          </a:bodyPr>
          <a:lstStyle/>
          <a:p>
            <a:pPr algn="ctr"/>
            <a:r>
              <a:rPr sz="1200" b="1" dirty="0">
                <a:solidFill>
                  <a:srgbClr val="00B050"/>
                </a:solidFill>
                <a:latin typeface="+mj-lt"/>
              </a:rPr>
              <a:t>Do more. In less time.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643890" y="6070300"/>
            <a:ext cx="10904220" cy="728663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8890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1305360" y="6320260"/>
            <a:ext cx="2581358" cy="311624"/>
          </a:xfrm>
          <a:prstGeom prst="rect">
            <a:avLst/>
          </a:prstGeom>
          <a:noFill/>
        </p:spPr>
        <p:txBody>
          <a:bodyPr wrap="square" lIns="17145" tIns="17145" rIns="17145" bIns="17145" anchor="ctr">
            <a:spAutoFit/>
          </a:bodyPr>
          <a:lstStyle/>
          <a:p>
            <a:pPr algn="l"/>
            <a:r>
              <a:rPr b="1" dirty="0">
                <a:latin typeface="+mj-lt"/>
              </a:rPr>
              <a:t>  THE BIG PICTURE</a:t>
            </a:r>
          </a:p>
        </p:txBody>
      </p:sp>
      <p:cxnSp>
        <p:nvCxnSpPr>
          <p:cNvPr id="120" name="Connector 119"/>
          <p:cNvCxnSpPr/>
          <p:nvPr/>
        </p:nvCxnSpPr>
        <p:spPr>
          <a:xfrm>
            <a:off x="3394668" y="6249990"/>
            <a:ext cx="0" cy="471488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8563015" y="6248521"/>
            <a:ext cx="0" cy="471488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2" name="TextBox 121"/>
          <p:cNvSpPr txBox="1"/>
          <p:nvPr/>
        </p:nvSpPr>
        <p:spPr>
          <a:xfrm>
            <a:off x="3475618" y="6120296"/>
            <a:ext cx="4903470" cy="680956"/>
          </a:xfrm>
          <a:prstGeom prst="rect">
            <a:avLst/>
          </a:prstGeom>
          <a:noFill/>
        </p:spPr>
        <p:txBody>
          <a:bodyPr wrap="square" lIns="17145" tIns="17145" rIns="17145" bIns="17145" anchor="t">
            <a:spAutoFit/>
          </a:bodyPr>
          <a:lstStyle/>
          <a:p>
            <a:pPr algn="ctr"/>
            <a:r>
              <a:rPr sz="1400" b="1" dirty="0">
                <a:latin typeface="+mj-lt"/>
              </a:rPr>
              <a:t>Empowering inspectors, protecting consumers,
strengthening businesses and building a safer, fairer
and more sustainable India.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9455917" y="6095123"/>
            <a:ext cx="1905198" cy="680956"/>
          </a:xfrm>
          <a:prstGeom prst="rect">
            <a:avLst/>
          </a:prstGeom>
          <a:noFill/>
        </p:spPr>
        <p:txBody>
          <a:bodyPr wrap="square" lIns="17145" tIns="17145" rIns="17145" bIns="17145" anchor="t">
            <a:spAutoFit/>
          </a:bodyPr>
          <a:lstStyle/>
          <a:p>
            <a:pPr algn="l"/>
            <a:r>
              <a:rPr sz="1400" b="1" dirty="0">
                <a:latin typeface="+mj-lt"/>
              </a:rPr>
              <a:t>Better Compliance
Today for a
Stronger India Tomorrow</a:t>
            </a:r>
          </a:p>
        </p:txBody>
      </p: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10A39717-9D13-EFF8-6FA1-6245B6B7DFB2}"/>
              </a:ext>
            </a:extLst>
          </p:cNvPr>
          <p:cNvCxnSpPr>
            <a:cxnSpLocks/>
            <a:stCxn id="13" idx="3"/>
          </p:cNvCxnSpPr>
          <p:nvPr/>
        </p:nvCxnSpPr>
        <p:spPr>
          <a:xfrm flipV="1">
            <a:off x="5613426" y="2067162"/>
            <a:ext cx="192880" cy="4052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411" name="Straight Arrow Connector 17410">
            <a:extLst>
              <a:ext uri="{FF2B5EF4-FFF2-40B4-BE49-F238E27FC236}">
                <a16:creationId xmlns:a16="http://schemas.microsoft.com/office/drawing/2014/main" id="{8E17241E-E7C4-1B38-208D-0800658CCFA7}"/>
              </a:ext>
            </a:extLst>
          </p:cNvPr>
          <p:cNvCxnSpPr>
            <a:cxnSpLocks/>
          </p:cNvCxnSpPr>
          <p:nvPr/>
        </p:nvCxnSpPr>
        <p:spPr>
          <a:xfrm flipV="1">
            <a:off x="7759055" y="2082254"/>
            <a:ext cx="192880" cy="4052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7425" name="Picture 17424">
            <a:extLst>
              <a:ext uri="{FF2B5EF4-FFF2-40B4-BE49-F238E27FC236}">
                <a16:creationId xmlns:a16="http://schemas.microsoft.com/office/drawing/2014/main" id="{F84315A6-98C7-21AD-9B36-3B78CBA0E8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0335" y="1442259"/>
            <a:ext cx="465713" cy="465713"/>
          </a:xfrm>
          <a:prstGeom prst="ellipse">
            <a:avLst/>
          </a:prstGeom>
          <a:ln w="3175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17427" name="Picture 17426">
            <a:extLst>
              <a:ext uri="{FF2B5EF4-FFF2-40B4-BE49-F238E27FC236}">
                <a16:creationId xmlns:a16="http://schemas.microsoft.com/office/drawing/2014/main" id="{B45DD08D-379D-606B-A065-CA660B4D6F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93720" y="1400399"/>
            <a:ext cx="505704" cy="505704"/>
          </a:xfrm>
          <a:prstGeom prst="ellipse">
            <a:avLst/>
          </a:prstGeom>
          <a:ln w="3175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17429" name="Picture 17428">
            <a:extLst>
              <a:ext uri="{FF2B5EF4-FFF2-40B4-BE49-F238E27FC236}">
                <a16:creationId xmlns:a16="http://schemas.microsoft.com/office/drawing/2014/main" id="{12C6F45D-2AB7-882B-4846-D26D4FC5ECB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33216" y="1409223"/>
            <a:ext cx="474307" cy="474307"/>
          </a:xfrm>
          <a:prstGeom prst="ellipse">
            <a:avLst/>
          </a:prstGeom>
          <a:ln w="3175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17431" name="Picture 17430">
            <a:extLst>
              <a:ext uri="{FF2B5EF4-FFF2-40B4-BE49-F238E27FC236}">
                <a16:creationId xmlns:a16="http://schemas.microsoft.com/office/drawing/2014/main" id="{188D12C3-C0E6-0E6D-BCFD-BDF995617CD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88119" y="1410990"/>
            <a:ext cx="492931" cy="484832"/>
          </a:xfrm>
          <a:prstGeom prst="ellipse">
            <a:avLst/>
          </a:prstGeom>
          <a:ln w="3175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17437" name="Picture 17436">
            <a:extLst>
              <a:ext uri="{FF2B5EF4-FFF2-40B4-BE49-F238E27FC236}">
                <a16:creationId xmlns:a16="http://schemas.microsoft.com/office/drawing/2014/main" id="{8F6374A2-34F5-7B91-E76F-6A7637AB20C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594" y="1088961"/>
            <a:ext cx="585704" cy="585704"/>
          </a:xfrm>
          <a:prstGeom prst="rect">
            <a:avLst/>
          </a:prstGeom>
        </p:spPr>
      </p:pic>
      <p:cxnSp>
        <p:nvCxnSpPr>
          <p:cNvPr id="17440" name="Straight Arrow Connector 17439">
            <a:extLst>
              <a:ext uri="{FF2B5EF4-FFF2-40B4-BE49-F238E27FC236}">
                <a16:creationId xmlns:a16="http://schemas.microsoft.com/office/drawing/2014/main" id="{4B71E3D5-2E72-8C50-CEAF-AF3BF2F30E95}"/>
              </a:ext>
            </a:extLst>
          </p:cNvPr>
          <p:cNvCxnSpPr>
            <a:cxnSpLocks/>
          </p:cNvCxnSpPr>
          <p:nvPr/>
        </p:nvCxnSpPr>
        <p:spPr>
          <a:xfrm flipV="1">
            <a:off x="9873882" y="1986836"/>
            <a:ext cx="192880" cy="4052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7442" name="Picture 17441">
            <a:extLst>
              <a:ext uri="{FF2B5EF4-FFF2-40B4-BE49-F238E27FC236}">
                <a16:creationId xmlns:a16="http://schemas.microsoft.com/office/drawing/2014/main" id="{1305AD25-764C-1A3F-A23E-014DC22A608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532" y="3005908"/>
            <a:ext cx="487406" cy="487406"/>
          </a:xfrm>
          <a:prstGeom prst="rect">
            <a:avLst/>
          </a:prstGeom>
        </p:spPr>
      </p:pic>
      <p:pic>
        <p:nvPicPr>
          <p:cNvPr id="17445" name="Picture 17444">
            <a:extLst>
              <a:ext uri="{FF2B5EF4-FFF2-40B4-BE49-F238E27FC236}">
                <a16:creationId xmlns:a16="http://schemas.microsoft.com/office/drawing/2014/main" id="{AA69C43D-8857-FC99-6A4B-0E79388EA1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9242" y="3587245"/>
            <a:ext cx="489120" cy="489120"/>
          </a:xfrm>
          <a:prstGeom prst="ellipse">
            <a:avLst/>
          </a:prstGeom>
          <a:ln w="3175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17447" name="Picture 17446">
            <a:extLst>
              <a:ext uri="{FF2B5EF4-FFF2-40B4-BE49-F238E27FC236}">
                <a16:creationId xmlns:a16="http://schemas.microsoft.com/office/drawing/2014/main" id="{0C2C5AAB-114A-6579-AFDD-D212A6D2C34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81794" y="3616001"/>
            <a:ext cx="432099" cy="432099"/>
          </a:xfrm>
          <a:prstGeom prst="ellipse">
            <a:avLst/>
          </a:prstGeom>
          <a:ln w="3175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17449" name="Picture 17448">
            <a:extLst>
              <a:ext uri="{FF2B5EF4-FFF2-40B4-BE49-F238E27FC236}">
                <a16:creationId xmlns:a16="http://schemas.microsoft.com/office/drawing/2014/main" id="{BA537885-82FD-0412-E312-820BDADAF07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00751" y="3568723"/>
            <a:ext cx="461101" cy="461101"/>
          </a:xfrm>
          <a:prstGeom prst="rect">
            <a:avLst/>
          </a:prstGeom>
        </p:spPr>
      </p:pic>
      <p:pic>
        <p:nvPicPr>
          <p:cNvPr id="17451" name="Picture 17450">
            <a:extLst>
              <a:ext uri="{FF2B5EF4-FFF2-40B4-BE49-F238E27FC236}">
                <a16:creationId xmlns:a16="http://schemas.microsoft.com/office/drawing/2014/main" id="{D3DF393F-B384-2F50-22BA-32DD8AB09B4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413550" y="3785126"/>
            <a:ext cx="393963" cy="393963"/>
          </a:xfrm>
          <a:prstGeom prst="rect">
            <a:avLst/>
          </a:prstGeom>
        </p:spPr>
      </p:pic>
      <p:pic>
        <p:nvPicPr>
          <p:cNvPr id="17453" name="Picture 17452">
            <a:extLst>
              <a:ext uri="{FF2B5EF4-FFF2-40B4-BE49-F238E27FC236}">
                <a16:creationId xmlns:a16="http://schemas.microsoft.com/office/drawing/2014/main" id="{A087B3AA-B070-8DF7-67C9-BD393EF6960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22839" y="5514462"/>
            <a:ext cx="384518" cy="384518"/>
          </a:xfrm>
          <a:prstGeom prst="ellipse">
            <a:avLst/>
          </a:prstGeom>
          <a:ln w="3175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17455" name="Picture 17454">
            <a:extLst>
              <a:ext uri="{FF2B5EF4-FFF2-40B4-BE49-F238E27FC236}">
                <a16:creationId xmlns:a16="http://schemas.microsoft.com/office/drawing/2014/main" id="{831B9BDE-01F6-B4FC-4F83-D75C807A828A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421981" y="5415221"/>
            <a:ext cx="474026" cy="474026"/>
          </a:xfrm>
          <a:prstGeom prst="ellipse">
            <a:avLst/>
          </a:prstGeom>
          <a:ln w="3175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17457" name="Picture 17456">
            <a:extLst>
              <a:ext uri="{FF2B5EF4-FFF2-40B4-BE49-F238E27FC236}">
                <a16:creationId xmlns:a16="http://schemas.microsoft.com/office/drawing/2014/main" id="{9F003BF1-EA04-A7D6-CC5B-546366EA1D9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18890" y="5473255"/>
            <a:ext cx="339794" cy="339794"/>
          </a:xfrm>
          <a:prstGeom prst="rect">
            <a:avLst/>
          </a:prstGeom>
        </p:spPr>
      </p:pic>
      <p:pic>
        <p:nvPicPr>
          <p:cNvPr id="17459" name="Picture 17458">
            <a:extLst>
              <a:ext uri="{FF2B5EF4-FFF2-40B4-BE49-F238E27FC236}">
                <a16:creationId xmlns:a16="http://schemas.microsoft.com/office/drawing/2014/main" id="{A37DCDED-B3FD-733A-9EB7-4EEB634FC63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500515" y="5433878"/>
            <a:ext cx="393963" cy="393963"/>
          </a:xfrm>
          <a:prstGeom prst="rect">
            <a:avLst/>
          </a:prstGeom>
        </p:spPr>
      </p:pic>
      <p:pic>
        <p:nvPicPr>
          <p:cNvPr id="17462" name="Picture 17461">
            <a:extLst>
              <a:ext uri="{FF2B5EF4-FFF2-40B4-BE49-F238E27FC236}">
                <a16:creationId xmlns:a16="http://schemas.microsoft.com/office/drawing/2014/main" id="{4AB808D7-6854-CE85-49F9-31FF81903629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13106" y="6267773"/>
            <a:ext cx="443490" cy="443490"/>
          </a:xfrm>
          <a:prstGeom prst="rect">
            <a:avLst/>
          </a:prstGeom>
        </p:spPr>
      </p:pic>
      <p:pic>
        <p:nvPicPr>
          <p:cNvPr id="17465" name="Picture 17464">
            <a:extLst>
              <a:ext uri="{FF2B5EF4-FFF2-40B4-BE49-F238E27FC236}">
                <a16:creationId xmlns:a16="http://schemas.microsoft.com/office/drawing/2014/main" id="{094A3B32-7BCF-FC46-E45A-39C2112F6021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799977" y="6120296"/>
            <a:ext cx="626966" cy="621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83262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12">
            <a:extLst>
              <a:ext uri="{FF2B5EF4-FFF2-40B4-BE49-F238E27FC236}">
                <a16:creationId xmlns:a16="http://schemas.microsoft.com/office/drawing/2014/main" id="{BD603481-ABFD-1DA2-265A-70EDDD8971C5}"/>
              </a:ext>
            </a:extLst>
          </p:cNvPr>
          <p:cNvSpPr/>
          <p:nvPr/>
        </p:nvSpPr>
        <p:spPr>
          <a:xfrm>
            <a:off x="197126" y="1141876"/>
            <a:ext cx="5563592" cy="1527048"/>
          </a:xfrm>
          <a:prstGeom prst="roundRect">
            <a:avLst/>
          </a:prstGeom>
          <a:solidFill>
            <a:srgbClr val="EEF6FF"/>
          </a:solidFill>
          <a:ln w="11430">
            <a:solidFill>
              <a:srgbClr val="2E64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sz="3600" b="1" dirty="0">
                <a:solidFill>
                  <a:srgbClr val="000000"/>
                </a:solidFill>
                <a:latin typeface="Times New Roman"/>
              </a:rPr>
              <a:t>RESEARCH AND REFERENCES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2" name="Oval 17411"/>
          <p:cNvSpPr/>
          <p:nvPr/>
        </p:nvSpPr>
        <p:spPr>
          <a:xfrm>
            <a:off x="332635" y="1251604"/>
            <a:ext cx="563477" cy="438912"/>
          </a:xfrm>
          <a:prstGeom prst="ellipse">
            <a:avLst/>
          </a:prstGeom>
          <a:solidFill>
            <a:srgbClr val="FFFFFF"/>
          </a:solidFill>
          <a:ln w="1524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4472C4"/>
                </a:solidFill>
                <a:latin typeface="Aptos"/>
              </a:rPr>
              <a:t>LM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941832" y="1325880"/>
            <a:ext cx="46360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20" b="1">
                <a:solidFill>
                  <a:srgbClr val="1F3E66"/>
                </a:solidFill>
                <a:latin typeface="Aptos"/>
              </a:rPr>
              <a:t>Legal Metrology &amp; Compliance (India)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484632" y="1764792"/>
            <a:ext cx="502920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dirty="0">
                <a:solidFill>
                  <a:srgbClr val="141414"/>
                </a:solidFill>
                <a:latin typeface="Aptos"/>
              </a:rPr>
              <a:t>• Legal Metrology (Packaged Commodities) Rules, 2011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609600" y="1981200"/>
            <a:ext cx="48920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660" u="sng" dirty="0">
                <a:solidFill>
                  <a:srgbClr val="005BBB"/>
                </a:solidFill>
                <a:latin typeface="Aptos"/>
                <a:hlinkClick r:id="rId4"/>
              </a:rPr>
              <a:t>https://simpliance.in/India/EHS/govt_notification/Central/frequently-asked-questions-relating-to-legal-metrology-packaged-commodities-rules-2011-and-model-approval-requirements-9571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484632" y="2258568"/>
            <a:ext cx="502920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dirty="0">
                <a:solidFill>
                  <a:srgbClr val="141414"/>
                </a:solidFill>
                <a:latin typeface="Aptos"/>
              </a:rPr>
              <a:t>• 2026 Amendment Rules – AEO &amp; Corporate Accountability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621792" y="2480423"/>
            <a:ext cx="489204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 u="sng" dirty="0">
                <a:solidFill>
                  <a:srgbClr val="005BBB"/>
                </a:solidFill>
                <a:latin typeface="Aptos"/>
                <a:hlinkClick r:id="rId5"/>
              </a:rPr>
              <a:t>https://www.indialaw.in/blog/environment/legal-metrology-packaged-commodities-amendment-rules/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5961888" y="1188720"/>
            <a:ext cx="5925312" cy="1527048"/>
          </a:xfrm>
          <a:prstGeom prst="roundRect">
            <a:avLst/>
          </a:prstGeom>
          <a:solidFill>
            <a:srgbClr val="EEFAF3"/>
          </a:solidFill>
          <a:ln w="15240">
            <a:solidFill>
              <a:srgbClr val="008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0" name="Oval 17419"/>
          <p:cNvSpPr/>
          <p:nvPr/>
        </p:nvSpPr>
        <p:spPr>
          <a:xfrm>
            <a:off x="6096000" y="1251776"/>
            <a:ext cx="641229" cy="438912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8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20" b="1" dirty="0">
                <a:solidFill>
                  <a:srgbClr val="008E5B"/>
                </a:solidFill>
                <a:latin typeface="Aptos"/>
              </a:rPr>
              <a:t>OCR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6675120" y="132588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20" b="1">
                <a:solidFill>
                  <a:srgbClr val="1F3E66"/>
                </a:solidFill>
                <a:latin typeface="Aptos"/>
              </a:rPr>
              <a:t>Multilingual OCR for Indian Languages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6217920" y="1764792"/>
            <a:ext cx="5422392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dirty="0">
                <a:solidFill>
                  <a:srgbClr val="141414"/>
                </a:solidFill>
                <a:latin typeface="Aptos"/>
              </a:rPr>
              <a:t>• PaddleOCR-VL: Multilingual OCR with 109 Languages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6364224" y="1956816"/>
            <a:ext cx="5285232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 u="sng" dirty="0">
                <a:solidFill>
                  <a:srgbClr val="005BBB"/>
                </a:solidFill>
                <a:latin typeface="Aptos"/>
                <a:hlinkClick r:id="rId6"/>
              </a:rPr>
              <a:t>https://arxiv.org/html/2510.14528v1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6217920" y="2258568"/>
            <a:ext cx="5422392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dirty="0">
                <a:solidFill>
                  <a:srgbClr val="141414"/>
                </a:solidFill>
                <a:latin typeface="Aptos"/>
              </a:rPr>
              <a:t>• PaddleOCR PP-OCRv5 Multilingual Models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6364224" y="2450592"/>
            <a:ext cx="528523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660" u="sng">
                <a:solidFill>
                  <a:srgbClr val="005BBB"/>
                </a:solidFill>
                <a:latin typeface="Aptos"/>
                <a:hlinkClick r:id="rId7"/>
              </a:rPr>
              <a:t>https://github.com/PaddlePaddle/PaddleOCR/blob/main/docs/version3.x/algorithm/PP-OCRv5/PP-OCRv5_multi_languages.en.md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228600" y="2834640"/>
            <a:ext cx="5532120" cy="1527048"/>
          </a:xfrm>
          <a:prstGeom prst="roundRect">
            <a:avLst/>
          </a:prstGeom>
          <a:solidFill>
            <a:srgbClr val="FFF0F6"/>
          </a:solidFill>
          <a:ln w="15240">
            <a:solidFill>
              <a:srgbClr val="D544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8" name="Oval 17427"/>
          <p:cNvSpPr/>
          <p:nvPr/>
        </p:nvSpPr>
        <p:spPr>
          <a:xfrm>
            <a:off x="332635" y="2889504"/>
            <a:ext cx="586337" cy="438912"/>
          </a:xfrm>
          <a:prstGeom prst="ellipse">
            <a:avLst/>
          </a:prstGeom>
          <a:solidFill>
            <a:srgbClr val="FFFFFF"/>
          </a:solidFill>
          <a:ln w="15240">
            <a:solidFill>
              <a:srgbClr val="D544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 dirty="0">
                <a:solidFill>
                  <a:srgbClr val="D54456"/>
                </a:solidFill>
                <a:latin typeface="Aptos"/>
              </a:rPr>
              <a:t>CV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941832" y="2971800"/>
            <a:ext cx="46360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20" b="1">
                <a:solidFill>
                  <a:srgbClr val="1F3E66"/>
                </a:solidFill>
                <a:latin typeface="Aptos"/>
              </a:rPr>
              <a:t>Computer Vision for Regulatory Marks &amp; Food Safety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484632" y="3410712"/>
            <a:ext cx="502920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dirty="0">
                <a:solidFill>
                  <a:srgbClr val="141414"/>
                </a:solidFill>
                <a:latin typeface="Aptos"/>
              </a:rPr>
              <a:t>• 5-Class Food Certification Dataset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630936" y="3602736"/>
            <a:ext cx="4892040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u="sng" dirty="0">
                <a:solidFill>
                  <a:srgbClr val="005BBB"/>
                </a:solidFill>
                <a:latin typeface="Aptos"/>
                <a:hlinkClick r:id="rId8"/>
              </a:rPr>
              <a:t>https://universe.roboflow.com/labelblind/5-class-g6oha</a:t>
            </a:r>
          </a:p>
        </p:txBody>
      </p:sp>
      <p:sp>
        <p:nvSpPr>
          <p:cNvPr id="17432" name="TextBox 17431"/>
          <p:cNvSpPr txBox="1"/>
          <p:nvPr/>
        </p:nvSpPr>
        <p:spPr>
          <a:xfrm>
            <a:off x="480060" y="3864749"/>
            <a:ext cx="502920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dirty="0">
                <a:solidFill>
                  <a:srgbClr val="141414"/>
                </a:solidFill>
                <a:latin typeface="Aptos"/>
              </a:rPr>
              <a:t>• AI in Food Safety Governance – Review Article</a:t>
            </a:r>
          </a:p>
        </p:txBody>
      </p:sp>
      <p:sp>
        <p:nvSpPr>
          <p:cNvPr id="17433" name="TextBox 17432"/>
          <p:cNvSpPr txBox="1"/>
          <p:nvPr/>
        </p:nvSpPr>
        <p:spPr>
          <a:xfrm>
            <a:off x="630936" y="4096511"/>
            <a:ext cx="4892040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u="sng" dirty="0">
                <a:solidFill>
                  <a:srgbClr val="005BBB"/>
                </a:solidFill>
                <a:latin typeface="Aptos"/>
                <a:hlinkClick r:id="rId9"/>
              </a:rPr>
              <a:t>https://iledu.in/v6i997/</a:t>
            </a:r>
          </a:p>
        </p:txBody>
      </p:sp>
      <p:sp>
        <p:nvSpPr>
          <p:cNvPr id="17434" name="Rounded Rectangle 17433"/>
          <p:cNvSpPr/>
          <p:nvPr/>
        </p:nvSpPr>
        <p:spPr>
          <a:xfrm>
            <a:off x="5961888" y="2834640"/>
            <a:ext cx="5925312" cy="1527048"/>
          </a:xfrm>
          <a:prstGeom prst="roundRect">
            <a:avLst/>
          </a:prstGeom>
          <a:solidFill>
            <a:srgbClr val="FFF8EB"/>
          </a:solidFill>
          <a:ln w="15240">
            <a:solidFill>
              <a:srgbClr val="F28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6" name="Oval 17435"/>
          <p:cNvSpPr/>
          <p:nvPr/>
        </p:nvSpPr>
        <p:spPr>
          <a:xfrm>
            <a:off x="6012180" y="2898648"/>
            <a:ext cx="644652" cy="438912"/>
          </a:xfrm>
          <a:prstGeom prst="ellipse">
            <a:avLst/>
          </a:prstGeom>
          <a:solidFill>
            <a:srgbClr val="FFFFFF"/>
          </a:solidFill>
          <a:ln w="15240">
            <a:solidFill>
              <a:srgbClr val="F28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20" b="1" dirty="0">
                <a:solidFill>
                  <a:srgbClr val="F28E23"/>
                </a:solidFill>
                <a:latin typeface="Aptos"/>
              </a:rPr>
              <a:t>YOLO</a:t>
            </a:r>
          </a:p>
        </p:txBody>
      </p:sp>
      <p:sp>
        <p:nvSpPr>
          <p:cNvPr id="17437" name="TextBox 17436"/>
          <p:cNvSpPr txBox="1"/>
          <p:nvPr/>
        </p:nvSpPr>
        <p:spPr>
          <a:xfrm>
            <a:off x="6675120" y="297180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20" b="1">
                <a:solidFill>
                  <a:srgbClr val="1F3E66"/>
                </a:solidFill>
                <a:latin typeface="Aptos"/>
              </a:rPr>
              <a:t>Computer Vision – Regulatory Mark Detection</a:t>
            </a:r>
          </a:p>
        </p:txBody>
      </p:sp>
      <p:sp>
        <p:nvSpPr>
          <p:cNvPr id="17438" name="TextBox 17437"/>
          <p:cNvSpPr txBox="1"/>
          <p:nvPr/>
        </p:nvSpPr>
        <p:spPr>
          <a:xfrm>
            <a:off x="6217920" y="3410712"/>
            <a:ext cx="5422392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dirty="0">
                <a:solidFill>
                  <a:srgbClr val="141414"/>
                </a:solidFill>
                <a:latin typeface="Aptos"/>
              </a:rPr>
              <a:t>• YOLO: Unified, Real-Time Object Detection – Original Paper (arXiv)</a:t>
            </a:r>
          </a:p>
        </p:txBody>
      </p:sp>
      <p:sp>
        <p:nvSpPr>
          <p:cNvPr id="17439" name="TextBox 17438"/>
          <p:cNvSpPr txBox="1"/>
          <p:nvPr/>
        </p:nvSpPr>
        <p:spPr>
          <a:xfrm>
            <a:off x="6364224" y="3602736"/>
            <a:ext cx="5285232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 u="sng" dirty="0">
                <a:solidFill>
                  <a:srgbClr val="005BBB"/>
                </a:solidFill>
                <a:latin typeface="Aptos"/>
                <a:hlinkClick r:id="rId10"/>
              </a:rPr>
              <a:t>https://arxiv.org/abs/1506.02640</a:t>
            </a:r>
          </a:p>
        </p:txBody>
      </p:sp>
      <p:sp>
        <p:nvSpPr>
          <p:cNvPr id="17440" name="TextBox 17439"/>
          <p:cNvSpPr txBox="1"/>
          <p:nvPr/>
        </p:nvSpPr>
        <p:spPr>
          <a:xfrm>
            <a:off x="6217920" y="3904487"/>
            <a:ext cx="5422392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dirty="0">
                <a:solidFill>
                  <a:srgbClr val="141414"/>
                </a:solidFill>
                <a:latin typeface="Aptos"/>
              </a:rPr>
              <a:t>• Ultralytics YOLOv8 – Official Documentation</a:t>
            </a:r>
          </a:p>
        </p:txBody>
      </p:sp>
      <p:sp>
        <p:nvSpPr>
          <p:cNvPr id="17441" name="TextBox 17440"/>
          <p:cNvSpPr txBox="1"/>
          <p:nvPr/>
        </p:nvSpPr>
        <p:spPr>
          <a:xfrm>
            <a:off x="6364224" y="4096511"/>
            <a:ext cx="5285232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 u="sng" dirty="0">
                <a:solidFill>
                  <a:srgbClr val="005BBB"/>
                </a:solidFill>
                <a:latin typeface="Aptos"/>
                <a:hlinkClick r:id="rId11"/>
              </a:rPr>
              <a:t>https://docs.ultralytics.com</a:t>
            </a:r>
          </a:p>
        </p:txBody>
      </p:sp>
      <p:sp>
        <p:nvSpPr>
          <p:cNvPr id="17442" name="Rounded Rectangle 17441"/>
          <p:cNvSpPr/>
          <p:nvPr/>
        </p:nvSpPr>
        <p:spPr>
          <a:xfrm>
            <a:off x="228600" y="4480560"/>
            <a:ext cx="5532120" cy="1527048"/>
          </a:xfrm>
          <a:prstGeom prst="roundRect">
            <a:avLst/>
          </a:prstGeom>
          <a:solidFill>
            <a:srgbClr val="F5F0FF"/>
          </a:solidFill>
          <a:ln w="12700">
            <a:solidFill>
              <a:srgbClr val="7B6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4" name="Oval 17443"/>
          <p:cNvSpPr/>
          <p:nvPr/>
        </p:nvSpPr>
        <p:spPr>
          <a:xfrm>
            <a:off x="304800" y="4544568"/>
            <a:ext cx="573022" cy="438912"/>
          </a:xfrm>
          <a:prstGeom prst="ellipse">
            <a:avLst/>
          </a:pr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AI</a:t>
            </a:r>
          </a:p>
        </p:txBody>
      </p:sp>
      <p:sp>
        <p:nvSpPr>
          <p:cNvPr id="17445" name="TextBox 17444"/>
          <p:cNvSpPr txBox="1"/>
          <p:nvPr/>
        </p:nvSpPr>
        <p:spPr>
          <a:xfrm>
            <a:off x="941832" y="4617720"/>
            <a:ext cx="466344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50" b="1" dirty="0">
                <a:solidFill>
                  <a:srgbClr val="1F3E66"/>
                </a:solidFill>
                <a:latin typeface="Aptos"/>
              </a:rPr>
              <a:t>Structured Extraction (LLM/NLP) &amp; Barcode Decoding</a:t>
            </a:r>
          </a:p>
        </p:txBody>
      </p:sp>
      <p:sp>
        <p:nvSpPr>
          <p:cNvPr id="17446" name="TextBox 17445"/>
          <p:cNvSpPr txBox="1"/>
          <p:nvPr/>
        </p:nvSpPr>
        <p:spPr>
          <a:xfrm>
            <a:off x="484632" y="5038344"/>
            <a:ext cx="4068421" cy="1692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 dirty="0">
                <a:solidFill>
                  <a:srgbClr val="1F3E66"/>
                </a:solidFill>
                <a:latin typeface="Aptos"/>
              </a:rPr>
              <a:t>• Llama 2: Open Foundation and Fine-Tuned Chat Models (arXiv)</a:t>
            </a:r>
          </a:p>
        </p:txBody>
      </p:sp>
      <p:sp>
        <p:nvSpPr>
          <p:cNvPr id="17447" name="TextBox 17446"/>
          <p:cNvSpPr txBox="1"/>
          <p:nvPr/>
        </p:nvSpPr>
        <p:spPr>
          <a:xfrm>
            <a:off x="630936" y="5233340"/>
            <a:ext cx="1631857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 u="sng" dirty="0">
                <a:solidFill>
                  <a:srgbClr val="0066CC"/>
                </a:solidFill>
                <a:latin typeface="Aptos"/>
                <a:hlinkClick r:id="rId12"/>
              </a:rPr>
              <a:t>https://arxiv.org/abs/2307.09288</a:t>
            </a:r>
          </a:p>
        </p:txBody>
      </p:sp>
      <p:sp>
        <p:nvSpPr>
          <p:cNvPr id="17448" name="TextBox 17447"/>
          <p:cNvSpPr txBox="1"/>
          <p:nvPr/>
        </p:nvSpPr>
        <p:spPr>
          <a:xfrm>
            <a:off x="484632" y="5481828"/>
            <a:ext cx="3297378" cy="1692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 dirty="0">
                <a:solidFill>
                  <a:srgbClr val="1F3E66"/>
                </a:solidFill>
                <a:latin typeface="Aptos"/>
              </a:rPr>
              <a:t>• </a:t>
            </a:r>
            <a:r>
              <a:rPr sz="1100" b="1" dirty="0" err="1">
                <a:solidFill>
                  <a:srgbClr val="1F3E66"/>
                </a:solidFill>
                <a:latin typeface="Aptos"/>
              </a:rPr>
              <a:t>pyzbar</a:t>
            </a:r>
            <a:r>
              <a:rPr sz="1100" b="1" dirty="0">
                <a:solidFill>
                  <a:srgbClr val="1F3E66"/>
                </a:solidFill>
                <a:latin typeface="Aptos"/>
              </a:rPr>
              <a:t> – Barcode/QR Decoding Library Docs (PyPI)</a:t>
            </a:r>
          </a:p>
        </p:txBody>
      </p:sp>
      <p:sp>
        <p:nvSpPr>
          <p:cNvPr id="17449" name="TextBox 17448"/>
          <p:cNvSpPr txBox="1"/>
          <p:nvPr/>
        </p:nvSpPr>
        <p:spPr>
          <a:xfrm>
            <a:off x="621792" y="5701352"/>
            <a:ext cx="1399422" cy="12311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00" u="sng" dirty="0">
                <a:solidFill>
                  <a:srgbClr val="0066CC"/>
                </a:solidFill>
                <a:latin typeface="Aptos"/>
                <a:hlinkClick r:id="rId13"/>
              </a:rPr>
              <a:t>https://pypi.org/project/pyzbar/</a:t>
            </a:r>
          </a:p>
        </p:txBody>
      </p:sp>
      <p:sp>
        <p:nvSpPr>
          <p:cNvPr id="17450" name="Rounded Rectangle 17449"/>
          <p:cNvSpPr/>
          <p:nvPr/>
        </p:nvSpPr>
        <p:spPr>
          <a:xfrm>
            <a:off x="5961888" y="4480560"/>
            <a:ext cx="5925312" cy="152704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C77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52" name="Oval 17451"/>
          <p:cNvSpPr/>
          <p:nvPr/>
        </p:nvSpPr>
        <p:spPr>
          <a:xfrm>
            <a:off x="6012180" y="4507992"/>
            <a:ext cx="589787" cy="438912"/>
          </a:xfrm>
          <a:prstGeom prst="ellipse">
            <a:avLst/>
          </a:pr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17453" name="TextBox 17452"/>
          <p:cNvSpPr txBox="1"/>
          <p:nvPr/>
        </p:nvSpPr>
        <p:spPr>
          <a:xfrm>
            <a:off x="6675120" y="4617720"/>
            <a:ext cx="5056632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50" b="1">
                <a:solidFill>
                  <a:srgbClr val="1F3E66"/>
                </a:solidFill>
                <a:latin typeface="Aptos"/>
              </a:rPr>
              <a:t>Food Packaging &amp; Label Datasets</a:t>
            </a:r>
          </a:p>
        </p:txBody>
      </p:sp>
      <p:sp>
        <p:nvSpPr>
          <p:cNvPr id="17454" name="TextBox 17453"/>
          <p:cNvSpPr txBox="1"/>
          <p:nvPr/>
        </p:nvSpPr>
        <p:spPr>
          <a:xfrm>
            <a:off x="6217920" y="5038344"/>
            <a:ext cx="2212144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 b="1" dirty="0">
                <a:solidFill>
                  <a:srgbClr val="1F3E66"/>
                </a:solidFill>
                <a:latin typeface="Aptos"/>
              </a:rPr>
              <a:t>• General Food Packaging Recognition</a:t>
            </a:r>
          </a:p>
        </p:txBody>
      </p:sp>
      <p:sp>
        <p:nvSpPr>
          <p:cNvPr id="17455" name="TextBox 17454"/>
          <p:cNvSpPr txBox="1"/>
          <p:nvPr/>
        </p:nvSpPr>
        <p:spPr>
          <a:xfrm>
            <a:off x="6345935" y="5186779"/>
            <a:ext cx="4387420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 u="sng">
                <a:solidFill>
                  <a:srgbClr val="0066CC"/>
                </a:solidFill>
                <a:latin typeface="Aptos"/>
                <a:hlinkClick r:id="rId14"/>
              </a:rPr>
              <a:t>https://universe.roboflow.com/computer-vision-workspace/food-packaging-recognition</a:t>
            </a:r>
          </a:p>
        </p:txBody>
      </p:sp>
      <p:sp>
        <p:nvSpPr>
          <p:cNvPr id="17456" name="TextBox 17455"/>
          <p:cNvSpPr txBox="1"/>
          <p:nvPr/>
        </p:nvSpPr>
        <p:spPr>
          <a:xfrm>
            <a:off x="6221520" y="5341656"/>
            <a:ext cx="1639873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 b="1" dirty="0">
                <a:solidFill>
                  <a:srgbClr val="1F3E66"/>
                </a:solidFill>
                <a:latin typeface="Aptos"/>
              </a:rPr>
              <a:t>• Package &amp; Label Detection</a:t>
            </a:r>
          </a:p>
        </p:txBody>
      </p:sp>
      <p:sp>
        <p:nvSpPr>
          <p:cNvPr id="17457" name="TextBox 17456"/>
          <p:cNvSpPr txBox="1"/>
          <p:nvPr/>
        </p:nvSpPr>
        <p:spPr>
          <a:xfrm>
            <a:off x="6355080" y="5532120"/>
            <a:ext cx="4347344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 u="sng" dirty="0">
                <a:solidFill>
                  <a:srgbClr val="0066CC"/>
                </a:solidFill>
                <a:latin typeface="Aptos"/>
                <a:hlinkClick r:id="rId15"/>
              </a:rPr>
              <a:t>https://universe.roboflow.com/packageandbarcode/package-and-label-detection-agjvl</a:t>
            </a:r>
          </a:p>
        </p:txBody>
      </p:sp>
      <p:sp>
        <p:nvSpPr>
          <p:cNvPr id="17458" name="TextBox 17457"/>
          <p:cNvSpPr txBox="1"/>
          <p:nvPr/>
        </p:nvSpPr>
        <p:spPr>
          <a:xfrm>
            <a:off x="6227064" y="5701352"/>
            <a:ext cx="2202526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 b="1" dirty="0">
                <a:solidFill>
                  <a:srgbClr val="1F3E66"/>
                </a:solidFill>
                <a:latin typeface="Aptos"/>
              </a:rPr>
              <a:t>• Food Packaging Info (Text &amp; Regions)</a:t>
            </a:r>
          </a:p>
        </p:txBody>
      </p:sp>
      <p:sp>
        <p:nvSpPr>
          <p:cNvPr id="17459" name="TextBox 17458"/>
          <p:cNvSpPr txBox="1"/>
          <p:nvPr/>
        </p:nvSpPr>
        <p:spPr>
          <a:xfrm>
            <a:off x="6364224" y="5849359"/>
            <a:ext cx="3212418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 u="sng" dirty="0">
                <a:solidFill>
                  <a:srgbClr val="0066CC"/>
                </a:solidFill>
                <a:latin typeface="Aptos"/>
                <a:hlinkClick r:id="rId16"/>
              </a:rPr>
              <a:t>https://universe.roboflow.com/kjobinulaval/food-packaging-info</a:t>
            </a:r>
          </a:p>
        </p:txBody>
      </p:sp>
      <p:sp>
        <p:nvSpPr>
          <p:cNvPr id="5" name="Oval 4" descr="Your startup LOGO">
            <a:extLst>
              <a:ext uri="{FF2B5EF4-FFF2-40B4-BE49-F238E27FC236}">
                <a16:creationId xmlns:a16="http://schemas.microsoft.com/office/drawing/2014/main" id="{149D1AB8-8410-DC13-82D9-9EFB3E64579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32635" y="152741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endParaRPr lang="en-US">
              <a:ea typeface="Calibri"/>
              <a:cs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7A819E-8A7F-0D91-CDE6-F6827E60EE17}"/>
              </a:ext>
            </a:extLst>
          </p:cNvPr>
          <p:cNvSpPr txBox="1"/>
          <p:nvPr/>
        </p:nvSpPr>
        <p:spPr>
          <a:xfrm>
            <a:off x="229305" y="172904"/>
            <a:ext cx="139794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latin typeface="Calibri"/>
                <a:ea typeface="Calibri"/>
                <a:cs typeface="Calibri"/>
              </a:rPr>
              <a:t>TEAM </a:t>
            </a:r>
            <a:endParaRPr lang="en-US" dirty="0">
              <a:latin typeface="Calibri"/>
              <a:cs typeface="Calibri" pitchFamily="34" charset="0"/>
            </a:endParaRPr>
          </a:p>
          <a:p>
            <a:pPr algn="ctr"/>
            <a:r>
              <a:rPr lang="en-US" dirty="0">
                <a:latin typeface="Calibri"/>
                <a:ea typeface="Calibri"/>
                <a:cs typeface="Calibri"/>
              </a:rPr>
              <a:t>MEGATRON</a:t>
            </a:r>
            <a:endParaRPr lang="en-US" dirty="0">
              <a:latin typeface="Calibri"/>
              <a:cs typeface="Calibri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AB1329-71EA-0F75-0841-4442D7BABC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6660790"/>
            <a:ext cx="12191999" cy="226846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6" name="Footer Placeholder 6">
            <a:extLst>
              <a:ext uri="{FF2B5EF4-FFF2-40B4-BE49-F238E27FC236}">
                <a16:creationId xmlns:a16="http://schemas.microsoft.com/office/drawing/2014/main" id="{9E4EC762-144A-2B76-2A7E-884FF93C1EF2}"/>
              </a:ext>
            </a:extLst>
          </p:cNvPr>
          <p:cNvSpPr txBox="1">
            <a:spLocks/>
          </p:cNvSpPr>
          <p:nvPr/>
        </p:nvSpPr>
        <p:spPr>
          <a:xfrm>
            <a:off x="4917505" y="6636001"/>
            <a:ext cx="3869267" cy="25163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r>
              <a:rPr lang="en-US" sz="900" dirty="0">
                <a:solidFill>
                  <a:schemeClr val="bg1"/>
                </a:solidFill>
                <a:latin typeface="TradeGothic"/>
                <a:ea typeface="+mn-ea"/>
              </a:rPr>
              <a:t>@SIH Idea submission- </a:t>
            </a:r>
            <a:r>
              <a:rPr lang="en-US" sz="9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TEAM MEGATRON</a:t>
            </a:r>
            <a:endParaRPr lang="en-US" sz="900" dirty="0">
              <a:solidFill>
                <a:schemeClr val="bg1"/>
              </a:solidFill>
              <a:latin typeface="Calibri"/>
              <a:cs typeface="Calibri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prstClr val="white"/>
              </a:solidFill>
              <a:latin typeface="TradeGothic"/>
              <a:ea typeface="+mn-ea"/>
            </a:endParaRP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03961273-8076-F7BB-D26B-C05D6EA2F7CE}"/>
              </a:ext>
            </a:extLst>
          </p:cNvPr>
          <p:cNvSpPr txBox="1">
            <a:spLocks/>
          </p:cNvSpPr>
          <p:nvPr/>
        </p:nvSpPr>
        <p:spPr>
          <a:xfrm>
            <a:off x="8674994" y="6593537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defTabSz="457200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TradeGothic" pitchFamily="1" charset="0"/>
                <a:ea typeface="ＭＳ Ｐゴシック" pitchFamily="1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6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20" name="object 159">
            <a:extLst>
              <a:ext uri="{FF2B5EF4-FFF2-40B4-BE49-F238E27FC236}">
                <a16:creationId xmlns:a16="http://schemas.microsoft.com/office/drawing/2014/main" id="{A1021FB2-21AA-CE87-6C11-8806DDD7D7A1}"/>
              </a:ext>
            </a:extLst>
          </p:cNvPr>
          <p:cNvSpPr/>
          <p:nvPr/>
        </p:nvSpPr>
        <p:spPr>
          <a:xfrm>
            <a:off x="896112" y="6116021"/>
            <a:ext cx="9989388" cy="473136"/>
          </a:xfrm>
          <a:prstGeom prst="roundRect">
            <a:avLst>
              <a:gd name="adj" fmla="val 40369"/>
            </a:avLst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accent4">
                <a:lumMod val="75000"/>
              </a:schemeClr>
            </a:solidFill>
            <a:prstDash val="solid"/>
            <a:extLst>
              <a:ext uri="{C807C97D-BFC1-408E-A445-0C87EB9F89A2}">
                <ask:lineSketchStyleProps xmlns:ask="http://schemas.microsoft.com/office/drawing/2018/sketchyshapes" sd="2938603708">
                  <a:custGeom>
                    <a:avLst/>
                    <a:gdLst>
                      <a:gd name="csX0" fmla="*/ 9613963 w 9989388"/>
                      <a:gd name="csY0" fmla="*/ 473067 h 473136"/>
                      <a:gd name="csX1" fmla="*/ 8851762 w 9989388"/>
                      <a:gd name="csY1" fmla="*/ 473067 h 473136"/>
                      <a:gd name="csX2" fmla="*/ 8459113 w 9989388"/>
                      <a:gd name="csY2" fmla="*/ 473067 h 473136"/>
                      <a:gd name="csX3" fmla="*/ 7974076 w 9989388"/>
                      <a:gd name="csY3" fmla="*/ 473067 h 473136"/>
                      <a:gd name="csX4" fmla="*/ 7396651 w 9989388"/>
                      <a:gd name="csY4" fmla="*/ 473067 h 473136"/>
                      <a:gd name="csX5" fmla="*/ 6911614 w 9989388"/>
                      <a:gd name="csY5" fmla="*/ 473067 h 473136"/>
                      <a:gd name="csX6" fmla="*/ 6611353 w 9989388"/>
                      <a:gd name="csY6" fmla="*/ 473067 h 473136"/>
                      <a:gd name="csX7" fmla="*/ 6311092 w 9989388"/>
                      <a:gd name="csY7" fmla="*/ 473067 h 473136"/>
                      <a:gd name="csX8" fmla="*/ 6010831 w 9989388"/>
                      <a:gd name="csY8" fmla="*/ 473067 h 473136"/>
                      <a:gd name="csX9" fmla="*/ 5433406 w 9989388"/>
                      <a:gd name="csY9" fmla="*/ 473067 h 473136"/>
                      <a:gd name="csX10" fmla="*/ 5040757 w 9989388"/>
                      <a:gd name="csY10" fmla="*/ 473067 h 473136"/>
                      <a:gd name="csX11" fmla="*/ 4555719 w 9989388"/>
                      <a:gd name="csY11" fmla="*/ 473067 h 473136"/>
                      <a:gd name="csX12" fmla="*/ 3793518 w 9989388"/>
                      <a:gd name="csY12" fmla="*/ 473067 h 473136"/>
                      <a:gd name="csX13" fmla="*/ 3493257 w 9989388"/>
                      <a:gd name="csY13" fmla="*/ 473067 h 473136"/>
                      <a:gd name="csX14" fmla="*/ 2915832 w 9989388"/>
                      <a:gd name="csY14" fmla="*/ 473067 h 473136"/>
                      <a:gd name="csX15" fmla="*/ 2338407 w 9989388"/>
                      <a:gd name="csY15" fmla="*/ 473067 h 473136"/>
                      <a:gd name="csX16" fmla="*/ 1668594 w 9989388"/>
                      <a:gd name="csY16" fmla="*/ 473067 h 473136"/>
                      <a:gd name="csX17" fmla="*/ 1368333 w 9989388"/>
                      <a:gd name="csY17" fmla="*/ 473067 h 473136"/>
                      <a:gd name="csX18" fmla="*/ 375162 w 9989388"/>
                      <a:gd name="csY18" fmla="*/ 473067 h 473136"/>
                      <a:gd name="csX19" fmla="*/ 256582 w 9989388"/>
                      <a:gd name="csY19" fmla="*/ 470531 h 473136"/>
                      <a:gd name="csX20" fmla="*/ 153597 w 9989388"/>
                      <a:gd name="csY20" fmla="*/ 463469 h 473136"/>
                      <a:gd name="csX21" fmla="*/ 72383 w 9989388"/>
                      <a:gd name="csY21" fmla="*/ 452700 h 473136"/>
                      <a:gd name="csX22" fmla="*/ 19123 w 9989388"/>
                      <a:gd name="csY22" fmla="*/ 439045 h 473136"/>
                      <a:gd name="csX23" fmla="*/ 0 w 9989388"/>
                      <a:gd name="csY23" fmla="*/ 423321 h 473136"/>
                      <a:gd name="csX24" fmla="*/ 0 w 9989388"/>
                      <a:gd name="csY24" fmla="*/ 49745 h 473136"/>
                      <a:gd name="csX25" fmla="*/ 19123 w 9989388"/>
                      <a:gd name="csY25" fmla="*/ 34021 h 473136"/>
                      <a:gd name="csX26" fmla="*/ 72383 w 9989388"/>
                      <a:gd name="csY26" fmla="*/ 20366 h 473136"/>
                      <a:gd name="csX27" fmla="*/ 153597 w 9989388"/>
                      <a:gd name="csY27" fmla="*/ 9597 h 473136"/>
                      <a:gd name="csX28" fmla="*/ 256582 w 9989388"/>
                      <a:gd name="csY28" fmla="*/ 2535 h 473136"/>
                      <a:gd name="csX29" fmla="*/ 375162 w 9989388"/>
                      <a:gd name="csY29" fmla="*/ 0 h 473136"/>
                      <a:gd name="csX30" fmla="*/ 952587 w 9989388"/>
                      <a:gd name="csY30" fmla="*/ 0 h 473136"/>
                      <a:gd name="csX31" fmla="*/ 1437624 w 9989388"/>
                      <a:gd name="csY31" fmla="*/ 0 h 473136"/>
                      <a:gd name="csX32" fmla="*/ 1922661 w 9989388"/>
                      <a:gd name="csY32" fmla="*/ 0 h 473136"/>
                      <a:gd name="csX33" fmla="*/ 2500086 w 9989388"/>
                      <a:gd name="csY33" fmla="*/ 0 h 473136"/>
                      <a:gd name="csX34" fmla="*/ 3169899 w 9989388"/>
                      <a:gd name="csY34" fmla="*/ 0 h 473136"/>
                      <a:gd name="csX35" fmla="*/ 3932100 w 9989388"/>
                      <a:gd name="csY35" fmla="*/ 0 h 473136"/>
                      <a:gd name="csX36" fmla="*/ 4232361 w 9989388"/>
                      <a:gd name="csY36" fmla="*/ 0 h 473136"/>
                      <a:gd name="csX37" fmla="*/ 4717398 w 9989388"/>
                      <a:gd name="csY37" fmla="*/ 0 h 473136"/>
                      <a:gd name="csX38" fmla="*/ 5017660 w 9989388"/>
                      <a:gd name="csY38" fmla="*/ 0 h 473136"/>
                      <a:gd name="csX39" fmla="*/ 5687473 w 9989388"/>
                      <a:gd name="csY39" fmla="*/ 0 h 473136"/>
                      <a:gd name="csX40" fmla="*/ 6357286 w 9989388"/>
                      <a:gd name="csY40" fmla="*/ 0 h 473136"/>
                      <a:gd name="csX41" fmla="*/ 7119487 w 9989388"/>
                      <a:gd name="csY41" fmla="*/ 0 h 473136"/>
                      <a:gd name="csX42" fmla="*/ 7604524 w 9989388"/>
                      <a:gd name="csY42" fmla="*/ 0 h 473136"/>
                      <a:gd name="csX43" fmla="*/ 8366725 w 9989388"/>
                      <a:gd name="csY43" fmla="*/ 0 h 473136"/>
                      <a:gd name="csX44" fmla="*/ 9036538 w 9989388"/>
                      <a:gd name="csY44" fmla="*/ 0 h 473136"/>
                      <a:gd name="csX45" fmla="*/ 9613963 w 9989388"/>
                      <a:gd name="csY45" fmla="*/ 0 h 473136"/>
                      <a:gd name="csX46" fmla="*/ 9732542 w 9989388"/>
                      <a:gd name="csY46" fmla="*/ 2535 h 473136"/>
                      <a:gd name="csX47" fmla="*/ 9835527 w 9989388"/>
                      <a:gd name="csY47" fmla="*/ 9597 h 473136"/>
                      <a:gd name="csX48" fmla="*/ 9916739 w 9989388"/>
                      <a:gd name="csY48" fmla="*/ 20366 h 473136"/>
                      <a:gd name="csX49" fmla="*/ 9969996 w 9989388"/>
                      <a:gd name="csY49" fmla="*/ 34021 h 473136"/>
                      <a:gd name="csX50" fmla="*/ 9989122 w 9989388"/>
                      <a:gd name="csY50" fmla="*/ 49745 h 473136"/>
                      <a:gd name="csX51" fmla="*/ 9989122 w 9989388"/>
                      <a:gd name="csY51" fmla="*/ 423321 h 473136"/>
                      <a:gd name="csX52" fmla="*/ 9969996 w 9989388"/>
                      <a:gd name="csY52" fmla="*/ 439045 h 473136"/>
                      <a:gd name="csX53" fmla="*/ 9916739 w 9989388"/>
                      <a:gd name="csY53" fmla="*/ 452700 h 473136"/>
                      <a:gd name="csX54" fmla="*/ 9835527 w 9989388"/>
                      <a:gd name="csY54" fmla="*/ 463469 h 473136"/>
                      <a:gd name="csX55" fmla="*/ 9732542 w 9989388"/>
                      <a:gd name="csY55" fmla="*/ 470531 h 473136"/>
                      <a:gd name="csX56" fmla="*/ 9613963 w 9989388"/>
                      <a:gd name="csY56" fmla="*/ 473067 h 473136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  <a:cxn ang="0">
                        <a:pos x="csX26" y="csY26"/>
                      </a:cxn>
                      <a:cxn ang="0">
                        <a:pos x="csX27" y="csY27"/>
                      </a:cxn>
                      <a:cxn ang="0">
                        <a:pos x="csX28" y="csY28"/>
                      </a:cxn>
                      <a:cxn ang="0">
                        <a:pos x="csX29" y="csY29"/>
                      </a:cxn>
                      <a:cxn ang="0">
                        <a:pos x="csX30" y="csY30"/>
                      </a:cxn>
                      <a:cxn ang="0">
                        <a:pos x="csX31" y="csY31"/>
                      </a:cxn>
                      <a:cxn ang="0">
                        <a:pos x="csX32" y="csY32"/>
                      </a:cxn>
                      <a:cxn ang="0">
                        <a:pos x="csX33" y="csY33"/>
                      </a:cxn>
                      <a:cxn ang="0">
                        <a:pos x="csX34" y="csY34"/>
                      </a:cxn>
                      <a:cxn ang="0">
                        <a:pos x="csX35" y="csY35"/>
                      </a:cxn>
                      <a:cxn ang="0">
                        <a:pos x="csX36" y="csY36"/>
                      </a:cxn>
                      <a:cxn ang="0">
                        <a:pos x="csX37" y="csY37"/>
                      </a:cxn>
                      <a:cxn ang="0">
                        <a:pos x="csX38" y="csY38"/>
                      </a:cxn>
                      <a:cxn ang="0">
                        <a:pos x="csX39" y="csY39"/>
                      </a:cxn>
                      <a:cxn ang="0">
                        <a:pos x="csX40" y="csY40"/>
                      </a:cxn>
                      <a:cxn ang="0">
                        <a:pos x="csX41" y="csY41"/>
                      </a:cxn>
                      <a:cxn ang="0">
                        <a:pos x="csX42" y="csY42"/>
                      </a:cxn>
                      <a:cxn ang="0">
                        <a:pos x="csX43" y="csY43"/>
                      </a:cxn>
                      <a:cxn ang="0">
                        <a:pos x="csX44" y="csY44"/>
                      </a:cxn>
                      <a:cxn ang="0">
                        <a:pos x="csX45" y="csY45"/>
                      </a:cxn>
                      <a:cxn ang="0">
                        <a:pos x="csX46" y="csY46"/>
                      </a:cxn>
                      <a:cxn ang="0">
                        <a:pos x="csX47" y="csY47"/>
                      </a:cxn>
                      <a:cxn ang="0">
                        <a:pos x="csX48" y="csY48"/>
                      </a:cxn>
                      <a:cxn ang="0">
                        <a:pos x="csX49" y="csY49"/>
                      </a:cxn>
                      <a:cxn ang="0">
                        <a:pos x="csX50" y="csY50"/>
                      </a:cxn>
                      <a:cxn ang="0">
                        <a:pos x="csX51" y="csY51"/>
                      </a:cxn>
                      <a:cxn ang="0">
                        <a:pos x="csX52" y="csY52"/>
                      </a:cxn>
                      <a:cxn ang="0">
                        <a:pos x="csX53" y="csY53"/>
                      </a:cxn>
                      <a:cxn ang="0">
                        <a:pos x="csX54" y="csY54"/>
                      </a:cxn>
                      <a:cxn ang="0">
                        <a:pos x="csX55" y="csY55"/>
                      </a:cxn>
                      <a:cxn ang="0">
                        <a:pos x="csX56" y="csY56"/>
                      </a:cxn>
                    </a:cxnLst>
                    <a:rect l="l" t="t" r="r" b="b"/>
                    <a:pathLst>
                      <a:path w="9989388" h="473136" fill="none" extrusionOk="0">
                        <a:moveTo>
                          <a:pt x="9613963" y="473067"/>
                        </a:moveTo>
                        <a:cubicBezTo>
                          <a:pt x="9391397" y="493116"/>
                          <a:pt x="9158242" y="450033"/>
                          <a:pt x="8851762" y="473067"/>
                        </a:cubicBezTo>
                        <a:cubicBezTo>
                          <a:pt x="8545282" y="496101"/>
                          <a:pt x="8546840" y="471776"/>
                          <a:pt x="8459113" y="473067"/>
                        </a:cubicBezTo>
                        <a:cubicBezTo>
                          <a:pt x="8371386" y="474358"/>
                          <a:pt x="8115461" y="441980"/>
                          <a:pt x="7974076" y="473067"/>
                        </a:cubicBezTo>
                        <a:cubicBezTo>
                          <a:pt x="7832691" y="504154"/>
                          <a:pt x="7607640" y="423293"/>
                          <a:pt x="7396651" y="473067"/>
                        </a:cubicBezTo>
                        <a:cubicBezTo>
                          <a:pt x="7185663" y="522841"/>
                          <a:pt x="7049769" y="471325"/>
                          <a:pt x="6911614" y="473067"/>
                        </a:cubicBezTo>
                        <a:cubicBezTo>
                          <a:pt x="6773459" y="474809"/>
                          <a:pt x="6691472" y="437845"/>
                          <a:pt x="6611353" y="473067"/>
                        </a:cubicBezTo>
                        <a:cubicBezTo>
                          <a:pt x="6531234" y="508289"/>
                          <a:pt x="6389622" y="454642"/>
                          <a:pt x="6311092" y="473067"/>
                        </a:cubicBezTo>
                        <a:cubicBezTo>
                          <a:pt x="6232562" y="491492"/>
                          <a:pt x="6098320" y="460356"/>
                          <a:pt x="6010831" y="473067"/>
                        </a:cubicBezTo>
                        <a:cubicBezTo>
                          <a:pt x="5923342" y="485778"/>
                          <a:pt x="5713656" y="408872"/>
                          <a:pt x="5433406" y="473067"/>
                        </a:cubicBezTo>
                        <a:cubicBezTo>
                          <a:pt x="5153157" y="537262"/>
                          <a:pt x="5147557" y="467662"/>
                          <a:pt x="5040757" y="473067"/>
                        </a:cubicBezTo>
                        <a:cubicBezTo>
                          <a:pt x="4933957" y="478472"/>
                          <a:pt x="4778282" y="461148"/>
                          <a:pt x="4555719" y="473067"/>
                        </a:cubicBezTo>
                        <a:cubicBezTo>
                          <a:pt x="4333156" y="484986"/>
                          <a:pt x="4017845" y="404086"/>
                          <a:pt x="3793518" y="473067"/>
                        </a:cubicBezTo>
                        <a:cubicBezTo>
                          <a:pt x="3569191" y="542048"/>
                          <a:pt x="3615764" y="453200"/>
                          <a:pt x="3493257" y="473067"/>
                        </a:cubicBezTo>
                        <a:cubicBezTo>
                          <a:pt x="3370750" y="492934"/>
                          <a:pt x="3130213" y="472920"/>
                          <a:pt x="2915832" y="473067"/>
                        </a:cubicBezTo>
                        <a:cubicBezTo>
                          <a:pt x="2701452" y="473214"/>
                          <a:pt x="2478553" y="464954"/>
                          <a:pt x="2338407" y="473067"/>
                        </a:cubicBezTo>
                        <a:cubicBezTo>
                          <a:pt x="2198261" y="481180"/>
                          <a:pt x="1969914" y="460080"/>
                          <a:pt x="1668594" y="473067"/>
                        </a:cubicBezTo>
                        <a:cubicBezTo>
                          <a:pt x="1367274" y="486054"/>
                          <a:pt x="1481235" y="438536"/>
                          <a:pt x="1368333" y="473067"/>
                        </a:cubicBezTo>
                        <a:cubicBezTo>
                          <a:pt x="1255431" y="507598"/>
                          <a:pt x="576111" y="434137"/>
                          <a:pt x="375162" y="473067"/>
                        </a:cubicBezTo>
                        <a:cubicBezTo>
                          <a:pt x="349173" y="476534"/>
                          <a:pt x="294136" y="464397"/>
                          <a:pt x="256582" y="470531"/>
                        </a:cubicBezTo>
                        <a:cubicBezTo>
                          <a:pt x="211050" y="476718"/>
                          <a:pt x="197377" y="458094"/>
                          <a:pt x="153597" y="463469"/>
                        </a:cubicBezTo>
                        <a:cubicBezTo>
                          <a:pt x="116576" y="459924"/>
                          <a:pt x="111390" y="454354"/>
                          <a:pt x="72383" y="452700"/>
                        </a:cubicBezTo>
                        <a:cubicBezTo>
                          <a:pt x="45631" y="447691"/>
                          <a:pt x="37058" y="440570"/>
                          <a:pt x="19123" y="439045"/>
                        </a:cubicBezTo>
                        <a:cubicBezTo>
                          <a:pt x="10129" y="434388"/>
                          <a:pt x="5986" y="428084"/>
                          <a:pt x="0" y="423321"/>
                        </a:cubicBezTo>
                        <a:cubicBezTo>
                          <a:pt x="-35600" y="266895"/>
                          <a:pt x="4762" y="181385"/>
                          <a:pt x="0" y="49745"/>
                        </a:cubicBezTo>
                        <a:cubicBezTo>
                          <a:pt x="4583" y="42999"/>
                          <a:pt x="10428" y="41337"/>
                          <a:pt x="19123" y="34021"/>
                        </a:cubicBezTo>
                        <a:cubicBezTo>
                          <a:pt x="29241" y="28048"/>
                          <a:pt x="51939" y="25634"/>
                          <a:pt x="72383" y="20366"/>
                        </a:cubicBezTo>
                        <a:cubicBezTo>
                          <a:pt x="96134" y="15118"/>
                          <a:pt x="136083" y="18828"/>
                          <a:pt x="153597" y="9597"/>
                        </a:cubicBezTo>
                        <a:cubicBezTo>
                          <a:pt x="194650" y="5421"/>
                          <a:pt x="208890" y="12220"/>
                          <a:pt x="256582" y="2535"/>
                        </a:cubicBezTo>
                        <a:cubicBezTo>
                          <a:pt x="283522" y="-1643"/>
                          <a:pt x="351077" y="5657"/>
                          <a:pt x="375162" y="0"/>
                        </a:cubicBezTo>
                        <a:cubicBezTo>
                          <a:pt x="590973" y="-23084"/>
                          <a:pt x="797720" y="5999"/>
                          <a:pt x="952587" y="0"/>
                        </a:cubicBezTo>
                        <a:cubicBezTo>
                          <a:pt x="1107455" y="-5999"/>
                          <a:pt x="1292202" y="7821"/>
                          <a:pt x="1437624" y="0"/>
                        </a:cubicBezTo>
                        <a:cubicBezTo>
                          <a:pt x="1583046" y="-7821"/>
                          <a:pt x="1720819" y="20443"/>
                          <a:pt x="1922661" y="0"/>
                        </a:cubicBezTo>
                        <a:cubicBezTo>
                          <a:pt x="2124503" y="-20443"/>
                          <a:pt x="2217773" y="63425"/>
                          <a:pt x="2500086" y="0"/>
                        </a:cubicBezTo>
                        <a:cubicBezTo>
                          <a:pt x="2782399" y="-63425"/>
                          <a:pt x="2915192" y="77848"/>
                          <a:pt x="3169899" y="0"/>
                        </a:cubicBezTo>
                        <a:cubicBezTo>
                          <a:pt x="3424606" y="-77848"/>
                          <a:pt x="3552099" y="6090"/>
                          <a:pt x="3932100" y="0"/>
                        </a:cubicBezTo>
                        <a:cubicBezTo>
                          <a:pt x="4312101" y="-6090"/>
                          <a:pt x="4102369" y="12183"/>
                          <a:pt x="4232361" y="0"/>
                        </a:cubicBezTo>
                        <a:cubicBezTo>
                          <a:pt x="4362353" y="-12183"/>
                          <a:pt x="4515859" y="17471"/>
                          <a:pt x="4717398" y="0"/>
                        </a:cubicBezTo>
                        <a:cubicBezTo>
                          <a:pt x="4918937" y="-17471"/>
                          <a:pt x="4939184" y="29583"/>
                          <a:pt x="5017660" y="0"/>
                        </a:cubicBezTo>
                        <a:cubicBezTo>
                          <a:pt x="5096136" y="-29583"/>
                          <a:pt x="5450625" y="50015"/>
                          <a:pt x="5687473" y="0"/>
                        </a:cubicBezTo>
                        <a:cubicBezTo>
                          <a:pt x="5924321" y="-50015"/>
                          <a:pt x="6103512" y="32475"/>
                          <a:pt x="6357286" y="0"/>
                        </a:cubicBezTo>
                        <a:cubicBezTo>
                          <a:pt x="6611060" y="-32475"/>
                          <a:pt x="6944001" y="72220"/>
                          <a:pt x="7119487" y="0"/>
                        </a:cubicBezTo>
                        <a:cubicBezTo>
                          <a:pt x="7294973" y="-72220"/>
                          <a:pt x="7380014" y="45553"/>
                          <a:pt x="7604524" y="0"/>
                        </a:cubicBezTo>
                        <a:cubicBezTo>
                          <a:pt x="7829034" y="-45553"/>
                          <a:pt x="8154021" y="4375"/>
                          <a:pt x="8366725" y="0"/>
                        </a:cubicBezTo>
                        <a:cubicBezTo>
                          <a:pt x="8579429" y="-4375"/>
                          <a:pt x="8753222" y="15687"/>
                          <a:pt x="9036538" y="0"/>
                        </a:cubicBezTo>
                        <a:cubicBezTo>
                          <a:pt x="9319854" y="-15687"/>
                          <a:pt x="9353772" y="44868"/>
                          <a:pt x="9613963" y="0"/>
                        </a:cubicBezTo>
                        <a:cubicBezTo>
                          <a:pt x="9656450" y="-12057"/>
                          <a:pt x="9699461" y="12568"/>
                          <a:pt x="9732542" y="2535"/>
                        </a:cubicBezTo>
                        <a:cubicBezTo>
                          <a:pt x="9774711" y="4285"/>
                          <a:pt x="9800165" y="8776"/>
                          <a:pt x="9835527" y="9597"/>
                        </a:cubicBezTo>
                        <a:cubicBezTo>
                          <a:pt x="9853341" y="4506"/>
                          <a:pt x="9893265" y="18770"/>
                          <a:pt x="9916739" y="20366"/>
                        </a:cubicBezTo>
                        <a:cubicBezTo>
                          <a:pt x="9934340" y="23487"/>
                          <a:pt x="9955036" y="36340"/>
                          <a:pt x="9969996" y="34021"/>
                        </a:cubicBezTo>
                        <a:cubicBezTo>
                          <a:pt x="9979761" y="39143"/>
                          <a:pt x="9983016" y="44861"/>
                          <a:pt x="9989122" y="49745"/>
                        </a:cubicBezTo>
                        <a:cubicBezTo>
                          <a:pt x="10007781" y="126579"/>
                          <a:pt x="9980936" y="244545"/>
                          <a:pt x="9989122" y="423321"/>
                        </a:cubicBezTo>
                        <a:cubicBezTo>
                          <a:pt x="9983182" y="430887"/>
                          <a:pt x="9973323" y="433896"/>
                          <a:pt x="9969996" y="439045"/>
                        </a:cubicBezTo>
                        <a:cubicBezTo>
                          <a:pt x="9945444" y="448850"/>
                          <a:pt x="9930180" y="446956"/>
                          <a:pt x="9916739" y="452700"/>
                        </a:cubicBezTo>
                        <a:cubicBezTo>
                          <a:pt x="9891402" y="462091"/>
                          <a:pt x="9872188" y="454466"/>
                          <a:pt x="9835527" y="463469"/>
                        </a:cubicBezTo>
                        <a:cubicBezTo>
                          <a:pt x="9803959" y="466693"/>
                          <a:pt x="9762216" y="466387"/>
                          <a:pt x="9732542" y="470531"/>
                        </a:cubicBezTo>
                        <a:cubicBezTo>
                          <a:pt x="9680133" y="476091"/>
                          <a:pt x="9649979" y="468172"/>
                          <a:pt x="9613963" y="473067"/>
                        </a:cubicBezTo>
                        <a:close/>
                      </a:path>
                      <a:path w="9989388" h="473136" stroke="0" extrusionOk="0">
                        <a:moveTo>
                          <a:pt x="9613963" y="473067"/>
                        </a:moveTo>
                        <a:cubicBezTo>
                          <a:pt x="9357686" y="526245"/>
                          <a:pt x="9193339" y="458391"/>
                          <a:pt x="8851762" y="473067"/>
                        </a:cubicBezTo>
                        <a:cubicBezTo>
                          <a:pt x="8510185" y="487743"/>
                          <a:pt x="8460089" y="436353"/>
                          <a:pt x="8274337" y="473067"/>
                        </a:cubicBezTo>
                        <a:cubicBezTo>
                          <a:pt x="8088586" y="509781"/>
                          <a:pt x="7884893" y="424998"/>
                          <a:pt x="7696912" y="473067"/>
                        </a:cubicBezTo>
                        <a:cubicBezTo>
                          <a:pt x="7508932" y="521136"/>
                          <a:pt x="7546740" y="438393"/>
                          <a:pt x="7396651" y="473067"/>
                        </a:cubicBezTo>
                        <a:cubicBezTo>
                          <a:pt x="7246562" y="507741"/>
                          <a:pt x="7095742" y="417897"/>
                          <a:pt x="6911614" y="473067"/>
                        </a:cubicBezTo>
                        <a:cubicBezTo>
                          <a:pt x="6727486" y="528237"/>
                          <a:pt x="6387729" y="439048"/>
                          <a:pt x="6241801" y="473067"/>
                        </a:cubicBezTo>
                        <a:cubicBezTo>
                          <a:pt x="6095873" y="507086"/>
                          <a:pt x="6002929" y="427534"/>
                          <a:pt x="5849152" y="473067"/>
                        </a:cubicBezTo>
                        <a:cubicBezTo>
                          <a:pt x="5695375" y="518600"/>
                          <a:pt x="5658470" y="455411"/>
                          <a:pt x="5548891" y="473067"/>
                        </a:cubicBezTo>
                        <a:cubicBezTo>
                          <a:pt x="5439312" y="490723"/>
                          <a:pt x="5303661" y="458972"/>
                          <a:pt x="5156242" y="473067"/>
                        </a:cubicBezTo>
                        <a:cubicBezTo>
                          <a:pt x="5008823" y="487162"/>
                          <a:pt x="4980805" y="463218"/>
                          <a:pt x="4855980" y="473067"/>
                        </a:cubicBezTo>
                        <a:cubicBezTo>
                          <a:pt x="4731155" y="482916"/>
                          <a:pt x="4548702" y="446501"/>
                          <a:pt x="4278555" y="473067"/>
                        </a:cubicBezTo>
                        <a:cubicBezTo>
                          <a:pt x="4008408" y="499633"/>
                          <a:pt x="3836245" y="433184"/>
                          <a:pt x="3608742" y="473067"/>
                        </a:cubicBezTo>
                        <a:cubicBezTo>
                          <a:pt x="3381239" y="512950"/>
                          <a:pt x="3047846" y="472072"/>
                          <a:pt x="2846541" y="473067"/>
                        </a:cubicBezTo>
                        <a:cubicBezTo>
                          <a:pt x="2645236" y="474062"/>
                          <a:pt x="2476580" y="465326"/>
                          <a:pt x="2361504" y="473067"/>
                        </a:cubicBezTo>
                        <a:cubicBezTo>
                          <a:pt x="2246428" y="480808"/>
                          <a:pt x="2017752" y="463213"/>
                          <a:pt x="1876467" y="473067"/>
                        </a:cubicBezTo>
                        <a:cubicBezTo>
                          <a:pt x="1735182" y="482921"/>
                          <a:pt x="1529361" y="405803"/>
                          <a:pt x="1299042" y="473067"/>
                        </a:cubicBezTo>
                        <a:cubicBezTo>
                          <a:pt x="1068723" y="540331"/>
                          <a:pt x="798937" y="472148"/>
                          <a:pt x="375162" y="473067"/>
                        </a:cubicBezTo>
                        <a:cubicBezTo>
                          <a:pt x="338201" y="482332"/>
                          <a:pt x="305977" y="460137"/>
                          <a:pt x="256582" y="470531"/>
                        </a:cubicBezTo>
                        <a:cubicBezTo>
                          <a:pt x="218254" y="468747"/>
                          <a:pt x="176926" y="459403"/>
                          <a:pt x="153597" y="463469"/>
                        </a:cubicBezTo>
                        <a:cubicBezTo>
                          <a:pt x="114227" y="466633"/>
                          <a:pt x="91706" y="447218"/>
                          <a:pt x="72383" y="452700"/>
                        </a:cubicBezTo>
                        <a:cubicBezTo>
                          <a:pt x="55321" y="449382"/>
                          <a:pt x="45601" y="439161"/>
                          <a:pt x="19123" y="439045"/>
                        </a:cubicBezTo>
                        <a:cubicBezTo>
                          <a:pt x="11731" y="436182"/>
                          <a:pt x="6412" y="426942"/>
                          <a:pt x="0" y="423321"/>
                        </a:cubicBezTo>
                        <a:cubicBezTo>
                          <a:pt x="-14866" y="255361"/>
                          <a:pt x="2155" y="138217"/>
                          <a:pt x="0" y="49745"/>
                        </a:cubicBezTo>
                        <a:cubicBezTo>
                          <a:pt x="8884" y="41459"/>
                          <a:pt x="13209" y="42177"/>
                          <a:pt x="19123" y="34021"/>
                        </a:cubicBezTo>
                        <a:cubicBezTo>
                          <a:pt x="38542" y="25571"/>
                          <a:pt x="61524" y="23485"/>
                          <a:pt x="72383" y="20366"/>
                        </a:cubicBezTo>
                        <a:cubicBezTo>
                          <a:pt x="111493" y="7236"/>
                          <a:pt x="129521" y="21455"/>
                          <a:pt x="153597" y="9597"/>
                        </a:cubicBezTo>
                        <a:cubicBezTo>
                          <a:pt x="204131" y="574"/>
                          <a:pt x="218549" y="11370"/>
                          <a:pt x="256582" y="2535"/>
                        </a:cubicBezTo>
                        <a:cubicBezTo>
                          <a:pt x="308402" y="-3384"/>
                          <a:pt x="345652" y="4516"/>
                          <a:pt x="375162" y="0"/>
                        </a:cubicBezTo>
                        <a:cubicBezTo>
                          <a:pt x="551193" y="-34405"/>
                          <a:pt x="680604" y="55899"/>
                          <a:pt x="860199" y="0"/>
                        </a:cubicBezTo>
                        <a:cubicBezTo>
                          <a:pt x="1039794" y="-55899"/>
                          <a:pt x="1295445" y="19711"/>
                          <a:pt x="1530012" y="0"/>
                        </a:cubicBezTo>
                        <a:cubicBezTo>
                          <a:pt x="1764579" y="-19711"/>
                          <a:pt x="1736619" y="8777"/>
                          <a:pt x="1830273" y="0"/>
                        </a:cubicBezTo>
                        <a:cubicBezTo>
                          <a:pt x="1923927" y="-8777"/>
                          <a:pt x="1998636" y="12970"/>
                          <a:pt x="2130534" y="0"/>
                        </a:cubicBezTo>
                        <a:cubicBezTo>
                          <a:pt x="2262432" y="-12970"/>
                          <a:pt x="2538030" y="38293"/>
                          <a:pt x="2707959" y="0"/>
                        </a:cubicBezTo>
                        <a:cubicBezTo>
                          <a:pt x="2877888" y="-38293"/>
                          <a:pt x="3152172" y="11125"/>
                          <a:pt x="3285384" y="0"/>
                        </a:cubicBezTo>
                        <a:cubicBezTo>
                          <a:pt x="3418597" y="-11125"/>
                          <a:pt x="3758008" y="75250"/>
                          <a:pt x="4047585" y="0"/>
                        </a:cubicBezTo>
                        <a:cubicBezTo>
                          <a:pt x="4337162" y="-75250"/>
                          <a:pt x="4341838" y="19331"/>
                          <a:pt x="4440234" y="0"/>
                        </a:cubicBezTo>
                        <a:cubicBezTo>
                          <a:pt x="4538630" y="-19331"/>
                          <a:pt x="4876237" y="27179"/>
                          <a:pt x="5202436" y="0"/>
                        </a:cubicBezTo>
                        <a:cubicBezTo>
                          <a:pt x="5528635" y="-27179"/>
                          <a:pt x="5655453" y="73969"/>
                          <a:pt x="5964637" y="0"/>
                        </a:cubicBezTo>
                        <a:cubicBezTo>
                          <a:pt x="6273821" y="-73969"/>
                          <a:pt x="6299993" y="63126"/>
                          <a:pt x="6542062" y="0"/>
                        </a:cubicBezTo>
                        <a:cubicBezTo>
                          <a:pt x="6784131" y="-63126"/>
                          <a:pt x="6813943" y="5577"/>
                          <a:pt x="7027099" y="0"/>
                        </a:cubicBezTo>
                        <a:cubicBezTo>
                          <a:pt x="7240255" y="-5577"/>
                          <a:pt x="7401643" y="16497"/>
                          <a:pt x="7696912" y="0"/>
                        </a:cubicBezTo>
                        <a:cubicBezTo>
                          <a:pt x="7992181" y="-16497"/>
                          <a:pt x="7932809" y="17846"/>
                          <a:pt x="7997173" y="0"/>
                        </a:cubicBezTo>
                        <a:cubicBezTo>
                          <a:pt x="8061537" y="-17846"/>
                          <a:pt x="8374108" y="40033"/>
                          <a:pt x="8482210" y="0"/>
                        </a:cubicBezTo>
                        <a:cubicBezTo>
                          <a:pt x="8590312" y="-40033"/>
                          <a:pt x="8683772" y="4007"/>
                          <a:pt x="8782471" y="0"/>
                        </a:cubicBezTo>
                        <a:cubicBezTo>
                          <a:pt x="8881170" y="-4007"/>
                          <a:pt x="9442252" y="56797"/>
                          <a:pt x="9613963" y="0"/>
                        </a:cubicBezTo>
                        <a:cubicBezTo>
                          <a:pt x="9652464" y="-1137"/>
                          <a:pt x="9682157" y="11239"/>
                          <a:pt x="9732542" y="2535"/>
                        </a:cubicBezTo>
                        <a:cubicBezTo>
                          <a:pt x="9780945" y="2773"/>
                          <a:pt x="9801741" y="14824"/>
                          <a:pt x="9835527" y="9597"/>
                        </a:cubicBezTo>
                        <a:cubicBezTo>
                          <a:pt x="9870504" y="7908"/>
                          <a:pt x="9885705" y="17606"/>
                          <a:pt x="9916739" y="20366"/>
                        </a:cubicBezTo>
                        <a:cubicBezTo>
                          <a:pt x="9931885" y="20674"/>
                          <a:pt x="9956807" y="36530"/>
                          <a:pt x="9969996" y="34021"/>
                        </a:cubicBezTo>
                        <a:cubicBezTo>
                          <a:pt x="9978322" y="38927"/>
                          <a:pt x="9980988" y="44289"/>
                          <a:pt x="9989122" y="49745"/>
                        </a:cubicBezTo>
                        <a:cubicBezTo>
                          <a:pt x="10019646" y="171564"/>
                          <a:pt x="9973238" y="338102"/>
                          <a:pt x="9989122" y="423321"/>
                        </a:cubicBezTo>
                        <a:cubicBezTo>
                          <a:pt x="9981121" y="431332"/>
                          <a:pt x="9973224" y="433640"/>
                          <a:pt x="9969996" y="439045"/>
                        </a:cubicBezTo>
                        <a:cubicBezTo>
                          <a:pt x="9947671" y="447782"/>
                          <a:pt x="9937520" y="442699"/>
                          <a:pt x="9916739" y="452700"/>
                        </a:cubicBezTo>
                        <a:cubicBezTo>
                          <a:pt x="9900002" y="460756"/>
                          <a:pt x="9862763" y="451362"/>
                          <a:pt x="9835527" y="463469"/>
                        </a:cubicBezTo>
                        <a:cubicBezTo>
                          <a:pt x="9792482" y="475903"/>
                          <a:pt x="9779928" y="456840"/>
                          <a:pt x="9732542" y="470531"/>
                        </a:cubicBezTo>
                        <a:cubicBezTo>
                          <a:pt x="9700218" y="480911"/>
                          <a:pt x="9660213" y="461339"/>
                          <a:pt x="9613963" y="473067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DB831FCB-0DAD-15FE-82CD-1DBF94E65C72}"/>
              </a:ext>
            </a:extLst>
          </p:cNvPr>
          <p:cNvSpPr/>
          <p:nvPr/>
        </p:nvSpPr>
        <p:spPr>
          <a:xfrm>
            <a:off x="1054225" y="6144767"/>
            <a:ext cx="903971" cy="405785"/>
          </a:xfrm>
          <a:prstGeom prst="ellipse">
            <a:avLst/>
          </a:pr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800"/>
              <a:t>Measuring</a:t>
            </a:r>
            <a:endParaRPr sz="75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5D7023D-804D-B58F-EEF5-46E2B6D5F85E}"/>
              </a:ext>
            </a:extLst>
          </p:cNvPr>
          <p:cNvSpPr txBox="1"/>
          <p:nvPr/>
        </p:nvSpPr>
        <p:spPr>
          <a:xfrm>
            <a:off x="2221333" y="6111641"/>
            <a:ext cx="4697052" cy="192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IN" sz="1250" b="1" dirty="0">
                <a:solidFill>
                  <a:srgbClr val="1F3E66"/>
                </a:solidFill>
                <a:latin typeface="Aptos"/>
              </a:rPr>
              <a:t>Measuring Size of an Object using Computer Vision</a:t>
            </a:r>
            <a:endParaRPr sz="1250" b="1" dirty="0">
              <a:solidFill>
                <a:srgbClr val="1F3E66"/>
              </a:solidFill>
              <a:latin typeface="Apto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3C3EF04-9F32-FF75-3AFE-833519B0C51C}"/>
              </a:ext>
            </a:extLst>
          </p:cNvPr>
          <p:cNvSpPr txBox="1"/>
          <p:nvPr/>
        </p:nvSpPr>
        <p:spPr>
          <a:xfrm>
            <a:off x="2313909" y="6300193"/>
            <a:ext cx="8388515" cy="1692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lang="en-IN" sz="1100" b="1" dirty="0">
                <a:solidFill>
                  <a:srgbClr val="1F3E66"/>
                </a:solidFill>
                <a:latin typeface="Aptos"/>
              </a:rPr>
              <a:t>• </a:t>
            </a:r>
            <a:r>
              <a:rPr lang="en-IN" sz="1100" b="1" dirty="0">
                <a:solidFill>
                  <a:srgbClr val="1F3E66"/>
                </a:solidFill>
                <a:latin typeface="Aptos"/>
                <a:hlinkClick r:id="rId17"/>
              </a:rPr>
              <a:t>International Journal of Innovative Technology and Exploring Engineering (IJITEE) ISSN: 2278-3075, Volume-8, Issue-6S4, April 2019</a:t>
            </a:r>
            <a:r>
              <a:rPr lang="en-US" sz="1100" b="1" dirty="0">
                <a:solidFill>
                  <a:srgbClr val="1F3E66"/>
                </a:solidFill>
                <a:latin typeface="Aptos"/>
                <a:hlinkClick r:id="rId17"/>
              </a:rPr>
              <a:t> </a:t>
            </a:r>
            <a:endParaRPr sz="1100" b="1" dirty="0">
              <a:solidFill>
                <a:srgbClr val="1F3E66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6188081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12">
            <a:extLst>
              <a:ext uri="{FF2B5EF4-FFF2-40B4-BE49-F238E27FC236}">
                <a16:creationId xmlns:a16="http://schemas.microsoft.com/office/drawing/2014/main" id="{BD603481-ABFD-1DA2-265A-70EDDD8971C5}"/>
              </a:ext>
            </a:extLst>
          </p:cNvPr>
          <p:cNvSpPr/>
          <p:nvPr/>
        </p:nvSpPr>
        <p:spPr>
          <a:xfrm>
            <a:off x="197126" y="1151549"/>
            <a:ext cx="5563592" cy="1527048"/>
          </a:xfrm>
          <a:prstGeom prst="roundRect">
            <a:avLst/>
          </a:prstGeom>
          <a:solidFill>
            <a:srgbClr val="EEF6FF"/>
          </a:solidFill>
          <a:ln w="11430">
            <a:solidFill>
              <a:srgbClr val="2E64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-23493"/>
            <a:ext cx="10972800" cy="1118868"/>
          </a:xfrm>
        </p:spPr>
        <p:txBody>
          <a:bodyPr/>
          <a:lstStyle/>
          <a:p>
            <a:pPr algn="ctr" eaLnBrk="1" hangingPunct="1"/>
            <a:r>
              <a:rPr sz="3600" b="1" dirty="0">
                <a:solidFill>
                  <a:srgbClr val="000000"/>
                </a:solidFill>
                <a:latin typeface="Times New Roman"/>
              </a:rPr>
              <a:t>RESEARCH AND REFERENCES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2" name="Oval 17411"/>
          <p:cNvSpPr/>
          <p:nvPr/>
        </p:nvSpPr>
        <p:spPr>
          <a:xfrm>
            <a:off x="332635" y="1251604"/>
            <a:ext cx="563477" cy="438912"/>
          </a:xfrm>
          <a:prstGeom prst="ellipse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dirty="0">
                <a:solidFill>
                  <a:schemeClr val="bg1"/>
                </a:solidFill>
                <a:latin typeface="+mj-lt"/>
              </a:rPr>
              <a:t>LM</a:t>
            </a:r>
            <a:endParaRPr sz="8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7413" name="TextBox 17412"/>
          <p:cNvSpPr txBox="1"/>
          <p:nvPr/>
        </p:nvSpPr>
        <p:spPr>
          <a:xfrm>
            <a:off x="941832" y="1325880"/>
            <a:ext cx="46360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>
                <a:solidFill>
                  <a:srgbClr val="1F3E66"/>
                </a:solidFill>
                <a:latin typeface="+mj-lt"/>
              </a:rPr>
              <a:t>Legal Metrology &amp; Compliance (India)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484632" y="1764792"/>
            <a:ext cx="50292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dirty="0">
                <a:solidFill>
                  <a:srgbClr val="141414"/>
                </a:solidFill>
                <a:latin typeface="+mj-lt"/>
              </a:rPr>
              <a:t>• Legal Metrology (Packaged Commodities) Rules, 2011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480060" y="2044058"/>
            <a:ext cx="3893532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dirty="0">
                <a:solidFill>
                  <a:srgbClr val="141414"/>
                </a:solidFill>
                <a:latin typeface="+mj-lt"/>
              </a:rPr>
              <a:t>• 2026 Amendment Rules – AEO &amp; Corporate Accountability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228600" y="2834640"/>
            <a:ext cx="5532120" cy="1527048"/>
          </a:xfrm>
          <a:prstGeom prst="roundRect">
            <a:avLst/>
          </a:prstGeom>
          <a:solidFill>
            <a:srgbClr val="FFF0F6"/>
          </a:solidFill>
          <a:ln w="15240">
            <a:solidFill>
              <a:srgbClr val="D544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8" name="Oval 17427"/>
          <p:cNvSpPr/>
          <p:nvPr/>
        </p:nvSpPr>
        <p:spPr>
          <a:xfrm>
            <a:off x="332635" y="2889504"/>
            <a:ext cx="586337" cy="438912"/>
          </a:xfrm>
          <a:prstGeom prst="ellipse">
            <a:avLst/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dirty="0">
                <a:solidFill>
                  <a:schemeClr val="bg1"/>
                </a:solidFill>
                <a:latin typeface="+mj-lt"/>
              </a:rPr>
              <a:t>CV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896111" y="2988358"/>
            <a:ext cx="468172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>
                <a:solidFill>
                  <a:srgbClr val="1F3E66"/>
                </a:solidFill>
                <a:latin typeface="+mj-lt"/>
              </a:rPr>
              <a:t>Computer Vision for Regulatory Marks &amp; Food Safety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484632" y="3410713"/>
            <a:ext cx="265436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dirty="0">
                <a:solidFill>
                  <a:srgbClr val="141414"/>
                </a:solidFill>
                <a:latin typeface="Aptos"/>
              </a:rPr>
              <a:t>• 5-Class Food Certification Dataset</a:t>
            </a:r>
          </a:p>
        </p:txBody>
      </p:sp>
      <p:sp>
        <p:nvSpPr>
          <p:cNvPr id="17432" name="TextBox 17431"/>
          <p:cNvSpPr txBox="1"/>
          <p:nvPr/>
        </p:nvSpPr>
        <p:spPr>
          <a:xfrm>
            <a:off x="480060" y="3634852"/>
            <a:ext cx="305677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dirty="0">
                <a:solidFill>
                  <a:srgbClr val="141414"/>
                </a:solidFill>
                <a:latin typeface="+mj-lt"/>
              </a:rPr>
              <a:t>• AI in Food Safety Governance – Review Article</a:t>
            </a:r>
          </a:p>
        </p:txBody>
      </p:sp>
      <p:sp>
        <p:nvSpPr>
          <p:cNvPr id="17434" name="Rounded Rectangle 17433"/>
          <p:cNvSpPr/>
          <p:nvPr/>
        </p:nvSpPr>
        <p:spPr>
          <a:xfrm>
            <a:off x="6036556" y="1088594"/>
            <a:ext cx="5925312" cy="3432900"/>
          </a:xfrm>
          <a:prstGeom prst="roundRect">
            <a:avLst>
              <a:gd name="adj" fmla="val 7564"/>
            </a:avLst>
          </a:prstGeom>
          <a:solidFill>
            <a:srgbClr val="FFF8EB"/>
          </a:solidFill>
          <a:ln w="1524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7438" name="TextBox 17437"/>
          <p:cNvSpPr txBox="1"/>
          <p:nvPr/>
        </p:nvSpPr>
        <p:spPr>
          <a:xfrm>
            <a:off x="468757" y="3825508"/>
            <a:ext cx="4349438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dirty="0">
                <a:solidFill>
                  <a:srgbClr val="141414"/>
                </a:solidFill>
                <a:latin typeface="+mj-lt"/>
              </a:rPr>
              <a:t>• YOLO: Unified, Real-Time Object Detection – Original Paper (arXiv)</a:t>
            </a:r>
          </a:p>
        </p:txBody>
      </p:sp>
      <p:sp>
        <p:nvSpPr>
          <p:cNvPr id="17440" name="TextBox 17439"/>
          <p:cNvSpPr txBox="1"/>
          <p:nvPr/>
        </p:nvSpPr>
        <p:spPr>
          <a:xfrm>
            <a:off x="477901" y="4057801"/>
            <a:ext cx="5422392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dirty="0">
                <a:solidFill>
                  <a:srgbClr val="141414"/>
                </a:solidFill>
                <a:latin typeface="+mj-lt"/>
              </a:rPr>
              <a:t>• Ultralytics YOLOv8 – Official Documentation</a:t>
            </a:r>
          </a:p>
        </p:txBody>
      </p:sp>
      <p:sp>
        <p:nvSpPr>
          <p:cNvPr id="17442" name="Rounded Rectangle 17441"/>
          <p:cNvSpPr/>
          <p:nvPr/>
        </p:nvSpPr>
        <p:spPr>
          <a:xfrm>
            <a:off x="228600" y="4480560"/>
            <a:ext cx="5532120" cy="1527048"/>
          </a:xfrm>
          <a:prstGeom prst="roundRect">
            <a:avLst/>
          </a:prstGeom>
          <a:solidFill>
            <a:srgbClr val="F5F0FF"/>
          </a:solidFill>
          <a:ln w="12700">
            <a:solidFill>
              <a:srgbClr val="7B6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7444" name="Oval 17443"/>
          <p:cNvSpPr/>
          <p:nvPr/>
        </p:nvSpPr>
        <p:spPr>
          <a:xfrm>
            <a:off x="304800" y="4544568"/>
            <a:ext cx="573022" cy="438912"/>
          </a:xfrm>
          <a:prstGeom prst="ellipse">
            <a:avLst/>
          </a:pr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AI</a:t>
            </a:r>
          </a:p>
        </p:txBody>
      </p:sp>
      <p:sp>
        <p:nvSpPr>
          <p:cNvPr id="17446" name="TextBox 17445"/>
          <p:cNvSpPr txBox="1"/>
          <p:nvPr/>
        </p:nvSpPr>
        <p:spPr>
          <a:xfrm>
            <a:off x="849084" y="5026792"/>
            <a:ext cx="4121578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 b="1" dirty="0">
                <a:latin typeface="+mj-lt"/>
              </a:rPr>
              <a:t>• Llama 2: Open Foundation and Fine-Tuned Chat Models (arXiv)</a:t>
            </a:r>
          </a:p>
        </p:txBody>
      </p:sp>
      <p:sp>
        <p:nvSpPr>
          <p:cNvPr id="17448" name="TextBox 17447"/>
          <p:cNvSpPr txBox="1"/>
          <p:nvPr/>
        </p:nvSpPr>
        <p:spPr>
          <a:xfrm>
            <a:off x="861359" y="5234686"/>
            <a:ext cx="3380926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dirty="0">
                <a:latin typeface="+mj-lt"/>
              </a:rPr>
              <a:t>• pyzbar – Barcode/QR Decoding Library Docs (PyPI)</a:t>
            </a:r>
          </a:p>
        </p:txBody>
      </p:sp>
      <p:sp>
        <p:nvSpPr>
          <p:cNvPr id="17450" name="Rounded Rectangle 17449"/>
          <p:cNvSpPr/>
          <p:nvPr/>
        </p:nvSpPr>
        <p:spPr>
          <a:xfrm>
            <a:off x="6036556" y="4671835"/>
            <a:ext cx="5925312" cy="136569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C77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 dirty="0"/>
          </a:p>
        </p:txBody>
      </p:sp>
      <p:sp>
        <p:nvSpPr>
          <p:cNvPr id="17452" name="Oval 17451"/>
          <p:cNvSpPr/>
          <p:nvPr/>
        </p:nvSpPr>
        <p:spPr>
          <a:xfrm>
            <a:off x="6101911" y="4768651"/>
            <a:ext cx="589787" cy="438912"/>
          </a:xfrm>
          <a:prstGeom prst="ellipse">
            <a:avLst/>
          </a:pr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 dirty="0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17453" name="TextBox 17452"/>
          <p:cNvSpPr txBox="1"/>
          <p:nvPr/>
        </p:nvSpPr>
        <p:spPr>
          <a:xfrm>
            <a:off x="6832107" y="4856439"/>
            <a:ext cx="3127395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b="1" dirty="0">
                <a:solidFill>
                  <a:srgbClr val="1F3E66"/>
                </a:solidFill>
                <a:latin typeface="+mj-lt"/>
              </a:rPr>
              <a:t>Food Packaging &amp; Label Datasets</a:t>
            </a:r>
          </a:p>
        </p:txBody>
      </p:sp>
      <p:sp>
        <p:nvSpPr>
          <p:cNvPr id="17454" name="TextBox 17453"/>
          <p:cNvSpPr txBox="1"/>
          <p:nvPr/>
        </p:nvSpPr>
        <p:spPr>
          <a:xfrm>
            <a:off x="6302616" y="5256028"/>
            <a:ext cx="2825132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400" b="1" dirty="0">
                <a:solidFill>
                  <a:srgbClr val="1F3E66"/>
                </a:solidFill>
                <a:latin typeface="+mj-lt"/>
              </a:rPr>
              <a:t>• General Food Packaging Recognition</a:t>
            </a:r>
          </a:p>
        </p:txBody>
      </p:sp>
      <p:sp>
        <p:nvSpPr>
          <p:cNvPr id="17456" name="TextBox 17455"/>
          <p:cNvSpPr txBox="1"/>
          <p:nvPr/>
        </p:nvSpPr>
        <p:spPr>
          <a:xfrm>
            <a:off x="6302616" y="5489159"/>
            <a:ext cx="2100127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400" b="1" dirty="0">
                <a:solidFill>
                  <a:srgbClr val="1F3E66"/>
                </a:solidFill>
                <a:latin typeface="+mj-lt"/>
              </a:rPr>
              <a:t>• Package &amp; Label Detection</a:t>
            </a:r>
          </a:p>
        </p:txBody>
      </p:sp>
      <p:sp>
        <p:nvSpPr>
          <p:cNvPr id="17458" name="TextBox 17457"/>
          <p:cNvSpPr txBox="1"/>
          <p:nvPr/>
        </p:nvSpPr>
        <p:spPr>
          <a:xfrm>
            <a:off x="6302616" y="5723097"/>
            <a:ext cx="2856103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400" b="1" dirty="0">
                <a:solidFill>
                  <a:srgbClr val="1F3E66"/>
                </a:solidFill>
                <a:latin typeface="+mj-lt"/>
              </a:rPr>
              <a:t>• Food Packaging Info (Text &amp; Regions)</a:t>
            </a:r>
          </a:p>
        </p:txBody>
      </p:sp>
      <p:sp>
        <p:nvSpPr>
          <p:cNvPr id="5" name="Oval 4" descr="Your startup LOGO">
            <a:extLst>
              <a:ext uri="{FF2B5EF4-FFF2-40B4-BE49-F238E27FC236}">
                <a16:creationId xmlns:a16="http://schemas.microsoft.com/office/drawing/2014/main" id="{149D1AB8-8410-DC13-82D9-9EFB3E64579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32635" y="152741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endParaRPr lang="en-US">
              <a:ea typeface="Calibri"/>
              <a:cs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7A819E-8A7F-0D91-CDE6-F6827E60EE17}"/>
              </a:ext>
            </a:extLst>
          </p:cNvPr>
          <p:cNvSpPr txBox="1"/>
          <p:nvPr/>
        </p:nvSpPr>
        <p:spPr>
          <a:xfrm>
            <a:off x="229305" y="172904"/>
            <a:ext cx="139794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latin typeface="Calibri"/>
                <a:ea typeface="Calibri"/>
                <a:cs typeface="Calibri"/>
              </a:rPr>
              <a:t>TEAM </a:t>
            </a:r>
            <a:endParaRPr lang="en-US" dirty="0">
              <a:latin typeface="Calibri"/>
              <a:cs typeface="Calibri" pitchFamily="34" charset="0"/>
            </a:endParaRPr>
          </a:p>
          <a:p>
            <a:pPr algn="ctr"/>
            <a:r>
              <a:rPr lang="en-US" dirty="0">
                <a:latin typeface="Calibri"/>
                <a:ea typeface="Calibri"/>
                <a:cs typeface="Calibri"/>
              </a:rPr>
              <a:t>MEGATRON</a:t>
            </a:r>
            <a:endParaRPr lang="en-US" dirty="0">
              <a:latin typeface="Calibri"/>
              <a:cs typeface="Calibri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AB1329-71EA-0F75-0841-4442D7BABC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6660790"/>
            <a:ext cx="12191999" cy="226846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6" name="Footer Placeholder 6">
            <a:extLst>
              <a:ext uri="{FF2B5EF4-FFF2-40B4-BE49-F238E27FC236}">
                <a16:creationId xmlns:a16="http://schemas.microsoft.com/office/drawing/2014/main" id="{9E4EC762-144A-2B76-2A7E-884FF93C1EF2}"/>
              </a:ext>
            </a:extLst>
          </p:cNvPr>
          <p:cNvSpPr txBox="1">
            <a:spLocks/>
          </p:cNvSpPr>
          <p:nvPr/>
        </p:nvSpPr>
        <p:spPr>
          <a:xfrm>
            <a:off x="4917505" y="6636001"/>
            <a:ext cx="3869267" cy="25163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r>
              <a:rPr lang="en-US" sz="900" dirty="0">
                <a:solidFill>
                  <a:schemeClr val="bg1"/>
                </a:solidFill>
                <a:latin typeface="TradeGothic"/>
                <a:ea typeface="+mn-ea"/>
              </a:rPr>
              <a:t>@SIH Idea submission- </a:t>
            </a:r>
            <a:r>
              <a:rPr lang="en-US" sz="9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TEAM MEGATRON</a:t>
            </a:r>
            <a:endParaRPr lang="en-US" sz="900" dirty="0">
              <a:solidFill>
                <a:schemeClr val="bg1"/>
              </a:solidFill>
              <a:latin typeface="Calibri"/>
              <a:cs typeface="Calibri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prstClr val="white"/>
              </a:solidFill>
              <a:latin typeface="TradeGothic"/>
              <a:ea typeface="+mn-ea"/>
            </a:endParaRP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03961273-8076-F7BB-D26B-C05D6EA2F7CE}"/>
              </a:ext>
            </a:extLst>
          </p:cNvPr>
          <p:cNvSpPr txBox="1">
            <a:spLocks/>
          </p:cNvSpPr>
          <p:nvPr/>
        </p:nvSpPr>
        <p:spPr>
          <a:xfrm>
            <a:off x="8674994" y="6593537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defTabSz="457200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TradeGothic" pitchFamily="1" charset="0"/>
                <a:ea typeface="ＭＳ Ｐゴシック" pitchFamily="1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7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20" name="object 159">
            <a:extLst>
              <a:ext uri="{FF2B5EF4-FFF2-40B4-BE49-F238E27FC236}">
                <a16:creationId xmlns:a16="http://schemas.microsoft.com/office/drawing/2014/main" id="{A1021FB2-21AA-CE87-6C11-8806DDD7D7A1}"/>
              </a:ext>
            </a:extLst>
          </p:cNvPr>
          <p:cNvSpPr/>
          <p:nvPr/>
        </p:nvSpPr>
        <p:spPr>
          <a:xfrm>
            <a:off x="1388853" y="6071357"/>
            <a:ext cx="9344502" cy="544893"/>
          </a:xfrm>
          <a:prstGeom prst="roundRect">
            <a:avLst>
              <a:gd name="adj" fmla="val 40369"/>
            </a:avLst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accent4">
                <a:lumMod val="75000"/>
              </a:schemeClr>
            </a:solidFill>
            <a:prstDash val="solid"/>
            <a:extLst>
              <a:ext uri="{C807C97D-BFC1-408E-A445-0C87EB9F89A2}">
                <ask:lineSketchStyleProps xmlns:ask="http://schemas.microsoft.com/office/drawing/2018/sketchyshapes" sd="2938603708">
                  <a:custGeom>
                    <a:avLst/>
                    <a:gdLst>
                      <a:gd name="csX0" fmla="*/ 9613963 w 9989388"/>
                      <a:gd name="csY0" fmla="*/ 473067 h 473136"/>
                      <a:gd name="csX1" fmla="*/ 8851762 w 9989388"/>
                      <a:gd name="csY1" fmla="*/ 473067 h 473136"/>
                      <a:gd name="csX2" fmla="*/ 8459113 w 9989388"/>
                      <a:gd name="csY2" fmla="*/ 473067 h 473136"/>
                      <a:gd name="csX3" fmla="*/ 7974076 w 9989388"/>
                      <a:gd name="csY3" fmla="*/ 473067 h 473136"/>
                      <a:gd name="csX4" fmla="*/ 7396651 w 9989388"/>
                      <a:gd name="csY4" fmla="*/ 473067 h 473136"/>
                      <a:gd name="csX5" fmla="*/ 6911614 w 9989388"/>
                      <a:gd name="csY5" fmla="*/ 473067 h 473136"/>
                      <a:gd name="csX6" fmla="*/ 6611353 w 9989388"/>
                      <a:gd name="csY6" fmla="*/ 473067 h 473136"/>
                      <a:gd name="csX7" fmla="*/ 6311092 w 9989388"/>
                      <a:gd name="csY7" fmla="*/ 473067 h 473136"/>
                      <a:gd name="csX8" fmla="*/ 6010831 w 9989388"/>
                      <a:gd name="csY8" fmla="*/ 473067 h 473136"/>
                      <a:gd name="csX9" fmla="*/ 5433406 w 9989388"/>
                      <a:gd name="csY9" fmla="*/ 473067 h 473136"/>
                      <a:gd name="csX10" fmla="*/ 5040757 w 9989388"/>
                      <a:gd name="csY10" fmla="*/ 473067 h 473136"/>
                      <a:gd name="csX11" fmla="*/ 4555719 w 9989388"/>
                      <a:gd name="csY11" fmla="*/ 473067 h 473136"/>
                      <a:gd name="csX12" fmla="*/ 3793518 w 9989388"/>
                      <a:gd name="csY12" fmla="*/ 473067 h 473136"/>
                      <a:gd name="csX13" fmla="*/ 3493257 w 9989388"/>
                      <a:gd name="csY13" fmla="*/ 473067 h 473136"/>
                      <a:gd name="csX14" fmla="*/ 2915832 w 9989388"/>
                      <a:gd name="csY14" fmla="*/ 473067 h 473136"/>
                      <a:gd name="csX15" fmla="*/ 2338407 w 9989388"/>
                      <a:gd name="csY15" fmla="*/ 473067 h 473136"/>
                      <a:gd name="csX16" fmla="*/ 1668594 w 9989388"/>
                      <a:gd name="csY16" fmla="*/ 473067 h 473136"/>
                      <a:gd name="csX17" fmla="*/ 1368333 w 9989388"/>
                      <a:gd name="csY17" fmla="*/ 473067 h 473136"/>
                      <a:gd name="csX18" fmla="*/ 375162 w 9989388"/>
                      <a:gd name="csY18" fmla="*/ 473067 h 473136"/>
                      <a:gd name="csX19" fmla="*/ 256582 w 9989388"/>
                      <a:gd name="csY19" fmla="*/ 470531 h 473136"/>
                      <a:gd name="csX20" fmla="*/ 153597 w 9989388"/>
                      <a:gd name="csY20" fmla="*/ 463469 h 473136"/>
                      <a:gd name="csX21" fmla="*/ 72383 w 9989388"/>
                      <a:gd name="csY21" fmla="*/ 452700 h 473136"/>
                      <a:gd name="csX22" fmla="*/ 19123 w 9989388"/>
                      <a:gd name="csY22" fmla="*/ 439045 h 473136"/>
                      <a:gd name="csX23" fmla="*/ 0 w 9989388"/>
                      <a:gd name="csY23" fmla="*/ 423321 h 473136"/>
                      <a:gd name="csX24" fmla="*/ 0 w 9989388"/>
                      <a:gd name="csY24" fmla="*/ 49745 h 473136"/>
                      <a:gd name="csX25" fmla="*/ 19123 w 9989388"/>
                      <a:gd name="csY25" fmla="*/ 34021 h 473136"/>
                      <a:gd name="csX26" fmla="*/ 72383 w 9989388"/>
                      <a:gd name="csY26" fmla="*/ 20366 h 473136"/>
                      <a:gd name="csX27" fmla="*/ 153597 w 9989388"/>
                      <a:gd name="csY27" fmla="*/ 9597 h 473136"/>
                      <a:gd name="csX28" fmla="*/ 256582 w 9989388"/>
                      <a:gd name="csY28" fmla="*/ 2535 h 473136"/>
                      <a:gd name="csX29" fmla="*/ 375162 w 9989388"/>
                      <a:gd name="csY29" fmla="*/ 0 h 473136"/>
                      <a:gd name="csX30" fmla="*/ 952587 w 9989388"/>
                      <a:gd name="csY30" fmla="*/ 0 h 473136"/>
                      <a:gd name="csX31" fmla="*/ 1437624 w 9989388"/>
                      <a:gd name="csY31" fmla="*/ 0 h 473136"/>
                      <a:gd name="csX32" fmla="*/ 1922661 w 9989388"/>
                      <a:gd name="csY32" fmla="*/ 0 h 473136"/>
                      <a:gd name="csX33" fmla="*/ 2500086 w 9989388"/>
                      <a:gd name="csY33" fmla="*/ 0 h 473136"/>
                      <a:gd name="csX34" fmla="*/ 3169899 w 9989388"/>
                      <a:gd name="csY34" fmla="*/ 0 h 473136"/>
                      <a:gd name="csX35" fmla="*/ 3932100 w 9989388"/>
                      <a:gd name="csY35" fmla="*/ 0 h 473136"/>
                      <a:gd name="csX36" fmla="*/ 4232361 w 9989388"/>
                      <a:gd name="csY36" fmla="*/ 0 h 473136"/>
                      <a:gd name="csX37" fmla="*/ 4717398 w 9989388"/>
                      <a:gd name="csY37" fmla="*/ 0 h 473136"/>
                      <a:gd name="csX38" fmla="*/ 5017660 w 9989388"/>
                      <a:gd name="csY38" fmla="*/ 0 h 473136"/>
                      <a:gd name="csX39" fmla="*/ 5687473 w 9989388"/>
                      <a:gd name="csY39" fmla="*/ 0 h 473136"/>
                      <a:gd name="csX40" fmla="*/ 6357286 w 9989388"/>
                      <a:gd name="csY40" fmla="*/ 0 h 473136"/>
                      <a:gd name="csX41" fmla="*/ 7119487 w 9989388"/>
                      <a:gd name="csY41" fmla="*/ 0 h 473136"/>
                      <a:gd name="csX42" fmla="*/ 7604524 w 9989388"/>
                      <a:gd name="csY42" fmla="*/ 0 h 473136"/>
                      <a:gd name="csX43" fmla="*/ 8366725 w 9989388"/>
                      <a:gd name="csY43" fmla="*/ 0 h 473136"/>
                      <a:gd name="csX44" fmla="*/ 9036538 w 9989388"/>
                      <a:gd name="csY44" fmla="*/ 0 h 473136"/>
                      <a:gd name="csX45" fmla="*/ 9613963 w 9989388"/>
                      <a:gd name="csY45" fmla="*/ 0 h 473136"/>
                      <a:gd name="csX46" fmla="*/ 9732542 w 9989388"/>
                      <a:gd name="csY46" fmla="*/ 2535 h 473136"/>
                      <a:gd name="csX47" fmla="*/ 9835527 w 9989388"/>
                      <a:gd name="csY47" fmla="*/ 9597 h 473136"/>
                      <a:gd name="csX48" fmla="*/ 9916739 w 9989388"/>
                      <a:gd name="csY48" fmla="*/ 20366 h 473136"/>
                      <a:gd name="csX49" fmla="*/ 9969996 w 9989388"/>
                      <a:gd name="csY49" fmla="*/ 34021 h 473136"/>
                      <a:gd name="csX50" fmla="*/ 9989122 w 9989388"/>
                      <a:gd name="csY50" fmla="*/ 49745 h 473136"/>
                      <a:gd name="csX51" fmla="*/ 9989122 w 9989388"/>
                      <a:gd name="csY51" fmla="*/ 423321 h 473136"/>
                      <a:gd name="csX52" fmla="*/ 9969996 w 9989388"/>
                      <a:gd name="csY52" fmla="*/ 439045 h 473136"/>
                      <a:gd name="csX53" fmla="*/ 9916739 w 9989388"/>
                      <a:gd name="csY53" fmla="*/ 452700 h 473136"/>
                      <a:gd name="csX54" fmla="*/ 9835527 w 9989388"/>
                      <a:gd name="csY54" fmla="*/ 463469 h 473136"/>
                      <a:gd name="csX55" fmla="*/ 9732542 w 9989388"/>
                      <a:gd name="csY55" fmla="*/ 470531 h 473136"/>
                      <a:gd name="csX56" fmla="*/ 9613963 w 9989388"/>
                      <a:gd name="csY56" fmla="*/ 473067 h 473136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  <a:cxn ang="0">
                        <a:pos x="csX26" y="csY26"/>
                      </a:cxn>
                      <a:cxn ang="0">
                        <a:pos x="csX27" y="csY27"/>
                      </a:cxn>
                      <a:cxn ang="0">
                        <a:pos x="csX28" y="csY28"/>
                      </a:cxn>
                      <a:cxn ang="0">
                        <a:pos x="csX29" y="csY29"/>
                      </a:cxn>
                      <a:cxn ang="0">
                        <a:pos x="csX30" y="csY30"/>
                      </a:cxn>
                      <a:cxn ang="0">
                        <a:pos x="csX31" y="csY31"/>
                      </a:cxn>
                      <a:cxn ang="0">
                        <a:pos x="csX32" y="csY32"/>
                      </a:cxn>
                      <a:cxn ang="0">
                        <a:pos x="csX33" y="csY33"/>
                      </a:cxn>
                      <a:cxn ang="0">
                        <a:pos x="csX34" y="csY34"/>
                      </a:cxn>
                      <a:cxn ang="0">
                        <a:pos x="csX35" y="csY35"/>
                      </a:cxn>
                      <a:cxn ang="0">
                        <a:pos x="csX36" y="csY36"/>
                      </a:cxn>
                      <a:cxn ang="0">
                        <a:pos x="csX37" y="csY37"/>
                      </a:cxn>
                      <a:cxn ang="0">
                        <a:pos x="csX38" y="csY38"/>
                      </a:cxn>
                      <a:cxn ang="0">
                        <a:pos x="csX39" y="csY39"/>
                      </a:cxn>
                      <a:cxn ang="0">
                        <a:pos x="csX40" y="csY40"/>
                      </a:cxn>
                      <a:cxn ang="0">
                        <a:pos x="csX41" y="csY41"/>
                      </a:cxn>
                      <a:cxn ang="0">
                        <a:pos x="csX42" y="csY42"/>
                      </a:cxn>
                      <a:cxn ang="0">
                        <a:pos x="csX43" y="csY43"/>
                      </a:cxn>
                      <a:cxn ang="0">
                        <a:pos x="csX44" y="csY44"/>
                      </a:cxn>
                      <a:cxn ang="0">
                        <a:pos x="csX45" y="csY45"/>
                      </a:cxn>
                      <a:cxn ang="0">
                        <a:pos x="csX46" y="csY46"/>
                      </a:cxn>
                      <a:cxn ang="0">
                        <a:pos x="csX47" y="csY47"/>
                      </a:cxn>
                      <a:cxn ang="0">
                        <a:pos x="csX48" y="csY48"/>
                      </a:cxn>
                      <a:cxn ang="0">
                        <a:pos x="csX49" y="csY49"/>
                      </a:cxn>
                      <a:cxn ang="0">
                        <a:pos x="csX50" y="csY50"/>
                      </a:cxn>
                      <a:cxn ang="0">
                        <a:pos x="csX51" y="csY51"/>
                      </a:cxn>
                      <a:cxn ang="0">
                        <a:pos x="csX52" y="csY52"/>
                      </a:cxn>
                      <a:cxn ang="0">
                        <a:pos x="csX53" y="csY53"/>
                      </a:cxn>
                      <a:cxn ang="0">
                        <a:pos x="csX54" y="csY54"/>
                      </a:cxn>
                      <a:cxn ang="0">
                        <a:pos x="csX55" y="csY55"/>
                      </a:cxn>
                      <a:cxn ang="0">
                        <a:pos x="csX56" y="csY56"/>
                      </a:cxn>
                    </a:cxnLst>
                    <a:rect l="l" t="t" r="r" b="b"/>
                    <a:pathLst>
                      <a:path w="9989388" h="473136" fill="none" extrusionOk="0">
                        <a:moveTo>
                          <a:pt x="9613963" y="473067"/>
                        </a:moveTo>
                        <a:cubicBezTo>
                          <a:pt x="9391397" y="493116"/>
                          <a:pt x="9158242" y="450033"/>
                          <a:pt x="8851762" y="473067"/>
                        </a:cubicBezTo>
                        <a:cubicBezTo>
                          <a:pt x="8545282" y="496101"/>
                          <a:pt x="8546840" y="471776"/>
                          <a:pt x="8459113" y="473067"/>
                        </a:cubicBezTo>
                        <a:cubicBezTo>
                          <a:pt x="8371386" y="474358"/>
                          <a:pt x="8115461" y="441980"/>
                          <a:pt x="7974076" y="473067"/>
                        </a:cubicBezTo>
                        <a:cubicBezTo>
                          <a:pt x="7832691" y="504154"/>
                          <a:pt x="7607640" y="423293"/>
                          <a:pt x="7396651" y="473067"/>
                        </a:cubicBezTo>
                        <a:cubicBezTo>
                          <a:pt x="7185663" y="522841"/>
                          <a:pt x="7049769" y="471325"/>
                          <a:pt x="6911614" y="473067"/>
                        </a:cubicBezTo>
                        <a:cubicBezTo>
                          <a:pt x="6773459" y="474809"/>
                          <a:pt x="6691472" y="437845"/>
                          <a:pt x="6611353" y="473067"/>
                        </a:cubicBezTo>
                        <a:cubicBezTo>
                          <a:pt x="6531234" y="508289"/>
                          <a:pt x="6389622" y="454642"/>
                          <a:pt x="6311092" y="473067"/>
                        </a:cubicBezTo>
                        <a:cubicBezTo>
                          <a:pt x="6232562" y="491492"/>
                          <a:pt x="6098320" y="460356"/>
                          <a:pt x="6010831" y="473067"/>
                        </a:cubicBezTo>
                        <a:cubicBezTo>
                          <a:pt x="5923342" y="485778"/>
                          <a:pt x="5713656" y="408872"/>
                          <a:pt x="5433406" y="473067"/>
                        </a:cubicBezTo>
                        <a:cubicBezTo>
                          <a:pt x="5153157" y="537262"/>
                          <a:pt x="5147557" y="467662"/>
                          <a:pt x="5040757" y="473067"/>
                        </a:cubicBezTo>
                        <a:cubicBezTo>
                          <a:pt x="4933957" y="478472"/>
                          <a:pt x="4778282" y="461148"/>
                          <a:pt x="4555719" y="473067"/>
                        </a:cubicBezTo>
                        <a:cubicBezTo>
                          <a:pt x="4333156" y="484986"/>
                          <a:pt x="4017845" y="404086"/>
                          <a:pt x="3793518" y="473067"/>
                        </a:cubicBezTo>
                        <a:cubicBezTo>
                          <a:pt x="3569191" y="542048"/>
                          <a:pt x="3615764" y="453200"/>
                          <a:pt x="3493257" y="473067"/>
                        </a:cubicBezTo>
                        <a:cubicBezTo>
                          <a:pt x="3370750" y="492934"/>
                          <a:pt x="3130213" y="472920"/>
                          <a:pt x="2915832" y="473067"/>
                        </a:cubicBezTo>
                        <a:cubicBezTo>
                          <a:pt x="2701452" y="473214"/>
                          <a:pt x="2478553" y="464954"/>
                          <a:pt x="2338407" y="473067"/>
                        </a:cubicBezTo>
                        <a:cubicBezTo>
                          <a:pt x="2198261" y="481180"/>
                          <a:pt x="1969914" y="460080"/>
                          <a:pt x="1668594" y="473067"/>
                        </a:cubicBezTo>
                        <a:cubicBezTo>
                          <a:pt x="1367274" y="486054"/>
                          <a:pt x="1481235" y="438536"/>
                          <a:pt x="1368333" y="473067"/>
                        </a:cubicBezTo>
                        <a:cubicBezTo>
                          <a:pt x="1255431" y="507598"/>
                          <a:pt x="576111" y="434137"/>
                          <a:pt x="375162" y="473067"/>
                        </a:cubicBezTo>
                        <a:cubicBezTo>
                          <a:pt x="349173" y="476534"/>
                          <a:pt x="294136" y="464397"/>
                          <a:pt x="256582" y="470531"/>
                        </a:cubicBezTo>
                        <a:cubicBezTo>
                          <a:pt x="211050" y="476718"/>
                          <a:pt x="197377" y="458094"/>
                          <a:pt x="153597" y="463469"/>
                        </a:cubicBezTo>
                        <a:cubicBezTo>
                          <a:pt x="116576" y="459924"/>
                          <a:pt x="111390" y="454354"/>
                          <a:pt x="72383" y="452700"/>
                        </a:cubicBezTo>
                        <a:cubicBezTo>
                          <a:pt x="45631" y="447691"/>
                          <a:pt x="37058" y="440570"/>
                          <a:pt x="19123" y="439045"/>
                        </a:cubicBezTo>
                        <a:cubicBezTo>
                          <a:pt x="10129" y="434388"/>
                          <a:pt x="5986" y="428084"/>
                          <a:pt x="0" y="423321"/>
                        </a:cubicBezTo>
                        <a:cubicBezTo>
                          <a:pt x="-35600" y="266895"/>
                          <a:pt x="4762" y="181385"/>
                          <a:pt x="0" y="49745"/>
                        </a:cubicBezTo>
                        <a:cubicBezTo>
                          <a:pt x="4583" y="42999"/>
                          <a:pt x="10428" y="41337"/>
                          <a:pt x="19123" y="34021"/>
                        </a:cubicBezTo>
                        <a:cubicBezTo>
                          <a:pt x="29241" y="28048"/>
                          <a:pt x="51939" y="25634"/>
                          <a:pt x="72383" y="20366"/>
                        </a:cubicBezTo>
                        <a:cubicBezTo>
                          <a:pt x="96134" y="15118"/>
                          <a:pt x="136083" y="18828"/>
                          <a:pt x="153597" y="9597"/>
                        </a:cubicBezTo>
                        <a:cubicBezTo>
                          <a:pt x="194650" y="5421"/>
                          <a:pt x="208890" y="12220"/>
                          <a:pt x="256582" y="2535"/>
                        </a:cubicBezTo>
                        <a:cubicBezTo>
                          <a:pt x="283522" y="-1643"/>
                          <a:pt x="351077" y="5657"/>
                          <a:pt x="375162" y="0"/>
                        </a:cubicBezTo>
                        <a:cubicBezTo>
                          <a:pt x="590973" y="-23084"/>
                          <a:pt x="797720" y="5999"/>
                          <a:pt x="952587" y="0"/>
                        </a:cubicBezTo>
                        <a:cubicBezTo>
                          <a:pt x="1107455" y="-5999"/>
                          <a:pt x="1292202" y="7821"/>
                          <a:pt x="1437624" y="0"/>
                        </a:cubicBezTo>
                        <a:cubicBezTo>
                          <a:pt x="1583046" y="-7821"/>
                          <a:pt x="1720819" y="20443"/>
                          <a:pt x="1922661" y="0"/>
                        </a:cubicBezTo>
                        <a:cubicBezTo>
                          <a:pt x="2124503" y="-20443"/>
                          <a:pt x="2217773" y="63425"/>
                          <a:pt x="2500086" y="0"/>
                        </a:cubicBezTo>
                        <a:cubicBezTo>
                          <a:pt x="2782399" y="-63425"/>
                          <a:pt x="2915192" y="77848"/>
                          <a:pt x="3169899" y="0"/>
                        </a:cubicBezTo>
                        <a:cubicBezTo>
                          <a:pt x="3424606" y="-77848"/>
                          <a:pt x="3552099" y="6090"/>
                          <a:pt x="3932100" y="0"/>
                        </a:cubicBezTo>
                        <a:cubicBezTo>
                          <a:pt x="4312101" y="-6090"/>
                          <a:pt x="4102369" y="12183"/>
                          <a:pt x="4232361" y="0"/>
                        </a:cubicBezTo>
                        <a:cubicBezTo>
                          <a:pt x="4362353" y="-12183"/>
                          <a:pt x="4515859" y="17471"/>
                          <a:pt x="4717398" y="0"/>
                        </a:cubicBezTo>
                        <a:cubicBezTo>
                          <a:pt x="4918937" y="-17471"/>
                          <a:pt x="4939184" y="29583"/>
                          <a:pt x="5017660" y="0"/>
                        </a:cubicBezTo>
                        <a:cubicBezTo>
                          <a:pt x="5096136" y="-29583"/>
                          <a:pt x="5450625" y="50015"/>
                          <a:pt x="5687473" y="0"/>
                        </a:cubicBezTo>
                        <a:cubicBezTo>
                          <a:pt x="5924321" y="-50015"/>
                          <a:pt x="6103512" y="32475"/>
                          <a:pt x="6357286" y="0"/>
                        </a:cubicBezTo>
                        <a:cubicBezTo>
                          <a:pt x="6611060" y="-32475"/>
                          <a:pt x="6944001" y="72220"/>
                          <a:pt x="7119487" y="0"/>
                        </a:cubicBezTo>
                        <a:cubicBezTo>
                          <a:pt x="7294973" y="-72220"/>
                          <a:pt x="7380014" y="45553"/>
                          <a:pt x="7604524" y="0"/>
                        </a:cubicBezTo>
                        <a:cubicBezTo>
                          <a:pt x="7829034" y="-45553"/>
                          <a:pt x="8154021" y="4375"/>
                          <a:pt x="8366725" y="0"/>
                        </a:cubicBezTo>
                        <a:cubicBezTo>
                          <a:pt x="8579429" y="-4375"/>
                          <a:pt x="8753222" y="15687"/>
                          <a:pt x="9036538" y="0"/>
                        </a:cubicBezTo>
                        <a:cubicBezTo>
                          <a:pt x="9319854" y="-15687"/>
                          <a:pt x="9353772" y="44868"/>
                          <a:pt x="9613963" y="0"/>
                        </a:cubicBezTo>
                        <a:cubicBezTo>
                          <a:pt x="9656450" y="-12057"/>
                          <a:pt x="9699461" y="12568"/>
                          <a:pt x="9732542" y="2535"/>
                        </a:cubicBezTo>
                        <a:cubicBezTo>
                          <a:pt x="9774711" y="4285"/>
                          <a:pt x="9800165" y="8776"/>
                          <a:pt x="9835527" y="9597"/>
                        </a:cubicBezTo>
                        <a:cubicBezTo>
                          <a:pt x="9853341" y="4506"/>
                          <a:pt x="9893265" y="18770"/>
                          <a:pt x="9916739" y="20366"/>
                        </a:cubicBezTo>
                        <a:cubicBezTo>
                          <a:pt x="9934340" y="23487"/>
                          <a:pt x="9955036" y="36340"/>
                          <a:pt x="9969996" y="34021"/>
                        </a:cubicBezTo>
                        <a:cubicBezTo>
                          <a:pt x="9979761" y="39143"/>
                          <a:pt x="9983016" y="44861"/>
                          <a:pt x="9989122" y="49745"/>
                        </a:cubicBezTo>
                        <a:cubicBezTo>
                          <a:pt x="10007781" y="126579"/>
                          <a:pt x="9980936" y="244545"/>
                          <a:pt x="9989122" y="423321"/>
                        </a:cubicBezTo>
                        <a:cubicBezTo>
                          <a:pt x="9983182" y="430887"/>
                          <a:pt x="9973323" y="433896"/>
                          <a:pt x="9969996" y="439045"/>
                        </a:cubicBezTo>
                        <a:cubicBezTo>
                          <a:pt x="9945444" y="448850"/>
                          <a:pt x="9930180" y="446956"/>
                          <a:pt x="9916739" y="452700"/>
                        </a:cubicBezTo>
                        <a:cubicBezTo>
                          <a:pt x="9891402" y="462091"/>
                          <a:pt x="9872188" y="454466"/>
                          <a:pt x="9835527" y="463469"/>
                        </a:cubicBezTo>
                        <a:cubicBezTo>
                          <a:pt x="9803959" y="466693"/>
                          <a:pt x="9762216" y="466387"/>
                          <a:pt x="9732542" y="470531"/>
                        </a:cubicBezTo>
                        <a:cubicBezTo>
                          <a:pt x="9680133" y="476091"/>
                          <a:pt x="9649979" y="468172"/>
                          <a:pt x="9613963" y="473067"/>
                        </a:cubicBezTo>
                        <a:close/>
                      </a:path>
                      <a:path w="9989388" h="473136" stroke="0" extrusionOk="0">
                        <a:moveTo>
                          <a:pt x="9613963" y="473067"/>
                        </a:moveTo>
                        <a:cubicBezTo>
                          <a:pt x="9357686" y="526245"/>
                          <a:pt x="9193339" y="458391"/>
                          <a:pt x="8851762" y="473067"/>
                        </a:cubicBezTo>
                        <a:cubicBezTo>
                          <a:pt x="8510185" y="487743"/>
                          <a:pt x="8460089" y="436353"/>
                          <a:pt x="8274337" y="473067"/>
                        </a:cubicBezTo>
                        <a:cubicBezTo>
                          <a:pt x="8088586" y="509781"/>
                          <a:pt x="7884893" y="424998"/>
                          <a:pt x="7696912" y="473067"/>
                        </a:cubicBezTo>
                        <a:cubicBezTo>
                          <a:pt x="7508932" y="521136"/>
                          <a:pt x="7546740" y="438393"/>
                          <a:pt x="7396651" y="473067"/>
                        </a:cubicBezTo>
                        <a:cubicBezTo>
                          <a:pt x="7246562" y="507741"/>
                          <a:pt x="7095742" y="417897"/>
                          <a:pt x="6911614" y="473067"/>
                        </a:cubicBezTo>
                        <a:cubicBezTo>
                          <a:pt x="6727486" y="528237"/>
                          <a:pt x="6387729" y="439048"/>
                          <a:pt x="6241801" y="473067"/>
                        </a:cubicBezTo>
                        <a:cubicBezTo>
                          <a:pt x="6095873" y="507086"/>
                          <a:pt x="6002929" y="427534"/>
                          <a:pt x="5849152" y="473067"/>
                        </a:cubicBezTo>
                        <a:cubicBezTo>
                          <a:pt x="5695375" y="518600"/>
                          <a:pt x="5658470" y="455411"/>
                          <a:pt x="5548891" y="473067"/>
                        </a:cubicBezTo>
                        <a:cubicBezTo>
                          <a:pt x="5439312" y="490723"/>
                          <a:pt x="5303661" y="458972"/>
                          <a:pt x="5156242" y="473067"/>
                        </a:cubicBezTo>
                        <a:cubicBezTo>
                          <a:pt x="5008823" y="487162"/>
                          <a:pt x="4980805" y="463218"/>
                          <a:pt x="4855980" y="473067"/>
                        </a:cubicBezTo>
                        <a:cubicBezTo>
                          <a:pt x="4731155" y="482916"/>
                          <a:pt x="4548702" y="446501"/>
                          <a:pt x="4278555" y="473067"/>
                        </a:cubicBezTo>
                        <a:cubicBezTo>
                          <a:pt x="4008408" y="499633"/>
                          <a:pt x="3836245" y="433184"/>
                          <a:pt x="3608742" y="473067"/>
                        </a:cubicBezTo>
                        <a:cubicBezTo>
                          <a:pt x="3381239" y="512950"/>
                          <a:pt x="3047846" y="472072"/>
                          <a:pt x="2846541" y="473067"/>
                        </a:cubicBezTo>
                        <a:cubicBezTo>
                          <a:pt x="2645236" y="474062"/>
                          <a:pt x="2476580" y="465326"/>
                          <a:pt x="2361504" y="473067"/>
                        </a:cubicBezTo>
                        <a:cubicBezTo>
                          <a:pt x="2246428" y="480808"/>
                          <a:pt x="2017752" y="463213"/>
                          <a:pt x="1876467" y="473067"/>
                        </a:cubicBezTo>
                        <a:cubicBezTo>
                          <a:pt x="1735182" y="482921"/>
                          <a:pt x="1529361" y="405803"/>
                          <a:pt x="1299042" y="473067"/>
                        </a:cubicBezTo>
                        <a:cubicBezTo>
                          <a:pt x="1068723" y="540331"/>
                          <a:pt x="798937" y="472148"/>
                          <a:pt x="375162" y="473067"/>
                        </a:cubicBezTo>
                        <a:cubicBezTo>
                          <a:pt x="338201" y="482332"/>
                          <a:pt x="305977" y="460137"/>
                          <a:pt x="256582" y="470531"/>
                        </a:cubicBezTo>
                        <a:cubicBezTo>
                          <a:pt x="218254" y="468747"/>
                          <a:pt x="176926" y="459403"/>
                          <a:pt x="153597" y="463469"/>
                        </a:cubicBezTo>
                        <a:cubicBezTo>
                          <a:pt x="114227" y="466633"/>
                          <a:pt x="91706" y="447218"/>
                          <a:pt x="72383" y="452700"/>
                        </a:cubicBezTo>
                        <a:cubicBezTo>
                          <a:pt x="55321" y="449382"/>
                          <a:pt x="45601" y="439161"/>
                          <a:pt x="19123" y="439045"/>
                        </a:cubicBezTo>
                        <a:cubicBezTo>
                          <a:pt x="11731" y="436182"/>
                          <a:pt x="6412" y="426942"/>
                          <a:pt x="0" y="423321"/>
                        </a:cubicBezTo>
                        <a:cubicBezTo>
                          <a:pt x="-14866" y="255361"/>
                          <a:pt x="2155" y="138217"/>
                          <a:pt x="0" y="49745"/>
                        </a:cubicBezTo>
                        <a:cubicBezTo>
                          <a:pt x="8884" y="41459"/>
                          <a:pt x="13209" y="42177"/>
                          <a:pt x="19123" y="34021"/>
                        </a:cubicBezTo>
                        <a:cubicBezTo>
                          <a:pt x="38542" y="25571"/>
                          <a:pt x="61524" y="23485"/>
                          <a:pt x="72383" y="20366"/>
                        </a:cubicBezTo>
                        <a:cubicBezTo>
                          <a:pt x="111493" y="7236"/>
                          <a:pt x="129521" y="21455"/>
                          <a:pt x="153597" y="9597"/>
                        </a:cubicBezTo>
                        <a:cubicBezTo>
                          <a:pt x="204131" y="574"/>
                          <a:pt x="218549" y="11370"/>
                          <a:pt x="256582" y="2535"/>
                        </a:cubicBezTo>
                        <a:cubicBezTo>
                          <a:pt x="308402" y="-3384"/>
                          <a:pt x="345652" y="4516"/>
                          <a:pt x="375162" y="0"/>
                        </a:cubicBezTo>
                        <a:cubicBezTo>
                          <a:pt x="551193" y="-34405"/>
                          <a:pt x="680604" y="55899"/>
                          <a:pt x="860199" y="0"/>
                        </a:cubicBezTo>
                        <a:cubicBezTo>
                          <a:pt x="1039794" y="-55899"/>
                          <a:pt x="1295445" y="19711"/>
                          <a:pt x="1530012" y="0"/>
                        </a:cubicBezTo>
                        <a:cubicBezTo>
                          <a:pt x="1764579" y="-19711"/>
                          <a:pt x="1736619" y="8777"/>
                          <a:pt x="1830273" y="0"/>
                        </a:cubicBezTo>
                        <a:cubicBezTo>
                          <a:pt x="1923927" y="-8777"/>
                          <a:pt x="1998636" y="12970"/>
                          <a:pt x="2130534" y="0"/>
                        </a:cubicBezTo>
                        <a:cubicBezTo>
                          <a:pt x="2262432" y="-12970"/>
                          <a:pt x="2538030" y="38293"/>
                          <a:pt x="2707959" y="0"/>
                        </a:cubicBezTo>
                        <a:cubicBezTo>
                          <a:pt x="2877888" y="-38293"/>
                          <a:pt x="3152172" y="11125"/>
                          <a:pt x="3285384" y="0"/>
                        </a:cubicBezTo>
                        <a:cubicBezTo>
                          <a:pt x="3418597" y="-11125"/>
                          <a:pt x="3758008" y="75250"/>
                          <a:pt x="4047585" y="0"/>
                        </a:cubicBezTo>
                        <a:cubicBezTo>
                          <a:pt x="4337162" y="-75250"/>
                          <a:pt x="4341838" y="19331"/>
                          <a:pt x="4440234" y="0"/>
                        </a:cubicBezTo>
                        <a:cubicBezTo>
                          <a:pt x="4538630" y="-19331"/>
                          <a:pt x="4876237" y="27179"/>
                          <a:pt x="5202436" y="0"/>
                        </a:cubicBezTo>
                        <a:cubicBezTo>
                          <a:pt x="5528635" y="-27179"/>
                          <a:pt x="5655453" y="73969"/>
                          <a:pt x="5964637" y="0"/>
                        </a:cubicBezTo>
                        <a:cubicBezTo>
                          <a:pt x="6273821" y="-73969"/>
                          <a:pt x="6299993" y="63126"/>
                          <a:pt x="6542062" y="0"/>
                        </a:cubicBezTo>
                        <a:cubicBezTo>
                          <a:pt x="6784131" y="-63126"/>
                          <a:pt x="6813943" y="5577"/>
                          <a:pt x="7027099" y="0"/>
                        </a:cubicBezTo>
                        <a:cubicBezTo>
                          <a:pt x="7240255" y="-5577"/>
                          <a:pt x="7401643" y="16497"/>
                          <a:pt x="7696912" y="0"/>
                        </a:cubicBezTo>
                        <a:cubicBezTo>
                          <a:pt x="7992181" y="-16497"/>
                          <a:pt x="7932809" y="17846"/>
                          <a:pt x="7997173" y="0"/>
                        </a:cubicBezTo>
                        <a:cubicBezTo>
                          <a:pt x="8061537" y="-17846"/>
                          <a:pt x="8374108" y="40033"/>
                          <a:pt x="8482210" y="0"/>
                        </a:cubicBezTo>
                        <a:cubicBezTo>
                          <a:pt x="8590312" y="-40033"/>
                          <a:pt x="8683772" y="4007"/>
                          <a:pt x="8782471" y="0"/>
                        </a:cubicBezTo>
                        <a:cubicBezTo>
                          <a:pt x="8881170" y="-4007"/>
                          <a:pt x="9442252" y="56797"/>
                          <a:pt x="9613963" y="0"/>
                        </a:cubicBezTo>
                        <a:cubicBezTo>
                          <a:pt x="9652464" y="-1137"/>
                          <a:pt x="9682157" y="11239"/>
                          <a:pt x="9732542" y="2535"/>
                        </a:cubicBezTo>
                        <a:cubicBezTo>
                          <a:pt x="9780945" y="2773"/>
                          <a:pt x="9801741" y="14824"/>
                          <a:pt x="9835527" y="9597"/>
                        </a:cubicBezTo>
                        <a:cubicBezTo>
                          <a:pt x="9870504" y="7908"/>
                          <a:pt x="9885705" y="17606"/>
                          <a:pt x="9916739" y="20366"/>
                        </a:cubicBezTo>
                        <a:cubicBezTo>
                          <a:pt x="9931885" y="20674"/>
                          <a:pt x="9956807" y="36530"/>
                          <a:pt x="9969996" y="34021"/>
                        </a:cubicBezTo>
                        <a:cubicBezTo>
                          <a:pt x="9978322" y="38927"/>
                          <a:pt x="9980988" y="44289"/>
                          <a:pt x="9989122" y="49745"/>
                        </a:cubicBezTo>
                        <a:cubicBezTo>
                          <a:pt x="10019646" y="171564"/>
                          <a:pt x="9973238" y="338102"/>
                          <a:pt x="9989122" y="423321"/>
                        </a:cubicBezTo>
                        <a:cubicBezTo>
                          <a:pt x="9981121" y="431332"/>
                          <a:pt x="9973224" y="433640"/>
                          <a:pt x="9969996" y="439045"/>
                        </a:cubicBezTo>
                        <a:cubicBezTo>
                          <a:pt x="9947671" y="447782"/>
                          <a:pt x="9937520" y="442699"/>
                          <a:pt x="9916739" y="452700"/>
                        </a:cubicBezTo>
                        <a:cubicBezTo>
                          <a:pt x="9900002" y="460756"/>
                          <a:pt x="9862763" y="451362"/>
                          <a:pt x="9835527" y="463469"/>
                        </a:cubicBezTo>
                        <a:cubicBezTo>
                          <a:pt x="9792482" y="475903"/>
                          <a:pt x="9779928" y="456840"/>
                          <a:pt x="9732542" y="470531"/>
                        </a:cubicBezTo>
                        <a:cubicBezTo>
                          <a:pt x="9700218" y="480911"/>
                          <a:pt x="9660213" y="461339"/>
                          <a:pt x="9613963" y="473067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DB831FCB-0DAD-15FE-82CD-1DBF94E65C72}"/>
              </a:ext>
            </a:extLst>
          </p:cNvPr>
          <p:cNvSpPr/>
          <p:nvPr/>
        </p:nvSpPr>
        <p:spPr>
          <a:xfrm>
            <a:off x="1459837" y="6120395"/>
            <a:ext cx="966989" cy="405785"/>
          </a:xfrm>
          <a:prstGeom prst="ellipse">
            <a:avLst/>
          </a:pr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800" dirty="0"/>
              <a:t>Measuring</a:t>
            </a:r>
            <a:endParaRPr sz="75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5D7023D-804D-B58F-EEF5-46E2B6D5F85E}"/>
              </a:ext>
            </a:extLst>
          </p:cNvPr>
          <p:cNvSpPr txBox="1"/>
          <p:nvPr/>
        </p:nvSpPr>
        <p:spPr>
          <a:xfrm>
            <a:off x="2595718" y="6101170"/>
            <a:ext cx="4697052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IN" sz="1600" b="1" dirty="0">
                <a:solidFill>
                  <a:srgbClr val="1F3E66"/>
                </a:solidFill>
                <a:latin typeface="+mj-lt"/>
              </a:rPr>
              <a:t>Measuring Size of an Object using Computer Vision</a:t>
            </a:r>
            <a:endParaRPr sz="1600" b="1" dirty="0">
              <a:solidFill>
                <a:srgbClr val="1F3E66"/>
              </a:solidFill>
              <a:latin typeface="+mj-lt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3C3EF04-9F32-FF75-3AFE-833519B0C51C}"/>
              </a:ext>
            </a:extLst>
          </p:cNvPr>
          <p:cNvSpPr txBox="1"/>
          <p:nvPr/>
        </p:nvSpPr>
        <p:spPr>
          <a:xfrm>
            <a:off x="2303315" y="6432628"/>
            <a:ext cx="8305337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IN" sz="1100" b="1" dirty="0">
                <a:solidFill>
                  <a:srgbClr val="1F3E66"/>
                </a:solidFill>
                <a:latin typeface="Aptos"/>
              </a:rPr>
              <a:t>• </a:t>
            </a:r>
            <a:r>
              <a:rPr lang="en-IN" sz="1100" b="1" dirty="0">
                <a:solidFill>
                  <a:srgbClr val="1F3E66"/>
                </a:solidFill>
                <a:latin typeface="Aptos"/>
                <a:hlinkClick r:id="rId4"/>
              </a:rPr>
              <a:t>International Journal of Innovative Technology and Exploring Engineering (IJITEE) ISSN: 2278-3075, Volume-8, Issue-6S4, April 2019</a:t>
            </a:r>
            <a:r>
              <a:rPr lang="en-US" sz="1100" b="1" dirty="0">
                <a:solidFill>
                  <a:srgbClr val="1F3E66"/>
                </a:solidFill>
                <a:latin typeface="Aptos"/>
                <a:hlinkClick r:id="rId4"/>
              </a:rPr>
              <a:t> </a:t>
            </a:r>
            <a:endParaRPr sz="1100" b="1" dirty="0">
              <a:solidFill>
                <a:srgbClr val="1F3E66"/>
              </a:solidFill>
              <a:latin typeface="Apto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774127-5DBF-FDB7-3758-6438ECD59374}"/>
              </a:ext>
            </a:extLst>
          </p:cNvPr>
          <p:cNvSpPr txBox="1"/>
          <p:nvPr/>
        </p:nvSpPr>
        <p:spPr>
          <a:xfrm>
            <a:off x="3950827" y="1721503"/>
            <a:ext cx="55704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ptos"/>
                <a:hlinkClick r:id="rId5"/>
              </a:rPr>
              <a:t>Click</a:t>
            </a:r>
            <a:endParaRPr lang="en-US" sz="1100" b="1" dirty="0">
              <a:solidFill>
                <a:schemeClr val="tx2">
                  <a:lumMod val="60000"/>
                  <a:lumOff val="40000"/>
                </a:schemeClr>
              </a:solidFill>
              <a:latin typeface="Apto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36440B-0485-3640-33A8-1F7593FB5615}"/>
              </a:ext>
            </a:extLst>
          </p:cNvPr>
          <p:cNvSpPr txBox="1"/>
          <p:nvPr/>
        </p:nvSpPr>
        <p:spPr>
          <a:xfrm>
            <a:off x="4213942" y="2019471"/>
            <a:ext cx="55704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ptos"/>
                <a:hlinkClick r:id="rId6"/>
              </a:rPr>
              <a:t>Click</a:t>
            </a:r>
            <a:endParaRPr lang="en-US" sz="1100" b="1" dirty="0">
              <a:solidFill>
                <a:schemeClr val="tx2">
                  <a:lumMod val="60000"/>
                  <a:lumOff val="40000"/>
                </a:schemeClr>
              </a:solidFill>
              <a:latin typeface="Apto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DB20E9-D935-045C-EAA1-B491F244F31A}"/>
              </a:ext>
            </a:extLst>
          </p:cNvPr>
          <p:cNvSpPr txBox="1"/>
          <p:nvPr/>
        </p:nvSpPr>
        <p:spPr>
          <a:xfrm>
            <a:off x="2994660" y="3371452"/>
            <a:ext cx="55704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ptos"/>
                <a:hlinkClick r:id="rId7"/>
              </a:rPr>
              <a:t>Click</a:t>
            </a:r>
            <a:endParaRPr lang="en-US" sz="1100" b="1" dirty="0">
              <a:solidFill>
                <a:schemeClr val="tx2">
                  <a:lumMod val="60000"/>
                  <a:lumOff val="40000"/>
                </a:schemeClr>
              </a:solidFill>
              <a:latin typeface="Aptos"/>
            </a:endParaRPr>
          </a:p>
        </p:txBody>
      </p:sp>
      <p:sp>
        <p:nvSpPr>
          <p:cNvPr id="17" name="TextBox 16">
            <a:hlinkClick r:id="rId8"/>
            <a:extLst>
              <a:ext uri="{FF2B5EF4-FFF2-40B4-BE49-F238E27FC236}">
                <a16:creationId xmlns:a16="http://schemas.microsoft.com/office/drawing/2014/main" id="{9305291B-AB52-463C-47AB-FFC6AF56B5B0}"/>
              </a:ext>
            </a:extLst>
          </p:cNvPr>
          <p:cNvSpPr txBox="1"/>
          <p:nvPr/>
        </p:nvSpPr>
        <p:spPr>
          <a:xfrm>
            <a:off x="3459475" y="3595339"/>
            <a:ext cx="55704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ptos"/>
                <a:hlinkClick r:id="rId7"/>
              </a:rPr>
              <a:t>Click</a:t>
            </a:r>
            <a:endParaRPr lang="en-US" sz="1100" b="1" dirty="0">
              <a:solidFill>
                <a:schemeClr val="tx2">
                  <a:lumMod val="60000"/>
                  <a:lumOff val="40000"/>
                </a:schemeClr>
              </a:solidFill>
              <a:latin typeface="Aptos"/>
            </a:endParaRPr>
          </a:p>
        </p:txBody>
      </p:sp>
      <p:sp>
        <p:nvSpPr>
          <p:cNvPr id="21" name="TextBox 20">
            <a:hlinkClick r:id="rId8"/>
            <a:extLst>
              <a:ext uri="{FF2B5EF4-FFF2-40B4-BE49-F238E27FC236}">
                <a16:creationId xmlns:a16="http://schemas.microsoft.com/office/drawing/2014/main" id="{64C3FF04-925D-D239-574E-5DB8F156DFBF}"/>
              </a:ext>
            </a:extLst>
          </p:cNvPr>
          <p:cNvSpPr txBox="1"/>
          <p:nvPr/>
        </p:nvSpPr>
        <p:spPr>
          <a:xfrm>
            <a:off x="4879517" y="4981563"/>
            <a:ext cx="55704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ptos"/>
                <a:hlinkClick r:id="rId9"/>
              </a:rPr>
              <a:t>Click</a:t>
            </a:r>
            <a:endParaRPr lang="en-US" sz="1100" b="1" dirty="0">
              <a:solidFill>
                <a:schemeClr val="tx2">
                  <a:lumMod val="60000"/>
                  <a:lumOff val="40000"/>
                </a:schemeClr>
              </a:solidFill>
              <a:latin typeface="Aptos"/>
            </a:endParaRPr>
          </a:p>
        </p:txBody>
      </p:sp>
      <p:sp>
        <p:nvSpPr>
          <p:cNvPr id="25" name="TextBox 24">
            <a:hlinkClick r:id="rId8"/>
            <a:extLst>
              <a:ext uri="{FF2B5EF4-FFF2-40B4-BE49-F238E27FC236}">
                <a16:creationId xmlns:a16="http://schemas.microsoft.com/office/drawing/2014/main" id="{20E719AB-18B6-374B-CB80-B9C1D83DA3E7}"/>
              </a:ext>
            </a:extLst>
          </p:cNvPr>
          <p:cNvSpPr txBox="1"/>
          <p:nvPr/>
        </p:nvSpPr>
        <p:spPr>
          <a:xfrm>
            <a:off x="4087576" y="5194274"/>
            <a:ext cx="55704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ptos"/>
                <a:hlinkClick r:id="rId10"/>
              </a:rPr>
              <a:t>Click</a:t>
            </a:r>
            <a:endParaRPr lang="en-US" sz="1100" b="1" dirty="0">
              <a:solidFill>
                <a:schemeClr val="tx2">
                  <a:lumMod val="60000"/>
                  <a:lumOff val="40000"/>
                </a:schemeClr>
              </a:solidFill>
              <a:latin typeface="Aptos"/>
            </a:endParaRPr>
          </a:p>
        </p:txBody>
      </p:sp>
      <p:sp>
        <p:nvSpPr>
          <p:cNvPr id="28" name="TextBox 27">
            <a:hlinkClick r:id="rId8"/>
            <a:extLst>
              <a:ext uri="{FF2B5EF4-FFF2-40B4-BE49-F238E27FC236}">
                <a16:creationId xmlns:a16="http://schemas.microsoft.com/office/drawing/2014/main" id="{B30A7F3E-A94A-DA9D-80A3-4A5D2A15AC9E}"/>
              </a:ext>
            </a:extLst>
          </p:cNvPr>
          <p:cNvSpPr txBox="1"/>
          <p:nvPr/>
        </p:nvSpPr>
        <p:spPr>
          <a:xfrm>
            <a:off x="4705669" y="3779341"/>
            <a:ext cx="55704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ptos"/>
                <a:hlinkClick r:id="rId11"/>
              </a:rPr>
              <a:t>Click</a:t>
            </a:r>
            <a:endParaRPr lang="en-US" sz="1100" b="1" dirty="0">
              <a:solidFill>
                <a:schemeClr val="tx2">
                  <a:lumMod val="60000"/>
                  <a:lumOff val="40000"/>
                </a:schemeClr>
              </a:solidFill>
              <a:latin typeface="Aptos"/>
            </a:endParaRPr>
          </a:p>
        </p:txBody>
      </p:sp>
      <p:sp>
        <p:nvSpPr>
          <p:cNvPr id="30" name="TextBox 29">
            <a:hlinkClick r:id="rId8"/>
            <a:extLst>
              <a:ext uri="{FF2B5EF4-FFF2-40B4-BE49-F238E27FC236}">
                <a16:creationId xmlns:a16="http://schemas.microsoft.com/office/drawing/2014/main" id="{C5FC2F6F-90CB-A190-0975-8A2C88DCF95C}"/>
              </a:ext>
            </a:extLst>
          </p:cNvPr>
          <p:cNvSpPr txBox="1"/>
          <p:nvPr/>
        </p:nvSpPr>
        <p:spPr>
          <a:xfrm>
            <a:off x="3372238" y="3992004"/>
            <a:ext cx="55704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ptos"/>
                <a:hlinkClick r:id="rId12"/>
              </a:rPr>
              <a:t>Click</a:t>
            </a:r>
            <a:endParaRPr lang="en-US" sz="1100" b="1" dirty="0">
              <a:solidFill>
                <a:schemeClr val="tx2">
                  <a:lumMod val="60000"/>
                  <a:lumOff val="40000"/>
                </a:schemeClr>
              </a:solidFill>
              <a:latin typeface="Apto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0BE133A-B07A-57DF-CB7B-81065CFAA42D}"/>
              </a:ext>
            </a:extLst>
          </p:cNvPr>
          <p:cNvSpPr txBox="1"/>
          <p:nvPr/>
        </p:nvSpPr>
        <p:spPr>
          <a:xfrm>
            <a:off x="827873" y="4455809"/>
            <a:ext cx="443484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1F3E66"/>
                </a:solidFill>
                <a:latin typeface="+mj-lt"/>
              </a:rPr>
              <a:t> </a:t>
            </a:r>
            <a:r>
              <a:rPr lang="en-IN" sz="1600" b="1" dirty="0">
                <a:solidFill>
                  <a:srgbClr val="1F3E66"/>
                </a:solidFill>
                <a:latin typeface="+mj-lt"/>
              </a:rPr>
              <a:t>Structured Extraction (LLM/NLP) &amp; Multilingual OCR for Indian Languages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849084" y="5456867"/>
            <a:ext cx="3562166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dirty="0">
                <a:solidFill>
                  <a:srgbClr val="141414"/>
                </a:solidFill>
                <a:latin typeface="+mj-lt"/>
              </a:rPr>
              <a:t>• PaddleOCR-VL: Multilingual OCR with 109 Languages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861841" y="5694808"/>
            <a:ext cx="2882948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dirty="0">
                <a:solidFill>
                  <a:srgbClr val="141414"/>
                </a:solidFill>
                <a:latin typeface="+mj-lt"/>
              </a:rPr>
              <a:t>• PaddleOCR PP-OCRv5 Multilingual Models</a:t>
            </a:r>
          </a:p>
        </p:txBody>
      </p:sp>
      <p:sp>
        <p:nvSpPr>
          <p:cNvPr id="35" name="TextBox 34">
            <a:hlinkClick r:id="rId8"/>
            <a:extLst>
              <a:ext uri="{FF2B5EF4-FFF2-40B4-BE49-F238E27FC236}">
                <a16:creationId xmlns:a16="http://schemas.microsoft.com/office/drawing/2014/main" id="{9CBE706C-F0AE-7801-AD49-D8B4654CCD8E}"/>
              </a:ext>
            </a:extLst>
          </p:cNvPr>
          <p:cNvSpPr txBox="1"/>
          <p:nvPr/>
        </p:nvSpPr>
        <p:spPr>
          <a:xfrm>
            <a:off x="4334046" y="5408671"/>
            <a:ext cx="55704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ptos"/>
                <a:hlinkClick r:id="rId13"/>
              </a:rPr>
              <a:t>Click</a:t>
            </a:r>
            <a:endParaRPr lang="en-US" sz="1100" b="1" dirty="0">
              <a:solidFill>
                <a:schemeClr val="tx2">
                  <a:lumMod val="60000"/>
                  <a:lumOff val="40000"/>
                </a:schemeClr>
              </a:solidFill>
              <a:latin typeface="Aptos"/>
            </a:endParaRPr>
          </a:p>
        </p:txBody>
      </p:sp>
      <p:sp>
        <p:nvSpPr>
          <p:cNvPr id="37" name="TextBox 36">
            <a:hlinkClick r:id="rId8"/>
            <a:extLst>
              <a:ext uri="{FF2B5EF4-FFF2-40B4-BE49-F238E27FC236}">
                <a16:creationId xmlns:a16="http://schemas.microsoft.com/office/drawing/2014/main" id="{9D64137B-6D19-DD3C-BAED-05F903093D1B}"/>
              </a:ext>
            </a:extLst>
          </p:cNvPr>
          <p:cNvSpPr txBox="1"/>
          <p:nvPr/>
        </p:nvSpPr>
        <p:spPr>
          <a:xfrm>
            <a:off x="3650761" y="5633710"/>
            <a:ext cx="55704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ptos"/>
                <a:hlinkClick r:id="rId14"/>
              </a:rPr>
              <a:t>Click</a:t>
            </a:r>
            <a:endParaRPr lang="en-US" sz="1100" b="1" dirty="0">
              <a:solidFill>
                <a:schemeClr val="tx2">
                  <a:lumMod val="60000"/>
                  <a:lumOff val="40000"/>
                </a:schemeClr>
              </a:solidFill>
              <a:latin typeface="Aptos"/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F244CEAE-89D9-1677-5C9F-F36A4551B362}"/>
              </a:ext>
            </a:extLst>
          </p:cNvPr>
          <p:cNvSpPr/>
          <p:nvPr/>
        </p:nvSpPr>
        <p:spPr>
          <a:xfrm>
            <a:off x="6206828" y="1251604"/>
            <a:ext cx="2065366" cy="438912"/>
          </a:xfrm>
          <a:prstGeom prst="roundRect">
            <a:avLst>
              <a:gd name="adj" fmla="val 50000"/>
            </a:avLst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r>
              <a:rPr lang="en-US" dirty="0"/>
              <a:t>Live Demo</a:t>
            </a:r>
            <a:endParaRPr lang="en-IN" dirty="0"/>
          </a:p>
        </p:txBody>
      </p:sp>
      <p:sp>
        <p:nvSpPr>
          <p:cNvPr id="44" name="TextBox 43">
            <a:hlinkClick r:id="rId8"/>
            <a:extLst>
              <a:ext uri="{FF2B5EF4-FFF2-40B4-BE49-F238E27FC236}">
                <a16:creationId xmlns:a16="http://schemas.microsoft.com/office/drawing/2014/main" id="{E0D688BB-78A3-CBF7-3B93-ED90CA53FCE7}"/>
              </a:ext>
            </a:extLst>
          </p:cNvPr>
          <p:cNvSpPr txBox="1"/>
          <p:nvPr/>
        </p:nvSpPr>
        <p:spPr>
          <a:xfrm>
            <a:off x="9112318" y="5227549"/>
            <a:ext cx="55704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ptos"/>
                <a:hlinkClick r:id="rId15"/>
              </a:rPr>
              <a:t>Click</a:t>
            </a:r>
            <a:endParaRPr lang="en-US" sz="1100" b="1" dirty="0">
              <a:solidFill>
                <a:schemeClr val="tx2">
                  <a:lumMod val="60000"/>
                  <a:lumOff val="40000"/>
                </a:schemeClr>
              </a:solidFill>
              <a:latin typeface="Aptos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B010298-11F7-D4CE-EC0D-45C684D6A247}"/>
              </a:ext>
            </a:extLst>
          </p:cNvPr>
          <p:cNvSpPr txBox="1"/>
          <p:nvPr/>
        </p:nvSpPr>
        <p:spPr>
          <a:xfrm>
            <a:off x="8397433" y="5442411"/>
            <a:ext cx="59910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ptos"/>
                <a:hlinkClick r:id="rId16"/>
              </a:rPr>
              <a:t>Click</a:t>
            </a:r>
            <a:endParaRPr lang="en-US" sz="1100" b="1" dirty="0">
              <a:solidFill>
                <a:schemeClr val="tx2">
                  <a:lumMod val="60000"/>
                  <a:lumOff val="40000"/>
                </a:schemeClr>
              </a:solidFill>
              <a:latin typeface="Aptos"/>
            </a:endParaRPr>
          </a:p>
        </p:txBody>
      </p:sp>
      <p:sp>
        <p:nvSpPr>
          <p:cNvPr id="48" name="TextBox 47">
            <a:hlinkClick r:id="rId8"/>
            <a:extLst>
              <a:ext uri="{FF2B5EF4-FFF2-40B4-BE49-F238E27FC236}">
                <a16:creationId xmlns:a16="http://schemas.microsoft.com/office/drawing/2014/main" id="{030D3FD2-8284-5F06-537A-629416F628D5}"/>
              </a:ext>
            </a:extLst>
          </p:cNvPr>
          <p:cNvSpPr txBox="1"/>
          <p:nvPr/>
        </p:nvSpPr>
        <p:spPr>
          <a:xfrm>
            <a:off x="9173284" y="5687462"/>
            <a:ext cx="55704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ptos"/>
                <a:hlinkClick r:id="rId17"/>
              </a:rPr>
              <a:t>Click</a:t>
            </a:r>
            <a:endParaRPr lang="en-US" sz="1100" b="1" dirty="0">
              <a:solidFill>
                <a:schemeClr val="tx2">
                  <a:lumMod val="60000"/>
                  <a:lumOff val="40000"/>
                </a:schemeClr>
              </a:solidFill>
              <a:latin typeface="Aptos"/>
            </a:endParaRPr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0F09B8BA-36EA-F4A3-1154-998FA273B6B9}"/>
              </a:ext>
            </a:extLst>
          </p:cNvPr>
          <p:cNvSpPr/>
          <p:nvPr/>
        </p:nvSpPr>
        <p:spPr>
          <a:xfrm>
            <a:off x="8105868" y="1325880"/>
            <a:ext cx="392959" cy="276311"/>
          </a:xfrm>
          <a:prstGeom prst="rightArrow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0C0402-8D82-0CC5-BF25-0A014E677010}"/>
              </a:ext>
            </a:extLst>
          </p:cNvPr>
          <p:cNvSpPr txBox="1"/>
          <p:nvPr/>
        </p:nvSpPr>
        <p:spPr>
          <a:xfrm>
            <a:off x="8487406" y="1306418"/>
            <a:ext cx="46360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>
                <a:hlinkClick r:id="rId18"/>
              </a:rPr>
              <a:t>https://vyapar-nirikshan-portal.onrender.com</a:t>
            </a:r>
            <a:endParaRPr lang="en-IN" sz="1200" b="1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348C043-628D-BCF9-6809-C40850A5C8B0}"/>
              </a:ext>
            </a:extLst>
          </p:cNvPr>
          <p:cNvGraphicFramePr>
            <a:graphicFrameLocks noGrp="1"/>
          </p:cNvGraphicFramePr>
          <p:nvPr/>
        </p:nvGraphicFramePr>
        <p:xfrm>
          <a:off x="6120477" y="2460792"/>
          <a:ext cx="5757469" cy="19659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15997">
                  <a:extLst>
                    <a:ext uri="{9D8B030D-6E8A-4147-A177-3AD203B41FA5}">
                      <a16:colId xmlns:a16="http://schemas.microsoft.com/office/drawing/2014/main" val="3835581206"/>
                    </a:ext>
                  </a:extLst>
                </a:gridCol>
                <a:gridCol w="2960604">
                  <a:extLst>
                    <a:ext uri="{9D8B030D-6E8A-4147-A177-3AD203B41FA5}">
                      <a16:colId xmlns:a16="http://schemas.microsoft.com/office/drawing/2014/main" val="1070800458"/>
                    </a:ext>
                  </a:extLst>
                </a:gridCol>
                <a:gridCol w="1225154">
                  <a:extLst>
                    <a:ext uri="{9D8B030D-6E8A-4147-A177-3AD203B41FA5}">
                      <a16:colId xmlns:a16="http://schemas.microsoft.com/office/drawing/2014/main" val="1502154981"/>
                    </a:ext>
                  </a:extLst>
                </a:gridCol>
                <a:gridCol w="1255714">
                  <a:extLst>
                    <a:ext uri="{9D8B030D-6E8A-4147-A177-3AD203B41FA5}">
                      <a16:colId xmlns:a16="http://schemas.microsoft.com/office/drawing/2014/main" val="1690690141"/>
                    </a:ext>
                  </a:extLst>
                </a:gridCol>
              </a:tblGrid>
              <a:tr h="4204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 dirty="0"/>
                        <a:t>Sr</a:t>
                      </a:r>
                      <a:endParaRPr lang="en-IN" sz="105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/>
                        <a:t>Our System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/>
                        <a:t>Existing System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dirty="0"/>
                        <a:t>(</a:t>
                      </a:r>
                      <a:r>
                        <a:rPr lang="en-IN" sz="1200" b="1" dirty="0">
                          <a:hlinkClick r:id="rId19"/>
                        </a:rPr>
                        <a:t>wooqer</a:t>
                      </a:r>
                      <a:r>
                        <a:rPr lang="en-IN" sz="1200" b="1" dirty="0"/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5326841"/>
                  </a:ext>
                </a:extLst>
              </a:tr>
              <a:tr h="2309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/>
                        <a:t>1</a:t>
                      </a:r>
                      <a:endParaRPr lang="en-IN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1" dirty="0"/>
                        <a:t>Legal Metrology Enforcement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 dirty="0"/>
                        <a:t>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/>
                        <a:t>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3123338"/>
                  </a:ext>
                </a:extLst>
              </a:tr>
              <a:tr h="2309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/>
                        <a:t>2</a:t>
                      </a:r>
                      <a:endParaRPr lang="en-IN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1" dirty="0"/>
                        <a:t>Automated Label Measurement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/>
                        <a:t>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/>
                        <a:t>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8461676"/>
                  </a:ext>
                </a:extLst>
              </a:tr>
              <a:tr h="2309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/>
                        <a:t>3</a:t>
                      </a:r>
                      <a:endParaRPr lang="en-IN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1"/>
                        <a:t>Deterministic Rule Engine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/>
                        <a:t>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/>
                        <a:t>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6124048"/>
                  </a:ext>
                </a:extLst>
              </a:tr>
              <a:tr h="2309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/>
                        <a:t>4</a:t>
                      </a:r>
                      <a:endParaRPr lang="en-IN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1"/>
                        <a:t>Government Verification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/>
                        <a:t>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/>
                        <a:t>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9696732"/>
                  </a:ext>
                </a:extLst>
              </a:tr>
              <a:tr h="2309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/>
                        <a:t>5</a:t>
                      </a:r>
                      <a:endParaRPr lang="en-IN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1"/>
                        <a:t>Workflow / Corrective 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/>
                        <a:t>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/>
                        <a:t>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86722294"/>
                  </a:ext>
                </a:extLst>
              </a:tr>
              <a:tr h="2309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/>
                        <a:t>6</a:t>
                      </a:r>
                      <a:endParaRPr lang="en-IN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1" dirty="0"/>
                        <a:t>Inspection Records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/>
                        <a:t>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 dirty="0"/>
                        <a:t>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2848900"/>
                  </a:ext>
                </a:extLst>
              </a:tr>
            </a:tbl>
          </a:graphicData>
        </a:graphic>
      </p:graphicFrame>
      <p:pic>
        <p:nvPicPr>
          <p:cNvPr id="11" name="Picture 10" descr="internet website click icon 7126469 Vector Art at Vecteezy">
            <a:extLst>
              <a:ext uri="{FF2B5EF4-FFF2-40B4-BE49-F238E27FC236}">
                <a16:creationId xmlns:a16="http://schemas.microsoft.com/office/drawing/2014/main" id="{6AB218CE-BEE1-B628-59B2-406F252094D1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285967" y="1251604"/>
            <a:ext cx="438913" cy="43891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563C646-BD03-311B-0175-4F92E76C8649}"/>
              </a:ext>
            </a:extLst>
          </p:cNvPr>
          <p:cNvSpPr txBox="1"/>
          <p:nvPr/>
        </p:nvSpPr>
        <p:spPr>
          <a:xfrm>
            <a:off x="6079912" y="2140620"/>
            <a:ext cx="40396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1400" b="1" dirty="0"/>
              <a:t>COMPARISON TABLE WITH EXISTING SYSTEMS :-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2CEEC316-F36B-1000-6519-7B2CC43FAC48}"/>
              </a:ext>
            </a:extLst>
          </p:cNvPr>
          <p:cNvSpPr/>
          <p:nvPr/>
        </p:nvSpPr>
        <p:spPr>
          <a:xfrm>
            <a:off x="6215524" y="1737219"/>
            <a:ext cx="2065366" cy="438912"/>
          </a:xfrm>
          <a:prstGeom prst="roundRect">
            <a:avLst>
              <a:gd name="adj" fmla="val 50000"/>
            </a:avLst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r>
              <a:rPr lang="en-US" dirty="0"/>
              <a:t>GitHub Repo</a:t>
            </a:r>
            <a:endParaRPr lang="en-IN" dirty="0"/>
          </a:p>
        </p:txBody>
      </p:sp>
      <p:sp>
        <p:nvSpPr>
          <p:cNvPr id="36" name="Arrow: Right 35">
            <a:extLst>
              <a:ext uri="{FF2B5EF4-FFF2-40B4-BE49-F238E27FC236}">
                <a16:creationId xmlns:a16="http://schemas.microsoft.com/office/drawing/2014/main" id="{50A1016A-6F6E-2756-2164-83F719E90FBB}"/>
              </a:ext>
            </a:extLst>
          </p:cNvPr>
          <p:cNvSpPr/>
          <p:nvPr/>
        </p:nvSpPr>
        <p:spPr>
          <a:xfrm>
            <a:off x="8131729" y="1820786"/>
            <a:ext cx="392959" cy="276311"/>
          </a:xfrm>
          <a:prstGeom prst="rightArrow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3" name="Picture 42" descr="Github - Free logo icons">
            <a:extLst>
              <a:ext uri="{FF2B5EF4-FFF2-40B4-BE49-F238E27FC236}">
                <a16:creationId xmlns:a16="http://schemas.microsoft.com/office/drawing/2014/main" id="{5EBC067F-FC99-82A1-C927-FDED1B2A39B3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323620" y="1811898"/>
            <a:ext cx="287856" cy="287856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CF33EE48-E41A-9340-86D3-F7C76D5E1AB6}"/>
              </a:ext>
            </a:extLst>
          </p:cNvPr>
          <p:cNvSpPr txBox="1"/>
          <p:nvPr/>
        </p:nvSpPr>
        <p:spPr>
          <a:xfrm>
            <a:off x="8452619" y="1801290"/>
            <a:ext cx="426937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>
                <a:hlinkClick r:id="rId23"/>
              </a:rPr>
              <a:t>https://github.com/Tushar-Ganmukhe/SIH-26.git</a:t>
            </a:r>
            <a:endParaRPr lang="en-IN" sz="1200" b="1" dirty="0"/>
          </a:p>
        </p:txBody>
      </p:sp>
    </p:spTree>
    <p:extLst>
      <p:ext uri="{BB962C8B-B14F-4D97-AF65-F5344CB8AC3E}">
        <p14:creationId xmlns:p14="http://schemas.microsoft.com/office/powerpoint/2010/main" val="33481427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3" Type="http://schemas.microsoft.com/office/2011/relationships/webextension" Target="webextension3.xml"/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  <wetp:taskpane dockstate="right" visibility="0" width="438" row="1">
    <wetp:webextensionref xmlns:r="http://schemas.openxmlformats.org/officeDocument/2006/relationships" r:id="rId2"/>
  </wetp:taskpane>
  <wetp:taskpane dockstate="right" visibility="0" width="438" row="2">
    <wetp:webextensionref xmlns:r="http://schemas.openxmlformats.org/officeDocument/2006/relationships" r:id="rId3"/>
  </wetp:taskpane>
</wetp:taskpanes>
</file>

<file path=ppt/webextensions/webextension1.xml><?xml version="1.0" encoding="utf-8"?>
<we:webextension xmlns:we="http://schemas.microsoft.com/office/webextensions/webextension/2010/11" id="{03CB192C-1861-4CA1-91AE-FAA62A3B068A}">
  <we:reference id="wa200010725" version="1.0.0.1" store="en-US" storeType="OMEX"/>
  <we:alternateReferences>
    <we:reference id="wa200010725" version="1.0.0.1" store="wa200010725" storeType="OMEX"/>
  </we:alternateReferences>
  <we:properties>
    <we:property name="claude.fileId" value="&quot;b4d3bbfe-5e91-44dc-86f5-d7d680f22ac8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C534B098-6F8B-4079-8168-B637DA07F489}">
  <we:reference id="wa200000113" version="1.0.0.0" store="en-US" storeType="OMEX"/>
  <we:alternateReferences>
    <we:reference id="wa200000113" version="1.0.0.0" store="wa200000113" storeType="OMEX"/>
  </we:alternateReferences>
  <we:properties/>
  <we:bindings/>
  <we:snapshot xmlns:r="http://schemas.openxmlformats.org/officeDocument/2006/relationships"/>
</we:webextension>
</file>

<file path=ppt/webextensions/webextension3.xml><?xml version="1.0" encoding="utf-8"?>
<we:webextension xmlns:we="http://schemas.microsoft.com/office/webextensions/webextension/2010/11" id="{8A03C627-D167-4C5A-AACD-6A5F3EBDFFC9}">
  <we:reference id="wa200010215" version="2.0.0.0" store="en-US" storeType="OMEX"/>
  <we:alternateReferences>
    <we:reference id="wa200010215" version="2.0.0.0" store="wa200010215" storeType="OMEX"/>
  </we:alternateReferences>
  <we:properties>
    <we:property name="bps.codex_control.document_id" value="&quot;6782c71a-303a-4df5-a1d6-732011a76ea8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3066</TotalTime>
  <Words>2142</Words>
  <Application>Microsoft Office PowerPoint</Application>
  <PresentationFormat>Widescreen</PresentationFormat>
  <Paragraphs>403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21" baseType="lpstr">
      <vt:lpstr>ＭＳ Ｐゴシック</vt:lpstr>
      <vt:lpstr>Aptos</vt:lpstr>
      <vt:lpstr>Arial</vt:lpstr>
      <vt:lpstr>Arial Black</vt:lpstr>
      <vt:lpstr>Calibri</vt:lpstr>
      <vt:lpstr>Cambria Math</vt:lpstr>
      <vt:lpstr>Garamond</vt:lpstr>
      <vt:lpstr>Lato</vt:lpstr>
      <vt:lpstr>Lucida Sans Unicode</vt:lpstr>
      <vt:lpstr>Tahoma</vt:lpstr>
      <vt:lpstr>Times New Roman</vt:lpstr>
      <vt:lpstr>TradeGothic</vt:lpstr>
      <vt:lpstr>Wingdings</vt:lpstr>
      <vt:lpstr>Office Theme</vt:lpstr>
      <vt:lpstr>SMART INDIA HACKATHON 2026</vt:lpstr>
      <vt:lpstr>PowerPoint Presentation</vt:lpstr>
      <vt:lpstr>PowerPoint Presentation</vt:lpstr>
      <vt:lpstr>FEASIBILITY AND VIABILITY</vt:lpstr>
      <vt:lpstr>IMPACT AND BENEFITS</vt:lpstr>
      <vt:lpstr>RESEARCH AND REFERENCES</vt:lpstr>
      <vt:lpstr>RESEARCH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Shashvat Payghan</cp:lastModifiedBy>
  <cp:revision>65</cp:revision>
  <dcterms:created xsi:type="dcterms:W3CDTF">2013-12-12T18:46:50Z</dcterms:created>
  <dcterms:modified xsi:type="dcterms:W3CDTF">2026-09-17T18:14:27Z</dcterms:modified>
  <cp:category/>
</cp:coreProperties>
</file>